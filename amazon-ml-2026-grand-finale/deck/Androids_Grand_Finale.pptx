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5"/>
  </p:notesMasterIdLst>
  <p:sldIdLst>
    <p:sldId id="257" r:id="rId2"/>
    <p:sldId id="262" r:id="rId3"/>
    <p:sldId id="296" r:id="rId37"/>
    <p:sldId id="295" r:id="rId36"/>
    <p:sldId id="294" r:id="rId35"/>
    <p:sldId id="293" r:id="rId34"/>
    <p:sldId id="292" r:id="rId33"/>
    <p:sldId id="291" r:id="rId32"/>
    <p:sldId id="290" r:id="rId31"/>
    <p:sldId id="289" r:id="rId30"/>
    <p:sldId id="288" r:id="rId29"/>
    <p:sldId id="287" r:id="rId28"/>
    <p:sldId id="286" r:id="rId27"/>
    <p:sldId id="285" r:id="rId26"/>
    <p:sldId id="284" r:id="rId25"/>
    <p:sldId id="283" r:id="rId24"/>
    <p:sldId id="282" r:id="rId23"/>
    <p:sldId id="281" r:id="rId22"/>
    <p:sldId id="280" r:id="rId21"/>
    <p:sldId id="279" r:id="rId4"/>
    <p:sldId id="303" r:id="rId44"/>
    <p:sldId id="302" r:id="rId43"/>
    <p:sldId id="301" r:id="rId42"/>
    <p:sldId id="300" r:id="rId41"/>
    <p:sldId id="299" r:id="rId40"/>
    <p:sldId id="298" r:id="rId39"/>
    <p:sldId id="297" r:id="rId38"/>
  </p:sldIdLst>
  <p:sldSz cx="9144000" cy="5143500" type="screen16x9"/>
  <p:notesSz cx="6858000" cy="9144000"/>
  <p:embeddedFontLst>
    <p:embeddedFont>
      <p:font typeface="Ember Modern Display Standard" panose="020B0503020204020204" pitchFamily="34" charset="0"/>
      <p:regular r:id="rId6"/>
      <p:bold r:id="rId7"/>
    </p:embeddedFont>
    <p:embeddedFont>
      <p:font typeface="Helvetica Neue" panose="020B0604020202020204" charset="0"/>
      <p:regular r:id="rId8"/>
      <p:bold r:id="rId9"/>
      <p:italic r:id="rId10"/>
      <p:boldItalic r:id="rId11"/>
    </p:embeddedFont>
    <p:embeddedFont>
      <p:font typeface="Play"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ylec@amazon.co.uk" initials="" lastIdx="8" clrIdx="0"/>
  <p:cmAuthor id="1" name="Monika Lumb" initials="" lastIdx="4" clrIdx="1"/>
  <p:cmAuthor id="2" name="Samantha Trup" initials="" lastIdx="1" clrIdx="2"/>
  <p:cmAuthor id="3" name="Gabriela Beitel" initials="" lastIdx="17"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101"/>
    <a:srgbClr val="131C27"/>
    <a:srgbClr val="EEEEEE"/>
    <a:srgbClr val="F491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6"/>
  </p:normalViewPr>
  <p:slideViewPr>
    <p:cSldViewPr snapToGrid="0">
      <p:cViewPr varScale="1">
        <p:scale>
          <a:sx n="93" d="100"/>
          <a:sy n="93" d="100"/>
        </p:scale>
        <p:origin x="544" y="5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font" Target="fonts/font1.fntdata"/><Relationship Id="rId7" Type="http://schemas.openxmlformats.org/officeDocument/2006/relationships/font" Target="fonts/font2.fntdata"/><Relationship Id="rId8" Type="http://schemas.openxmlformats.org/officeDocument/2006/relationships/font" Target="fonts/font3.fntdata"/><Relationship Id="rId9" Type="http://schemas.openxmlformats.org/officeDocument/2006/relationships/font" Target="fonts/font4.fntdata"/><Relationship Id="rId10" Type="http://schemas.openxmlformats.org/officeDocument/2006/relationships/font" Target="fonts/font5.fntdata"/><Relationship Id="rId11" Type="http://schemas.openxmlformats.org/officeDocument/2006/relationships/font" Target="fonts/font6.fntdata"/><Relationship Id="rId12" Type="http://schemas.openxmlformats.org/officeDocument/2006/relationships/font" Target="fonts/font7.fntdata"/><Relationship Id="rId13" Type="http://schemas.openxmlformats.org/officeDocument/2006/relationships/font" Target="fonts/font8.fntdata"/><Relationship Id="rId14" Type="http://schemas.openxmlformats.org/officeDocument/2006/relationships/font" Target="fonts/font9.fntdata"/><Relationship Id="rId15" Type="http://schemas.openxmlformats.org/officeDocument/2006/relationships/font" Target="fonts/font10.fntdata"/><Relationship Id="rId16" Type="http://schemas.openxmlformats.org/officeDocument/2006/relationships/commentAuthors" Target="commentAuthors.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9.xml"/><Relationship Id="rId22" Type="http://schemas.openxmlformats.org/officeDocument/2006/relationships/slide" Target="slides/slide18.xml"/><Relationship Id="rId23" Type="http://schemas.openxmlformats.org/officeDocument/2006/relationships/slide" Target="slides/slide17.xml"/><Relationship Id="rId24" Type="http://schemas.openxmlformats.org/officeDocument/2006/relationships/slide" Target="slides/slide16.xml"/><Relationship Id="rId25" Type="http://schemas.openxmlformats.org/officeDocument/2006/relationships/slide" Target="slides/slide15.xml"/><Relationship Id="rId26" Type="http://schemas.openxmlformats.org/officeDocument/2006/relationships/slide" Target="slides/slide14.xml"/><Relationship Id="rId27" Type="http://schemas.openxmlformats.org/officeDocument/2006/relationships/slide" Target="slides/slide13.xml"/><Relationship Id="rId28" Type="http://schemas.openxmlformats.org/officeDocument/2006/relationships/slide" Target="slides/slide12.xml"/><Relationship Id="rId29" Type="http://schemas.openxmlformats.org/officeDocument/2006/relationships/slide" Target="slides/slide11.xml"/><Relationship Id="rId30" Type="http://schemas.openxmlformats.org/officeDocument/2006/relationships/slide" Target="slides/slide10.xml"/><Relationship Id="rId31" Type="http://schemas.openxmlformats.org/officeDocument/2006/relationships/slide" Target="slides/slide9.xml"/><Relationship Id="rId32" Type="http://schemas.openxmlformats.org/officeDocument/2006/relationships/slide" Target="slides/slide8.xml"/><Relationship Id="rId33" Type="http://schemas.openxmlformats.org/officeDocument/2006/relationships/slide" Target="slides/slide7.xml"/><Relationship Id="rId34" Type="http://schemas.openxmlformats.org/officeDocument/2006/relationships/slide" Target="slides/slide6.xml"/><Relationship Id="rId35" Type="http://schemas.openxmlformats.org/officeDocument/2006/relationships/slide" Target="slides/slide5.xml"/><Relationship Id="rId36" Type="http://schemas.openxmlformats.org/officeDocument/2006/relationships/slide" Target="slides/slide4.xml"/><Relationship Id="rId37" Type="http://schemas.openxmlformats.org/officeDocument/2006/relationships/slide" Target="slides/slide3.xml"/><Relationship Id="rId38" Type="http://schemas.openxmlformats.org/officeDocument/2006/relationships/slide" Target="slides/slide27.xml"/><Relationship Id="rId39" Type="http://schemas.openxmlformats.org/officeDocument/2006/relationships/slide" Target="slides/slide26.xml"/><Relationship Id="rId40" Type="http://schemas.openxmlformats.org/officeDocument/2006/relationships/slide" Target="slides/slide25.xml"/><Relationship Id="rId41" Type="http://schemas.openxmlformats.org/officeDocument/2006/relationships/slide" Target="slides/slide24.xml"/><Relationship Id="rId42" Type="http://schemas.openxmlformats.org/officeDocument/2006/relationships/slide" Target="slides/slide23.xml"/><Relationship Id="rId43" Type="http://schemas.openxmlformats.org/officeDocument/2006/relationships/slide" Target="slides/slide22.xml"/><Relationship Id="rId44"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ae4afcfa35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ae4afcfa35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[Smile and look at the camera.] Hello, everyone. I'm Pardheev, and together with Monika and Hemachand, we are team Androids. Today I will show you how we matched almost ten million messy records against 1.7 million businesses while checking only a tiny fraction of the possible pairs. [click]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a4273c6775_0_3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a4273c6775_0_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Almost 10 million incoming records arrive from three countries: the US, India and France. Each one belongs to one of 1.7 million known businesses, or to none, and we have to decide which. Comparing every record with every business in its own country would mean 6.7 trillion pairs, far too many for any model. [point to the thin orange bar] Our final candidate list keeps only about 7 per business, fewer than two pairs in every million. And there is a twist: France came with zero training labels. [pause] So this talk answers two questions: how do we find those seven, and how do we decide which one, if any, is right? [click]</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8DDBAE79-5551-27A9-A762-591EA6DD9A2F}"/>
            </a:ext>
          </a:extLst>
        </p:cNvPr>
        <p:cNvGrpSpPr/>
        <p:nvPr/>
      </p:nvGrpSpPr>
      <p:grpSpPr>
        <a:xfrm>
          <a:off x="0" y="0"/>
          <a:ext cx="0" cy="0"/>
          <a:chOff x="0" y="0"/>
          <a:chExt cx="0" cy="0"/>
        </a:xfrm>
      </p:grpSpPr>
      <p:sp>
        <p:nvSpPr>
          <p:cNvPr id="122" name="Google Shape;122;g3ae4afcfa35_0_222:notes">
            <a:extLst>
              <a:ext uri="{FF2B5EF4-FFF2-40B4-BE49-F238E27FC236}">
                <a16:creationId xmlns:a16="http://schemas.microsoft.com/office/drawing/2014/main" id="{1ADA5E14-48EE-1348-1869-2ED73EC4F1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ae4afcfa35_0_222:notes">
            <a:extLst>
              <a:ext uri="{FF2B5EF4-FFF2-40B4-BE49-F238E27FC236}">
                <a16:creationId xmlns:a16="http://schemas.microsoft.com/office/drawing/2014/main" id="{FAB588EA-0C48-4CD3-973F-7335AD8C7D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To sum up, we keep about seven candidates per business, make one careful decision per record, and link nothing whenever we are not sure. That is how 6.7 trillion possible pairs became a score of 0.9913. Thank you, and we would love to hear your questions.</a:t>
            </a:r>
          </a:p>
        </p:txBody>
      </p:sp>
    </p:spTree>
    <p:extLst>
      <p:ext uri="{BB962C8B-B14F-4D97-AF65-F5344CB8AC3E}">
        <p14:creationId xmlns:p14="http://schemas.microsoft.com/office/powerpoint/2010/main" val="164226886"/>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Let me introduce three real records from the test set; they will come back at the end. [point to each card in turn] The American one, Legacy Marketing Enterprises, has no address, so the name is our only clue. The Indian one is written in Devanagari, and its address is just a house number, 24/11, and Mumbai. The French one, TQ Comite SARL in Nantes, comes from the country with no labels. [pause] And the scoring is strict. The metric, F0.5, weighs precision above recall and is averaged per business, and a business with no true records scores a full point only if we link nothing to it. So one wrong link can turn a perfect one into a zero, which is why we built everything precision first. [click]</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Here is the whole pipeline. It runs separately per country and moves from cheap to expensive in five zones: find, filter and shortlist, read, decide, and second chances. [sweep your hand from left to right] I will light up one zone at a time, and then zoom in on the four ideas that made the difference. [click]</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Zone one is Find. We first clean the text, so that in France, for example, 15B becomes 15 bis. Then a fast inverted index written in C++, which works like the index at the back of a book, looks up businesses that share rare words with the record. It keeps separate lists for name words, address words, short letter pieces and how a name sounds, so a typo still finds its business. [click]</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Zone two is Filter and shortlist. A quick rule-based filter, with no model, drops candidates that are clearly weaker than the best one, but keeps special cases such as an almost perfect address match. Then a CatBoost ranker, a gradient-boosting model, orders the rest, and we keep at most four candidates per record. That shortlist is all the expensive models ever see. [click]</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Zone three is Read. Here we use cross-encoders, small language models that read the record and the candidate together, side by side, and give one match score; we call them readers. Because they see both texts at once, they notice details like Inc becoming LLC. We fine-tuned two multilingual readers, MiniLM and E5, and France gets two extra French ones. [click]</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Zone four is Decide. For every candidate we describe exactly what changed between the two records, and a LightGBM decision model, one per country, turns that into a probability. Then the rule is simple: link the best candidate only if it is confident, at least 0.75, and a clear winner, at least 0.4 ahead of the runner-up. Otherwise the record stays unlinked. [click]</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Zone five is second chances and France. Two extra searches revisit records that are still unlinked, a per-business consistency check adjusts the bar slightly when a business already has other links, and France gets its own rules, computed by code. [click]</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Now let's zoom in on the four ideas, starting with the funnel. [point down the bars] The index lookup gives about 130 candidates per business. The quick rule cuts that to about 22 at almost no cost: the true business survived for 99.97 percent of held-out records. The shortlist brings us to 6.75, and the second-chance searches add a few more, so we end at 7.10 per business. The price is small: the shortlist still holds the true business for roughly 99 percent of US and 98 percent of Indian records. [pause] This is also our answer for billions. At most four pairs per record reach the expensive models, so the cost grows in a straight line. Today we split the index by country; at that scale we would split it by state or postcode and run the pieces in parallel. [click]</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second idea is the heart of our model. Most matchers describe a candidate only by how similar it is, but we also describe exactly what changed. [point to the chips] Did a number change, and by how much? Were words added, dropped or replaced, and how rare are they? Did the legal form change, say from Inc to LLC? We learned this from the training data: true records of a business tend to lose information, by dropping a digit or a suffix, abbreviating, or transliterating. These features, the readers' scores and each candidate's lead over its rivals go into the decision model, about two hundred features per country. [click]</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third idea is a second chance. Some records are missed not because the model is unsure, but because the first search never found the right business. [point to the top lane] An Indian name in Devanagari can send the first search to the wrong places. So a word list learned from training matches turns it into Latin spelling, and we search again within the same state, which added 9,759 links. [point to the bottom lane] The second search starts from the address, from a rare house number and a rare street word, and it added 3,137 links in the US and India. Both only touch still-unlinked records, so they never undo a link. [click]</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fourth idea is France, where we had no labels at all. [point to the loop] So we let the readers teach themselves. We kept only the French pairs our models were most sure about, matches at least 97 percent sure and clear non-matches, and fine-tuned two French readers on them, mixed one to one with labelled US and Indian pairs so they would not forget what they knew. France also uses a stricter bar: 0.82 instead of 0.75. [point to the rules box] On top, we added careful rules computed by code. For example, when the address is the same but one name word was swapped for a common word, we do not link. [click]</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How did we avoid fooling ourselves? [point to the ten boxes] We split the businesses into ten folds, and every record travels with its business. The ranker and readers learn on folds zero to five, and the decision models on folds six to nine, so they never learn from scores of a model trained on the same records. To test a change, we hid fold eight or nine, retrained without it, and measured the exact competition metric there. Most settings, like the 0.75 bar, stayed only if they helped on the hidden fold. New readers also faced written pass-or-fail checks. [pause] One honest note: some later choices, and the final pick among our files, also used public leaderboard scores. [click]</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There are three edge cases to cover. First, a business with no true records scores a full point only if we link nothing to it, so we link only on a clear win, and 100,087 businesses end up with no link at all. Second, an unseen country takes a default route built like France, with a model trained without that country's labels and the stricter bar. Honestly, this route is untested, because the test set had no such country. Third, noisy spellings are handled by the cleaning rules, the letter-piece and sound lists and the two second-chance searches. [click]</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Now let's go back to our three records. The American one has no address. [point along the steps] The shortlist holds four businesses with nearly the same name: Enterprises Inc, Enterprises LLC, Enterprises PC, and Industries Inc. The features see that LLC and PC changed the legal form, Industries replaced a word, and Inc changed nothing. The decision model gives Inc 0.965 and the best other only 0.089, so it is confident and a clear winner, and we link the record to the Inc in Windsor, Connecticut, and to nothing else. [click]</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Indian record is in Devanagari. [point along the steps] The shortlist holds three businesses called Vijay Enterprises Private Limited, in Agra, Satara and Byculla, but nothing ties them to this address, and all three score below one in a hundred thousand. So it stays unlinked, and the second chance begins. The word list turns the name into vijay enterprises, the address gives Maharashtra, and the new search finds ten such businesses there and keeps five. Only one has the same house number, 24/11, in Ghatkopar, and the second-chance model gives it 0.99994. [pause] So the link is added. [click]</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Finally, here is the French record, TQ Comite SARL in Nantes. [point along the steps] The search finds 16 candidates, and the quick filter keeps two. One has exactly the same name but sits in Pessac, another city; our original reader liked it, but the French readers rejected it. The other, TQ Parents SARL, is at exactly the same address, and the decision model gives it 0.9998. But at the same address, the common word comite has replaced parents, and our French rule vetoes exactly that. [pause] So we link nothing, because under F0.5 abstaining is cheaper than a wrong link. Test labels are private, so these examples show how we decide, not whether each call was right. [click]</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Where did this get us? Our final file scores 0.9913 on the public leaderboard, up from 0.968 for our first baseline, and on hidden folds close versions of our US and Indian decision models score between 0.990 and 0.992. [pause] What worked best was studying how true records differ from their business before building features. [point to the limits box] Now let me state our limits plainly. We never had a fully untouched test of the final file, because the hidden folds also helped set our thresholds. France relied on self-training and on rules designed after looking at unlabelled test records, and we kept the French E5 reader although it failed two of its four written checks. Next time, we would keep an untouched validation fold from day one and label a small French sample. [click]</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slide for questions, not part of the talk. The full pipeline with all five zones lit, for zooming in during Q&amp;A.</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slide for questions. The funnel step by step. The filter costs almost nothing: the true business survives for 99.974 percent of held-out records. The shortlist keeps the true business for at least 98.87 percent of US and 98.06 percent of Indian records on train fold 9.</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slide for questions. Held-out F0.5 of the US and India decision models on folds 9 and 8, scored by fits that never saw records of the scored fold. The France recipe row is a stand-in check on US and India data, not a French score. These numbers exclude the second-chance searches and the France rules.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slide for questions. The French E5 reader passed two of its four written checks and failed two. We kept it because the file that contained it had our best public score. Its own effect is not isolated, because the same upload also added the five-seed decision models, and we say so openly in the limits.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for questions. The US record has no address, so only the name separates the four shortlisted businesses. The identical Inc business scores 0.965022, the PC business 0.088664, Industries 0.000088 and the LLC business, which the ranker had placed second, 0.000007. The best clears 0.75 with a lead of 0.876, so exactly one link is made, and the per-business consistency check keeps it.</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for questions. The Latin index finds three Vijay Enterprises Private Limited businesses, in Agra, Satara and Byculla, but nothing ties them to this address; all score below one in a hundred thousand and the record stays unlinked. The second-chance search turns the name into Latin letters with a word list learned from training matches, searches vijay enterprises in Maharashtra and finds ten businesses. The Ghatkopar one is the only candidate with house number 24/11; the second-chance model scores it 0.99994 against 0.0000191, and the link is added.</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for questions. France has no labels. The identical name in Pessac gets plus 7.1 from the general MiniLM reader, but both French readers reject it and the blend gives minus 3.2. The decision model accepts TQ Parents SARL at the same address with 0.999837. A France rule then fires: same house number and street, and the name differs by one word, parents to comite. A second rule agrees, the link is dropped, and no later rule adds it back. Test labels are private, so this shows how the pipeline decides, not whether it is right.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73175" y="11322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Wiser Purple">
  <p:cSld name="TITLE_ONLY_1">
    <p:spTree>
      <p:nvGrpSpPr>
        <p:cNvPr id="1" name="Shape 9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bg>
      <p:bgPr>
        <a:solidFill>
          <a:srgbClr val="FF6200"/>
        </a:solidFill>
        <a:effectLst/>
      </p:bgPr>
    </p:bg>
    <p:spTree>
      <p:nvGrpSpPr>
        <p:cNvPr id="1" name="Shape 96"/>
        <p:cNvGrpSpPr/>
        <p:nvPr/>
      </p:nvGrpSpPr>
      <p:grpSpPr>
        <a:xfrm>
          <a:off x="0" y="0"/>
          <a:ext cx="0" cy="0"/>
          <a:chOff x="0" y="0"/>
          <a:chExt cx="0" cy="0"/>
        </a:xfrm>
      </p:grpSpPr>
      <p:sp>
        <p:nvSpPr>
          <p:cNvPr id="97" name="Google Shape;97;p26"/>
          <p:cNvSpPr/>
          <p:nvPr/>
        </p:nvSpPr>
        <p:spPr>
          <a:xfrm>
            <a:off x="0" y="0"/>
            <a:ext cx="9147366" cy="5145465"/>
          </a:xfrm>
          <a:custGeom>
            <a:avLst/>
            <a:gdLst/>
            <a:ahLst/>
            <a:cxnLst/>
            <a:rect l="l" t="t" r="r" b="b"/>
            <a:pathLst>
              <a:path w="20104100" h="11308715" extrusionOk="0">
                <a:moveTo>
                  <a:pt x="20104099" y="0"/>
                </a:moveTo>
                <a:lnTo>
                  <a:pt x="0" y="0"/>
                </a:lnTo>
                <a:lnTo>
                  <a:pt x="0" y="11308556"/>
                </a:lnTo>
                <a:lnTo>
                  <a:pt x="20104099" y="11308556"/>
                </a:lnTo>
                <a:lnTo>
                  <a:pt x="20104099" y="0"/>
                </a:lnTo>
                <a:close/>
              </a:path>
            </a:pathLst>
          </a:custGeom>
          <a:solidFill>
            <a:srgbClr val="FF6200"/>
          </a:solidFill>
          <a:ln>
            <a:noFill/>
          </a:ln>
        </p:spPr>
        <p:txBody>
          <a:bodyPr spcFirstLastPara="1" wrap="square" lIns="0" tIns="0" rIns="0" bIns="0" anchor="t" anchorCtr="0">
            <a:noAutofit/>
          </a:bodyPr>
          <a:lstStyle/>
          <a:p>
            <a:pPr marL="0" lvl="0" indent="0" algn="l" rtl="0">
              <a:spcBef>
                <a:spcPts val="0"/>
              </a:spcBef>
              <a:spcAft>
                <a:spcPts val="0"/>
              </a:spcAft>
              <a:buNone/>
            </a:pPr>
            <a:endParaRPr sz="800"/>
          </a:p>
        </p:txBody>
      </p:sp>
      <p:sp>
        <p:nvSpPr>
          <p:cNvPr id="98" name="Google Shape;98;p26"/>
          <p:cNvSpPr txBox="1">
            <a:spLocks noGrp="1"/>
          </p:cNvSpPr>
          <p:nvPr>
            <p:ph type="title"/>
          </p:nvPr>
        </p:nvSpPr>
        <p:spPr>
          <a:xfrm>
            <a:off x="351411" y="268461"/>
            <a:ext cx="4280400" cy="6117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800"/>
              <a:buNone/>
              <a:defRPr sz="2300" b="1" i="0">
                <a:solidFill>
                  <a:srgbClr val="FF6200"/>
                </a:solidFill>
                <a:latin typeface="Play"/>
                <a:ea typeface="Play"/>
                <a:cs typeface="Play"/>
                <a:sym typeface="Play"/>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9" name="Google Shape;99;p26"/>
          <p:cNvSpPr txBox="1">
            <a:spLocks noGrp="1"/>
          </p:cNvSpPr>
          <p:nvPr>
            <p:ph type="body" idx="1"/>
          </p:nvPr>
        </p:nvSpPr>
        <p:spPr>
          <a:xfrm>
            <a:off x="4701119" y="2487711"/>
            <a:ext cx="3905700" cy="21639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sz="2300" b="1" i="0">
                <a:solidFill>
                  <a:srgbClr val="161D26"/>
                </a:solidFill>
                <a:latin typeface="Play"/>
                <a:ea typeface="Play"/>
                <a:cs typeface="Play"/>
                <a:sym typeface="Play"/>
              </a:defRPr>
            </a:lvl1pPr>
            <a:lvl2pPr marL="914400" lvl="1" indent="-228600" algn="l">
              <a:spcBef>
                <a:spcPts val="1200"/>
              </a:spcBef>
              <a:spcAft>
                <a:spcPts val="0"/>
              </a:spcAft>
              <a:buSzPts val="1400"/>
              <a:buNone/>
              <a:defRPr/>
            </a:lvl2pPr>
            <a:lvl3pPr marL="1371600" lvl="2" indent="-228600" algn="l">
              <a:spcBef>
                <a:spcPts val="1200"/>
              </a:spcBef>
              <a:spcAft>
                <a:spcPts val="0"/>
              </a:spcAft>
              <a:buSzPts val="1400"/>
              <a:buNone/>
              <a:defRPr/>
            </a:lvl3pPr>
            <a:lvl4pPr marL="1828800" lvl="3" indent="-228600" algn="l">
              <a:spcBef>
                <a:spcPts val="1200"/>
              </a:spcBef>
              <a:spcAft>
                <a:spcPts val="0"/>
              </a:spcAft>
              <a:buSzPts val="1400"/>
              <a:buNone/>
              <a:defRPr/>
            </a:lvl4pPr>
            <a:lvl5pPr marL="2286000" lvl="4" indent="-228600" algn="l">
              <a:spcBef>
                <a:spcPts val="1200"/>
              </a:spcBef>
              <a:spcAft>
                <a:spcPts val="0"/>
              </a:spcAft>
              <a:buSzPts val="1400"/>
              <a:buNone/>
              <a:defRPr/>
            </a:lvl5pPr>
            <a:lvl6pPr marL="2743200" lvl="5" indent="-228600" algn="l">
              <a:spcBef>
                <a:spcPts val="1200"/>
              </a:spcBef>
              <a:spcAft>
                <a:spcPts val="0"/>
              </a:spcAft>
              <a:buSzPts val="1400"/>
              <a:buNone/>
              <a:defRPr/>
            </a:lvl6pPr>
            <a:lvl7pPr marL="3200400" lvl="6" indent="-228600" algn="l">
              <a:spcBef>
                <a:spcPts val="1200"/>
              </a:spcBef>
              <a:spcAft>
                <a:spcPts val="0"/>
              </a:spcAft>
              <a:buSzPts val="1400"/>
              <a:buNone/>
              <a:defRPr/>
            </a:lvl7pPr>
            <a:lvl8pPr marL="3657600" lvl="7" indent="-228600" algn="l">
              <a:spcBef>
                <a:spcPts val="1200"/>
              </a:spcBef>
              <a:spcAft>
                <a:spcPts val="0"/>
              </a:spcAft>
              <a:buSzPts val="1400"/>
              <a:buNone/>
              <a:defRPr/>
            </a:lvl8pPr>
            <a:lvl9pPr marL="4114800" lvl="8" indent="-228600" algn="l">
              <a:spcBef>
                <a:spcPts val="1200"/>
              </a:spcBef>
              <a:spcAft>
                <a:spcPts val="1200"/>
              </a:spcAft>
              <a:buSzPts val="1400"/>
              <a:buNone/>
              <a:defRPr/>
            </a:lvl9pPr>
          </a:lstStyle>
          <a:p>
            <a:endParaRPr/>
          </a:p>
        </p:txBody>
      </p:sp>
      <p:sp>
        <p:nvSpPr>
          <p:cNvPr id="100" name="Google Shape;100;p26"/>
          <p:cNvSpPr txBox="1">
            <a:spLocks noGrp="1"/>
          </p:cNvSpPr>
          <p:nvPr>
            <p:ph type="ftr" idx="11"/>
          </p:nvPr>
        </p:nvSpPr>
        <p:spPr>
          <a:xfrm>
            <a:off x="3108960" y="4783455"/>
            <a:ext cx="2925900" cy="2571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600"/>
              <a:buNone/>
              <a:defRPr sz="600">
                <a:solidFill>
                  <a:srgbClr val="888888"/>
                </a:solidFill>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a:endParaRPr/>
          </a:p>
        </p:txBody>
      </p:sp>
      <p:sp>
        <p:nvSpPr>
          <p:cNvPr id="101" name="Google Shape;101;p26"/>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600"/>
              <a:buNone/>
              <a:defRPr sz="600">
                <a:solidFill>
                  <a:srgbClr val="888888"/>
                </a:solidFill>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a:endParaRPr/>
          </a:p>
        </p:txBody>
      </p:sp>
      <p:sp>
        <p:nvSpPr>
          <p:cNvPr id="102" name="Google Shape;102;p26"/>
          <p:cNvSpPr txBox="1">
            <a:spLocks noGrp="1"/>
          </p:cNvSpPr>
          <p:nvPr>
            <p:ph type="sldNum" idx="12"/>
          </p:nvPr>
        </p:nvSpPr>
        <p:spPr>
          <a:xfrm>
            <a:off x="6583680" y="4783455"/>
            <a:ext cx="2103000" cy="153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iser Plum" userDrawn="1">
  <p:cSld name="TITLE_AND_TWO_COLUMNS_1">
    <p:spTree>
      <p:nvGrpSpPr>
        <p:cNvPr id="1" name="Shape 105"/>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443B5F7-EF56-1F15-49A3-569995F7184C}"/>
              </a:ext>
            </a:extLst>
          </p:cNvPr>
          <p:cNvSpPr>
            <a:spLocks noGrp="1"/>
          </p:cNvSpPr>
          <p:nvPr>
            <p:ph type="pic" sz="quarter" idx="13"/>
          </p:nvPr>
        </p:nvSpPr>
        <p:spPr>
          <a:xfrm>
            <a:off x="1747399" y="1866864"/>
            <a:ext cx="1773237" cy="2024100"/>
          </a:xfrm>
          <a:prstGeom prst="roundRect">
            <a:avLst>
              <a:gd name="adj" fmla="val 12434"/>
            </a:avLst>
          </a:prstGeom>
          <a:solidFill>
            <a:schemeClr val="bg1">
              <a:lumMod val="95000"/>
            </a:schemeClr>
          </a:solidFill>
        </p:spPr>
        <p:txBody>
          <a:bodyPr/>
          <a:lstStyle/>
          <a:p>
            <a:endParaRPr lang="en-US"/>
          </a:p>
        </p:txBody>
      </p:sp>
      <p:sp>
        <p:nvSpPr>
          <p:cNvPr id="8" name="Picture Placeholder 6">
            <a:extLst>
              <a:ext uri="{FF2B5EF4-FFF2-40B4-BE49-F238E27FC236}">
                <a16:creationId xmlns:a16="http://schemas.microsoft.com/office/drawing/2014/main" id="{454DC439-9F8D-9427-12C5-06A07E1271E1}"/>
              </a:ext>
            </a:extLst>
          </p:cNvPr>
          <p:cNvSpPr>
            <a:spLocks noGrp="1"/>
          </p:cNvSpPr>
          <p:nvPr>
            <p:ph type="pic" sz="quarter" idx="14"/>
          </p:nvPr>
        </p:nvSpPr>
        <p:spPr>
          <a:xfrm>
            <a:off x="3685381" y="1866864"/>
            <a:ext cx="1773237" cy="2024100"/>
          </a:xfrm>
          <a:prstGeom prst="roundRect">
            <a:avLst>
              <a:gd name="adj" fmla="val 12434"/>
            </a:avLst>
          </a:prstGeom>
          <a:solidFill>
            <a:schemeClr val="bg1">
              <a:lumMod val="95000"/>
            </a:schemeClr>
          </a:solidFill>
        </p:spPr>
        <p:txBody>
          <a:bodyPr/>
          <a:lstStyle/>
          <a:p>
            <a:endParaRPr lang="en-US"/>
          </a:p>
        </p:txBody>
      </p:sp>
      <p:sp>
        <p:nvSpPr>
          <p:cNvPr id="9" name="Picture Placeholder 6">
            <a:extLst>
              <a:ext uri="{FF2B5EF4-FFF2-40B4-BE49-F238E27FC236}">
                <a16:creationId xmlns:a16="http://schemas.microsoft.com/office/drawing/2014/main" id="{5A368EE7-3E3B-2F44-2596-2B5B8D64F892}"/>
              </a:ext>
            </a:extLst>
          </p:cNvPr>
          <p:cNvSpPr>
            <a:spLocks noGrp="1"/>
          </p:cNvSpPr>
          <p:nvPr>
            <p:ph type="pic" sz="quarter" idx="15"/>
          </p:nvPr>
        </p:nvSpPr>
        <p:spPr>
          <a:xfrm>
            <a:off x="5623363" y="1866864"/>
            <a:ext cx="1773237" cy="2024100"/>
          </a:xfrm>
          <a:prstGeom prst="roundRect">
            <a:avLst>
              <a:gd name="adj" fmla="val 12434"/>
            </a:avLst>
          </a:prstGeom>
          <a:solidFill>
            <a:schemeClr val="bg1">
              <a:lumMod val="95000"/>
            </a:schemeClr>
          </a:solidFill>
        </p:spPr>
        <p:txBody>
          <a:bodyPr/>
          <a:lstStyle/>
          <a:p>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Wiser Plum" preserve="1" userDrawn="1">
  <p:cSld name="1_Wiser Plum">
    <p:spTree>
      <p:nvGrpSpPr>
        <p:cNvPr id="1" name="Shape 105"/>
        <p:cNvGrpSpPr/>
        <p:nvPr/>
      </p:nvGrpSpPr>
      <p:grpSpPr>
        <a:xfrm>
          <a:off x="0" y="0"/>
          <a:ext cx="0" cy="0"/>
          <a:chOff x="0" y="0"/>
          <a:chExt cx="0" cy="0"/>
        </a:xfrm>
      </p:grpSpPr>
      <p:sp>
        <p:nvSpPr>
          <p:cNvPr id="6" name="Picture Placeholder 6">
            <a:extLst>
              <a:ext uri="{FF2B5EF4-FFF2-40B4-BE49-F238E27FC236}">
                <a16:creationId xmlns:a16="http://schemas.microsoft.com/office/drawing/2014/main" id="{D637DBAA-E392-5870-4249-46419E9FE035}"/>
              </a:ext>
            </a:extLst>
          </p:cNvPr>
          <p:cNvSpPr>
            <a:spLocks noGrp="1"/>
          </p:cNvSpPr>
          <p:nvPr>
            <p:ph type="pic" sz="quarter" idx="13"/>
          </p:nvPr>
        </p:nvSpPr>
        <p:spPr>
          <a:xfrm>
            <a:off x="739876" y="1559700"/>
            <a:ext cx="1692771" cy="1932250"/>
          </a:xfrm>
          <a:prstGeom prst="roundRect">
            <a:avLst>
              <a:gd name="adj" fmla="val 12434"/>
            </a:avLst>
          </a:prstGeom>
          <a:solidFill>
            <a:schemeClr val="bg1">
              <a:lumMod val="95000"/>
            </a:schemeClr>
          </a:solidFill>
        </p:spPr>
        <p:txBody>
          <a:bodyPr/>
          <a:lstStyle/>
          <a:p>
            <a:endParaRPr lang="en-US"/>
          </a:p>
        </p:txBody>
      </p:sp>
      <p:sp>
        <p:nvSpPr>
          <p:cNvPr id="11" name="Picture Placeholder 6">
            <a:extLst>
              <a:ext uri="{FF2B5EF4-FFF2-40B4-BE49-F238E27FC236}">
                <a16:creationId xmlns:a16="http://schemas.microsoft.com/office/drawing/2014/main" id="{0F1E19A5-6345-E0C3-F089-1BC3F23E186E}"/>
              </a:ext>
            </a:extLst>
          </p:cNvPr>
          <p:cNvSpPr>
            <a:spLocks noGrp="1"/>
          </p:cNvSpPr>
          <p:nvPr>
            <p:ph type="pic" sz="quarter" idx="14"/>
          </p:nvPr>
        </p:nvSpPr>
        <p:spPr>
          <a:xfrm>
            <a:off x="2834807" y="1559700"/>
            <a:ext cx="1692771" cy="1932250"/>
          </a:xfrm>
          <a:prstGeom prst="roundRect">
            <a:avLst>
              <a:gd name="adj" fmla="val 12434"/>
            </a:avLst>
          </a:prstGeom>
          <a:solidFill>
            <a:schemeClr val="bg1">
              <a:lumMod val="95000"/>
            </a:schemeClr>
          </a:solidFill>
        </p:spPr>
        <p:txBody>
          <a:bodyPr/>
          <a:lstStyle/>
          <a:p>
            <a:endParaRPr lang="en-US"/>
          </a:p>
        </p:txBody>
      </p:sp>
      <p:sp>
        <p:nvSpPr>
          <p:cNvPr id="12" name="Picture Placeholder 6">
            <a:extLst>
              <a:ext uri="{FF2B5EF4-FFF2-40B4-BE49-F238E27FC236}">
                <a16:creationId xmlns:a16="http://schemas.microsoft.com/office/drawing/2014/main" id="{D7EEFAC9-5F28-4633-D474-BAB20FB1B427}"/>
              </a:ext>
            </a:extLst>
          </p:cNvPr>
          <p:cNvSpPr>
            <a:spLocks noGrp="1"/>
          </p:cNvSpPr>
          <p:nvPr>
            <p:ph type="pic" sz="quarter" idx="15"/>
          </p:nvPr>
        </p:nvSpPr>
        <p:spPr>
          <a:xfrm>
            <a:off x="4916091" y="1559700"/>
            <a:ext cx="1692771" cy="1932250"/>
          </a:xfrm>
          <a:prstGeom prst="roundRect">
            <a:avLst>
              <a:gd name="adj" fmla="val 12434"/>
            </a:avLst>
          </a:prstGeom>
          <a:solidFill>
            <a:schemeClr val="bg1">
              <a:lumMod val="95000"/>
            </a:schemeClr>
          </a:solidFill>
        </p:spPr>
        <p:txBody>
          <a:bodyPr/>
          <a:lstStyle/>
          <a:p>
            <a:endParaRPr lang="en-US"/>
          </a:p>
        </p:txBody>
      </p:sp>
      <p:sp>
        <p:nvSpPr>
          <p:cNvPr id="13" name="Picture Placeholder 6">
            <a:extLst>
              <a:ext uri="{FF2B5EF4-FFF2-40B4-BE49-F238E27FC236}">
                <a16:creationId xmlns:a16="http://schemas.microsoft.com/office/drawing/2014/main" id="{B7913989-BE66-F651-DF45-ABC524911DEB}"/>
              </a:ext>
            </a:extLst>
          </p:cNvPr>
          <p:cNvSpPr>
            <a:spLocks noGrp="1"/>
          </p:cNvSpPr>
          <p:nvPr>
            <p:ph type="pic" sz="quarter" idx="16"/>
          </p:nvPr>
        </p:nvSpPr>
        <p:spPr>
          <a:xfrm>
            <a:off x="7011022" y="1559700"/>
            <a:ext cx="1692771" cy="1932250"/>
          </a:xfrm>
          <a:prstGeom prst="roundRect">
            <a:avLst>
              <a:gd name="adj" fmla="val 12434"/>
            </a:avLst>
          </a:prstGeom>
          <a:solidFill>
            <a:schemeClr val="bg1">
              <a:lumMod val="95000"/>
            </a:schemeClr>
          </a:solidFill>
        </p:spPr>
        <p:txBody>
          <a:bodyPr/>
          <a:lstStyle/>
          <a:p>
            <a:endParaRPr lang="en-US"/>
          </a:p>
        </p:txBody>
      </p:sp>
    </p:spTree>
    <p:extLst>
      <p:ext uri="{BB962C8B-B14F-4D97-AF65-F5344CB8AC3E}">
        <p14:creationId xmlns:p14="http://schemas.microsoft.com/office/powerpoint/2010/main" val="34338586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Wiser Purple 1">
  <p:cSld name="TITLE_ONLY_2">
    <p:spTree>
      <p:nvGrpSpPr>
        <p:cNvPr id="1" name="Shape 107"/>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Wiser Plum 4">
  <p:cSld name="TITLE_AND_TWO_COLUMNS_5">
    <p:spTree>
      <p:nvGrpSpPr>
        <p:cNvPr id="1" name="Shape 108"/>
        <p:cNvGrpSpPr/>
        <p:nvPr/>
      </p:nvGrpSpPr>
      <p:grpSpPr>
        <a:xfrm>
          <a:off x="0" y="0"/>
          <a:ext cx="0" cy="0"/>
          <a:chOff x="0" y="0"/>
          <a:chExt cx="0" cy="0"/>
        </a:xfrm>
      </p:grpSpPr>
      <p:sp>
        <p:nvSpPr>
          <p:cNvPr id="109" name="Google Shape;109;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6">
    <p:spTree>
      <p:nvGrpSpPr>
        <p:cNvPr id="1" name="Shape 110"/>
        <p:cNvGrpSpPr/>
        <p:nvPr/>
      </p:nvGrpSpPr>
      <p:grpSpPr>
        <a:xfrm>
          <a:off x="0" y="0"/>
          <a:ext cx="0" cy="0"/>
          <a:chOff x="0" y="0"/>
          <a:chExt cx="0" cy="0"/>
        </a:xfrm>
      </p:grpSpPr>
      <p:sp>
        <p:nvSpPr>
          <p:cNvPr id="111" name="Google Shape;111;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2" name="Google Shape;112;p31"/>
          <p:cNvSpPr/>
          <p:nvPr/>
        </p:nvSpPr>
        <p:spPr>
          <a:xfrm>
            <a:off x="3200525" y="0"/>
            <a:ext cx="59436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ustom Layout 1 1 1 1 1">
  <p:cSld name="CUSTOM_2_1_1_1">
    <p:spTree>
      <p:nvGrpSpPr>
        <p:cNvPr id="1" name="Shape 115"/>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_HEADER_1_1">
  <p:cSld name="SECTION_HEADER_1_1">
    <p:spTree>
      <p:nvGrpSpPr>
        <p:cNvPr id="1" name="Shape 116"/>
        <p:cNvGrpSpPr/>
        <p:nvPr/>
      </p:nvGrpSpPr>
      <p:grpSpPr>
        <a:xfrm>
          <a:off x="0" y="0"/>
          <a:ext cx="0" cy="0"/>
          <a:chOff x="0" y="0"/>
          <a:chExt cx="0" cy="0"/>
        </a:xfrm>
      </p:grpSpPr>
      <p:sp>
        <p:nvSpPr>
          <p:cNvPr id="117" name="Google Shape;117;p3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18" name="Google Shape;118;p34"/>
          <p:cNvSpPr txBox="1">
            <a:spLocks noGrp="1"/>
          </p:cNvSpPr>
          <p:nvPr>
            <p:ph type="sldNum" idx="12"/>
          </p:nvPr>
        </p:nvSpPr>
        <p:spPr>
          <a:xfrm>
            <a:off x="8472458" y="4663217"/>
            <a:ext cx="548700" cy="123000"/>
          </a:xfrm>
          <a:prstGeom prst="rect">
            <a:avLst/>
          </a:prstGeom>
        </p:spPr>
        <p:txBody>
          <a:bodyPr spcFirstLastPara="1" wrap="square" lIns="91425" tIns="91425" rIns="91425" bIns="91425" anchor="ctr" anchorCtr="0">
            <a:normAutofit fontScale="250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RCLAYS–LIGHT 1 1">
  <p:cSld name="TITLE_ONLY_1_1_2">
    <p:bg>
      <p:bgPr>
        <a:solidFill>
          <a:srgbClr val="00AEEF"/>
        </a:solidFill>
        <a:effectLst/>
      </p:bgPr>
    </p:bg>
    <p:spTree>
      <p:nvGrpSpPr>
        <p:cNvPr id="1" name="Shape 119"/>
        <p:cNvGrpSpPr/>
        <p:nvPr/>
      </p:nvGrpSpPr>
      <p:grpSpPr>
        <a:xfrm>
          <a:off x="0" y="0"/>
          <a:ext cx="0" cy="0"/>
          <a:chOff x="0" y="0"/>
          <a:chExt cx="0" cy="0"/>
        </a:xfrm>
      </p:grpSpPr>
      <p:sp>
        <p:nvSpPr>
          <p:cNvPr id="120" name="Google Shape;120;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F6200"/>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52" name="Google Shape;52;p13"/>
          <p:cNvSpPr txBox="1">
            <a:spLocks noGrp="1"/>
          </p:cNvSpPr>
          <p:nvPr>
            <p:ph type="body" idx="1"/>
          </p:nvPr>
        </p:nvSpPr>
        <p:spPr>
          <a:xfrm>
            <a:off x="373175" y="11322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70" r:id="rId11"/>
    <p:sldLayoutId id="2147483671" r:id="rId12"/>
    <p:sldLayoutId id="2147483673" r:id="rId13"/>
    <p:sldLayoutId id="2147483681" r:id="rId14"/>
    <p:sldLayoutId id="2147483674" r:id="rId15"/>
    <p:sldLayoutId id="2147483675" r:id="rId16"/>
    <p:sldLayoutId id="2147483676" r:id="rId17"/>
    <p:sldLayoutId id="2147483678" r:id="rId18"/>
    <p:sldLayoutId id="2147483679" r:id="rId19"/>
    <p:sldLayoutId id="2147483680"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1C27"/>
        </a:solidFill>
        <a:effectLst/>
      </p:bgPr>
    </p:bg>
    <p:spTree>
      <p:nvGrpSpPr>
        <p:cNvPr id="1" name="Shape 156"/>
        <p:cNvGrpSpPr/>
        <p:nvPr/>
      </p:nvGrpSpPr>
      <p:grpSpPr>
        <a:xfrm>
          <a:off x="0" y="0"/>
          <a:ext cx="0" cy="0"/>
          <a:chOff x="0" y="0"/>
          <a:chExt cx="0" cy="0"/>
        </a:xfrm>
      </p:grpSpPr>
      <p:sp>
        <p:nvSpPr>
          <p:cNvPr id="157" name="Google Shape;157;p37"/>
          <p:cNvSpPr txBox="1"/>
          <p:nvPr/>
        </p:nvSpPr>
        <p:spPr>
          <a:xfrm>
            <a:off x="3634739" y="4084778"/>
            <a:ext cx="1874520" cy="365700"/>
          </a:xfrm>
          <a:prstGeom prst="rect">
            <a:avLst/>
          </a:prstGeom>
          <a:noFill/>
          <a:ln>
            <a:noFill/>
          </a:ln>
        </p:spPr>
        <p:txBody>
          <a:bodyPr spcFirstLastPara="1" wrap="square" lIns="0" tIns="0" rIns="0" bIns="0" anchor="t" anchorCtr="0">
            <a:noAutofit/>
          </a:bodyPr>
          <a:lstStyle/>
          <a:p>
            <a:pPr marL="0" lvl="0" indent="0" algn="ctr" rtl="0">
              <a:lnSpc>
                <a:spcPct val="70000"/>
              </a:lnSpc>
              <a:spcBef>
                <a:spcPts val="0"/>
              </a:spcBef>
              <a:spcAft>
                <a:spcPts val="0"/>
              </a:spcAft>
              <a:buClr>
                <a:schemeClr val="dk1"/>
              </a:buClr>
              <a:buSzPts val="1100"/>
              <a:buFont typeface="Arial"/>
              <a:buNone/>
            </a:pPr>
            <a:r>
              <a:rPr lang="en" sz="1200" b="1" dirty="0">
                <a:solidFill>
                  <a:schemeClr val="lt1"/>
                </a:solidFill>
                <a:latin typeface="Ember Modern Display Standard" panose="020B0503020204020204" pitchFamily="34" charset="0"/>
                <a:ea typeface="Special Gothic"/>
                <a:cs typeface="Special Gothic"/>
                <a:sym typeface="Special Gothic"/>
              </a:rPr>
              <a:t>Monika Tammineni</a:t>
            </a:r>
            <a:endParaRPr sz="1063" b="1" dirty="0">
              <a:solidFill>
                <a:schemeClr val="lt1"/>
              </a:solidFill>
              <a:latin typeface="Ember Modern Display Standard" panose="020B0503020204020204" pitchFamily="34" charset="0"/>
              <a:ea typeface="Special Gothic"/>
              <a:cs typeface="Special Gothic"/>
              <a:sym typeface="Special Gothic"/>
            </a:endParaRPr>
          </a:p>
          <a:p>
            <a:pPr marL="0" lvl="0" indent="0" algn="ctr" rtl="0">
              <a:spcBef>
                <a:spcPts val="0"/>
              </a:spcBef>
              <a:spcAft>
                <a:spcPts val="0"/>
              </a:spcAft>
              <a:buClr>
                <a:schemeClr val="dk1"/>
              </a:buClr>
              <a:buSzPts val="1100"/>
              <a:buFont typeface="Arial"/>
              <a:buNone/>
            </a:pPr>
            <a:endParaRPr sz="1063" b="1" dirty="0">
              <a:solidFill>
                <a:srgbClr val="FFFFFF"/>
              </a:solidFill>
              <a:latin typeface="Ember Modern Display Standard" panose="020B0503020204020204" pitchFamily="34" charset="0"/>
              <a:ea typeface="Special Gothic"/>
              <a:cs typeface="Special Gothic"/>
              <a:sym typeface="Special Gothic"/>
            </a:endParaRPr>
          </a:p>
        </p:txBody>
      </p:sp>
      <p:sp>
        <p:nvSpPr>
          <p:cNvPr id="158" name="Google Shape;158;p37"/>
          <p:cNvSpPr txBox="1"/>
          <p:nvPr/>
        </p:nvSpPr>
        <p:spPr>
          <a:xfrm>
            <a:off x="1696757" y="4084837"/>
            <a:ext cx="1874520" cy="365700"/>
          </a:xfrm>
          <a:prstGeom prst="rect">
            <a:avLst/>
          </a:prstGeom>
          <a:noFill/>
          <a:ln>
            <a:noFill/>
          </a:ln>
        </p:spPr>
        <p:txBody>
          <a:bodyPr spcFirstLastPara="1" wrap="square" lIns="0" tIns="0" rIns="0" bIns="0" anchor="t" anchorCtr="0">
            <a:noAutofit/>
          </a:bodyPr>
          <a:lstStyle/>
          <a:p>
            <a:pPr marL="0" lvl="0" indent="0" algn="ctr" rtl="0">
              <a:lnSpc>
                <a:spcPct val="70000"/>
              </a:lnSpc>
              <a:spcBef>
                <a:spcPts val="0"/>
              </a:spcBef>
              <a:spcAft>
                <a:spcPts val="0"/>
              </a:spcAft>
              <a:buNone/>
            </a:pPr>
            <a:r>
              <a:rPr lang="en" sz="1200" b="1" dirty="0">
                <a:solidFill>
                  <a:srgbClr val="FFFFFF"/>
                </a:solidFill>
                <a:latin typeface="Ember Modern Display Standard" panose="020B0503020204020204" pitchFamily="34" charset="0"/>
                <a:ea typeface="Special Gothic"/>
                <a:cs typeface="Special Gothic"/>
                <a:sym typeface="Special Gothic"/>
              </a:rPr>
              <a:t>Pardheev Krishna Tammineni</a:t>
            </a:r>
            <a:endParaRPr sz="1063" b="1" dirty="0">
              <a:solidFill>
                <a:srgbClr val="FFFFFF"/>
              </a:solidFill>
              <a:latin typeface="Ember Modern Display Standard" panose="020B0503020204020204" pitchFamily="34" charset="0"/>
              <a:ea typeface="Special Gothic"/>
              <a:cs typeface="Special Gothic"/>
              <a:sym typeface="Special Gothic"/>
            </a:endParaRPr>
          </a:p>
          <a:p>
            <a:pPr marL="0" lvl="0" indent="0" algn="ctr" rtl="0">
              <a:spcBef>
                <a:spcPts val="0"/>
              </a:spcBef>
              <a:spcAft>
                <a:spcPts val="0"/>
              </a:spcAft>
              <a:buNone/>
            </a:pPr>
            <a:endParaRPr sz="1299" b="1" dirty="0">
              <a:solidFill>
                <a:srgbClr val="FFFFFF"/>
              </a:solidFill>
              <a:latin typeface="Ember Modern Display Standard" panose="020B0503020204020204" pitchFamily="34" charset="0"/>
              <a:ea typeface="Special Gothic"/>
              <a:cs typeface="Special Gothic"/>
              <a:sym typeface="Special Gothic"/>
            </a:endParaRPr>
          </a:p>
        </p:txBody>
      </p:sp>
      <p:sp>
        <p:nvSpPr>
          <p:cNvPr id="159" name="Google Shape;159;p37"/>
          <p:cNvSpPr txBox="1"/>
          <p:nvPr/>
        </p:nvSpPr>
        <p:spPr>
          <a:xfrm>
            <a:off x="779287" y="663396"/>
            <a:ext cx="7585425" cy="861900"/>
          </a:xfrm>
          <a:prstGeom prst="rect">
            <a:avLst/>
          </a:prstGeom>
          <a:noFill/>
          <a:ln>
            <a:noFill/>
          </a:ln>
        </p:spPr>
        <p:txBody>
          <a:bodyPr spcFirstLastPara="1" wrap="square" lIns="91425" tIns="91425" rIns="91425" bIns="91425" anchor="t" anchorCtr="0">
            <a:spAutoFit/>
          </a:bodyPr>
          <a:lstStyle/>
          <a:p>
            <a:pPr marL="0" lvl="0" indent="0" algn="ctr" rtl="0">
              <a:lnSpc>
                <a:spcPct val="80000"/>
              </a:lnSpc>
              <a:spcBef>
                <a:spcPts val="0"/>
              </a:spcBef>
              <a:spcAft>
                <a:spcPts val="0"/>
              </a:spcAft>
              <a:buNone/>
            </a:pPr>
            <a:r>
              <a:rPr lang="en" sz="5500" b="1" dirty="0">
                <a:solidFill>
                  <a:schemeClr val="lt2"/>
                </a:solidFill>
                <a:latin typeface="Ember Modern Display Standard" panose="020B0503020204020204" pitchFamily="34" charset="0"/>
                <a:ea typeface="Special Gothic"/>
                <a:cs typeface="Special Gothic"/>
                <a:sym typeface="Special Gothic"/>
              </a:rPr>
              <a:t>Team </a:t>
            </a:r>
            <a:r>
              <a:rPr lang="en" sz="5500" b="1" dirty="0">
                <a:solidFill>
                  <a:srgbClr val="FF6101"/>
                </a:solidFill>
                <a:latin typeface="Ember Modern Display Standard" panose="020B0503020204020204" pitchFamily="34" charset="0"/>
                <a:ea typeface="Special Gothic"/>
                <a:cs typeface="Special Gothic"/>
                <a:sym typeface="Special Gothic"/>
              </a:rPr>
              <a:t>Androids</a:t>
            </a:r>
            <a:endParaRPr sz="2000" b="1" dirty="0">
              <a:solidFill>
                <a:schemeClr val="lt1"/>
              </a:solidFill>
              <a:latin typeface="Ember Modern Display Standard" panose="020B0503020204020204" pitchFamily="34" charset="0"/>
              <a:ea typeface="Special Gothic"/>
              <a:cs typeface="Special Gothic"/>
              <a:sym typeface="Special Gothic"/>
            </a:endParaRPr>
          </a:p>
        </p:txBody>
      </p:sp>
      <p:sp>
        <p:nvSpPr>
          <p:cNvPr id="161" name="Google Shape;161;p37"/>
          <p:cNvSpPr txBox="1"/>
          <p:nvPr/>
        </p:nvSpPr>
        <p:spPr>
          <a:xfrm>
            <a:off x="5572721" y="4084808"/>
            <a:ext cx="1874520" cy="365700"/>
          </a:xfrm>
          <a:prstGeom prst="rect">
            <a:avLst/>
          </a:prstGeom>
          <a:noFill/>
          <a:ln>
            <a:noFill/>
          </a:ln>
        </p:spPr>
        <p:txBody>
          <a:bodyPr spcFirstLastPara="1" wrap="square" lIns="0" tIns="0" rIns="0" bIns="0" anchor="t" anchorCtr="0">
            <a:noAutofit/>
          </a:bodyPr>
          <a:lstStyle/>
          <a:p>
            <a:pPr marL="0" lvl="0" indent="0" algn="ctr" rtl="0">
              <a:lnSpc>
                <a:spcPct val="70000"/>
              </a:lnSpc>
              <a:spcBef>
                <a:spcPts val="0"/>
              </a:spcBef>
              <a:spcAft>
                <a:spcPts val="0"/>
              </a:spcAft>
              <a:buClr>
                <a:schemeClr val="dk1"/>
              </a:buClr>
              <a:buSzPts val="1100"/>
              <a:buFont typeface="Arial"/>
              <a:buNone/>
            </a:pPr>
            <a:r>
              <a:rPr lang="en" sz="1200" b="1" dirty="0">
                <a:solidFill>
                  <a:schemeClr val="lt1"/>
                </a:solidFill>
                <a:latin typeface="Ember Modern Display Standard" panose="020B0503020204020204" pitchFamily="34" charset="0"/>
                <a:ea typeface="Special Gothic"/>
                <a:cs typeface="Special Gothic"/>
                <a:sym typeface="Special Gothic"/>
              </a:rPr>
              <a:t>Pallam Hemachand</a:t>
            </a:r>
            <a:endParaRPr sz="1063" b="1" dirty="0">
              <a:solidFill>
                <a:schemeClr val="lt1"/>
              </a:solidFill>
              <a:latin typeface="Ember Modern Display Standard" panose="020B0503020204020204" pitchFamily="34" charset="0"/>
              <a:ea typeface="Special Gothic"/>
              <a:cs typeface="Special Gothic"/>
              <a:sym typeface="Special Gothic"/>
            </a:endParaRPr>
          </a:p>
          <a:p>
            <a:pPr marL="0" lvl="0" indent="0" algn="ctr" rtl="0">
              <a:spcBef>
                <a:spcPts val="0"/>
              </a:spcBef>
              <a:spcAft>
                <a:spcPts val="0"/>
              </a:spcAft>
              <a:buClr>
                <a:schemeClr val="dk1"/>
              </a:buClr>
              <a:buSzPts val="1100"/>
              <a:buFont typeface="Arial"/>
              <a:buNone/>
            </a:pPr>
            <a:endParaRPr sz="1063" b="1" dirty="0">
              <a:solidFill>
                <a:srgbClr val="FFFFFF"/>
              </a:solidFill>
              <a:latin typeface="Ember Modern Display Standard" panose="020B0503020204020204" pitchFamily="34" charset="0"/>
              <a:ea typeface="Special Gothic"/>
              <a:cs typeface="Special Gothic"/>
              <a:sym typeface="Special Gothic"/>
            </a:endParaRPr>
          </a:p>
        </p:txBody>
      </p:sp>
      <p:pic>
        <p:nvPicPr>
          <p:cNvPr id="13" name="Picture 12" descr="Amazon logo">
            <a:extLst>
              <a:ext uri="{FF2B5EF4-FFF2-40B4-BE49-F238E27FC236}">
                <a16:creationId xmlns:a16="http://schemas.microsoft.com/office/drawing/2014/main" id="{54E96A6D-C6EA-9D61-ED22-340732ADB5AA}"/>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tretch>
            <a:fillRect/>
          </a:stretch>
        </p:blipFill>
        <p:spPr>
          <a:xfrm>
            <a:off x="4294907" y="4731974"/>
            <a:ext cx="554186" cy="185801"/>
          </a:xfrm>
          <a:prstGeom prst="rect">
            <a:avLst/>
          </a:prstGeom>
        </p:spPr>
      </p:pic>
      <p:sp>
        <p:nvSpPr>
          <p:cNvPr id="162" name="Photo frame 1"/>
          <p:cNvSpPr/>
          <p:nvPr/>
        </p:nvSpPr>
        <p:spPr>
          <a:xfrm>
            <a:off x="1747399" y="1866864"/>
            <a:ext cx="1773237" cy="2024100"/>
          </a:xfrm>
          <a:prstGeom prst="rect">
            <a:avLst/>
          </a:prstGeom>
          <a:solidFill>
            <a:srgbClr val="293440"/>
          </a:solidFill>
          <a:ln>
            <a:noFill/>
          </a:ln>
        </p:spPr>
        <p:txBody>
          <a:bodyPr rtlCol="0" anchor="ctr" lIns="73152" rIns="73152" wrap="square"/>
          <a:lstStyle/>
          <a:p>
            <a:pPr algn="ctr"/>
            <a:r>
              <a:rPr sz="4000" b="1" i="0">
                <a:solidFill>
                  <a:srgbClr val="FFFFFF"/>
                </a:solidFill>
                <a:latin typeface="Ember Modern Display Standard"/>
              </a:rPr>
              <a:t>PKT</a:t>
            </a:r>
            <a:endParaRPr sz="4000"/>
          </a:p>
        </p:txBody>
      </p:sp>
      <p:sp>
        <p:nvSpPr>
          <p:cNvPr id="163" name="Photo frame 2"/>
          <p:cNvSpPr/>
          <p:nvPr/>
        </p:nvSpPr>
        <p:spPr>
          <a:xfrm>
            <a:off x="3685381" y="1866864"/>
            <a:ext cx="1773237" cy="2024100"/>
          </a:xfrm>
          <a:prstGeom prst="rect">
            <a:avLst/>
          </a:prstGeom>
          <a:solidFill>
            <a:srgbClr val="293440"/>
          </a:solidFill>
          <a:ln>
            <a:noFill/>
          </a:ln>
        </p:spPr>
        <p:txBody>
          <a:bodyPr rtlCol="0" anchor="ctr" lIns="73152" rIns="73152" wrap="square"/>
          <a:lstStyle/>
          <a:p>
            <a:pPr algn="ctr"/>
            <a:r>
              <a:rPr sz="4000" b="1" i="0">
                <a:solidFill>
                  <a:srgbClr val="FFFFFF"/>
                </a:solidFill>
                <a:latin typeface="Ember Modern Display Standard"/>
              </a:rPr>
              <a:t>MT</a:t>
            </a:r>
            <a:endParaRPr sz="4000"/>
          </a:p>
        </p:txBody>
      </p:sp>
      <p:sp>
        <p:nvSpPr>
          <p:cNvPr id="164" name="Photo frame 3"/>
          <p:cNvSpPr/>
          <p:nvPr/>
        </p:nvSpPr>
        <p:spPr>
          <a:xfrm>
            <a:off x="5623363" y="1866864"/>
            <a:ext cx="1773237" cy="2024100"/>
          </a:xfrm>
          <a:prstGeom prst="rect">
            <a:avLst/>
          </a:prstGeom>
          <a:solidFill>
            <a:srgbClr val="293440"/>
          </a:solidFill>
          <a:ln>
            <a:noFill/>
          </a:ln>
        </p:spPr>
        <p:txBody>
          <a:bodyPr rtlCol="0" anchor="ctr" lIns="73152" rIns="73152" wrap="square"/>
          <a:lstStyle/>
          <a:p>
            <a:pPr algn="ctr"/>
            <a:r>
              <a:rPr sz="4000" b="1" i="0">
                <a:solidFill>
                  <a:srgbClr val="FFFFFF"/>
                </a:solidFill>
                <a:latin typeface="Ember Modern Display Standard"/>
              </a:rPr>
              <a:t>PH</a:t>
            </a:r>
            <a:endParaRPr sz="4000"/>
          </a:p>
        </p:txBody>
      </p:sp>
      <p:sp>
        <p:nvSpPr>
          <p:cNvPr id="18" name="Picture Placeholder 17">
            <a:extLst>
              <a:ext uri="{FF2B5EF4-FFF2-40B4-BE49-F238E27FC236}">
                <a16:creationId xmlns:a16="http://schemas.microsoft.com/office/drawing/2014/main" id="{B6EBC231-E852-2F1A-C156-0432CEF758F5}"/>
              </a:ext>
            </a:extLst>
          </p:cNvPr>
          <p:cNvSpPr>
            <a:spLocks noGrp="1"/>
          </p:cNvSpPr>
          <p:nvPr>
            <p:ph type="pic" sz="quarter" idx="13"/>
          </p:nvPr>
        </p:nvSpPr>
        <p:spPr>
          <a:noFill/>
          <a:ln>
            <a:noFill/>
          </a:ln>
        </p:spPr>
        <p:txBody>
          <a:bodyPr/>
          <a:lstStyle/>
          <a:p>
            <a:endParaRPr lang="en-US"/>
          </a:p>
        </p:txBody>
      </p:sp>
      <p:sp>
        <p:nvSpPr>
          <p:cNvPr id="19" name="Picture Placeholder 18">
            <a:extLst>
              <a:ext uri="{FF2B5EF4-FFF2-40B4-BE49-F238E27FC236}">
                <a16:creationId xmlns:a16="http://schemas.microsoft.com/office/drawing/2014/main" id="{3AB9B1BB-405A-843D-39F8-98C2FD91D459}"/>
              </a:ext>
            </a:extLst>
          </p:cNvPr>
          <p:cNvSpPr>
            <a:spLocks noGrp="1"/>
          </p:cNvSpPr>
          <p:nvPr>
            <p:ph type="pic" sz="quarter" idx="14"/>
          </p:nvPr>
        </p:nvSpPr>
        <p:spPr>
          <a:noFill/>
          <a:ln>
            <a:noFill/>
          </a:ln>
        </p:spPr>
        <p:txBody>
          <a:bodyPr/>
          <a:lstStyle/>
          <a:p>
            <a:endParaRPr lang="en-US"/>
          </a:p>
        </p:txBody>
      </p:sp>
      <p:sp>
        <p:nvSpPr>
          <p:cNvPr id="20" name="Picture Placeholder 19">
            <a:extLst>
              <a:ext uri="{FF2B5EF4-FFF2-40B4-BE49-F238E27FC236}">
                <a16:creationId xmlns:a16="http://schemas.microsoft.com/office/drawing/2014/main" id="{AB42942B-65ED-01F3-97B1-DDAE12BA2B07}"/>
              </a:ext>
            </a:extLst>
          </p:cNvPr>
          <p:cNvSpPr>
            <a:spLocks noGrp="1"/>
          </p:cNvSpPr>
          <p:nvPr>
            <p:ph type="pic" sz="quarter" idx="15"/>
          </p:nvPr>
        </p:nvSpPr>
        <p:spPr>
          <a:noFill/>
          <a:ln>
            <a:noFill/>
          </a:ln>
        </p:spPr>
        <p:txBody>
          <a:bodyPr/>
          <a:lstStyle/>
          <a:p>
            <a:endParaRPr lang="en-US"/>
          </a:p>
        </p:txBody>
      </p:sp>
      <p:sp>
        <p:nvSpPr>
          <p:cNvPr id="165" name="Subtitle"/>
          <p:cNvSpPr txBox="1"/>
          <p:nvPr/>
        </p:nvSpPr>
        <p:spPr>
          <a:xfrm>
            <a:off x="1097280" y="1426464"/>
            <a:ext cx="6949440" cy="292608"/>
          </a:xfrm>
          <a:prstGeom prst="rect">
            <a:avLst/>
          </a:prstGeom>
          <a:noFill/>
        </p:spPr>
        <p:txBody>
          <a:bodyPr wrap="square" lIns="0" tIns="0" rIns="0" bIns="0" anchor="t">
            <a:spAutoFit/>
          </a:bodyPr>
          <a:lstStyle/>
          <a:p>
            <a:pPr algn="ctr"/>
            <a:r>
              <a:rPr sz="1400" b="0" i="0">
                <a:solidFill>
                  <a:srgbClr val="C9CDD3"/>
                </a:solidFill>
                <a:latin typeface="Ember Modern Display Standard"/>
              </a:rPr>
              <a:t>Business Entity Resolution  ·  10 million records, 1.7 million businesses</a:t>
            </a: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The Scale</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Challenge</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Ember Modern Display Standard"/>
              </a:rPr>
              <a:t>Each of almost 10 million records must find its one business, or none, among 1.7 million.</a:t>
            </a:r>
            <a:endParaRPr sz="1600"/>
          </a:p>
        </p:txBody>
      </p:sp>
      <p:sp>
        <p:nvSpPr>
          <p:cNvPr id="268" name="Record card 1"/>
          <p:cNvSpPr/>
          <p:nvPr/>
        </p:nvSpPr>
        <p:spPr>
          <a:xfrm>
            <a:off x="1133856" y="1664208"/>
            <a:ext cx="868680" cy="566928"/>
          </a:xfrm>
          <a:prstGeom prst="roundRect">
            <a:avLst>
              <a:gd name="adj" fmla="val 9677"/>
            </a:avLst>
          </a:prstGeom>
          <a:solidFill>
            <a:srgbClr val="FFFFFF"/>
          </a:solidFill>
          <a:ln w="19050">
            <a:solidFill>
              <a:srgbClr val="161D26"/>
            </a:solidFill>
          </a:ln>
        </p:spPr>
        <p:txBody>
          <a:bodyPr rtlCol="0" anchor="t" lIns="73152" rIns="73152" wrap="square"/>
          <a:lstStyle/>
          <a:p>
            <a:pPr algn="ctr"/>
          </a:p>
        </p:txBody>
      </p:sp>
      <p:sp>
        <p:nvSpPr>
          <p:cNvPr id="269" name="Record card 2"/>
          <p:cNvSpPr/>
          <p:nvPr/>
        </p:nvSpPr>
        <p:spPr>
          <a:xfrm>
            <a:off x="1024128" y="1755648"/>
            <a:ext cx="868680" cy="566928"/>
          </a:xfrm>
          <a:prstGeom prst="roundRect">
            <a:avLst>
              <a:gd name="adj" fmla="val 9677"/>
            </a:avLst>
          </a:prstGeom>
          <a:solidFill>
            <a:srgbClr val="FFFFFF"/>
          </a:solidFill>
          <a:ln w="19050">
            <a:solidFill>
              <a:srgbClr val="161D26"/>
            </a:solidFill>
          </a:ln>
        </p:spPr>
        <p:txBody>
          <a:bodyPr rtlCol="0" anchor="t" lIns="73152" rIns="73152" wrap="square"/>
          <a:lstStyle/>
          <a:p>
            <a:pPr algn="ctr"/>
          </a:p>
        </p:txBody>
      </p:sp>
      <p:sp>
        <p:nvSpPr>
          <p:cNvPr id="270" name="Record card 3"/>
          <p:cNvSpPr/>
          <p:nvPr/>
        </p:nvSpPr>
        <p:spPr>
          <a:xfrm>
            <a:off x="914400" y="1847088"/>
            <a:ext cx="868680" cy="566928"/>
          </a:xfrm>
          <a:prstGeom prst="roundRect">
            <a:avLst>
              <a:gd name="adj" fmla="val 9677"/>
            </a:avLst>
          </a:prstGeom>
          <a:solidFill>
            <a:srgbClr val="FFFFFF"/>
          </a:solidFill>
          <a:ln w="19050">
            <a:solidFill>
              <a:srgbClr val="161D26"/>
            </a:solidFill>
          </a:ln>
        </p:spPr>
        <p:txBody>
          <a:bodyPr rtlCol="0" anchor="t" lIns="73152" rIns="73152" wrap="square"/>
          <a:lstStyle/>
          <a:p>
            <a:pPr algn="ctr"/>
          </a:p>
        </p:txBody>
      </p:sp>
      <p:sp>
        <p:nvSpPr>
          <p:cNvPr id="271" name="Record line"/>
          <p:cNvSpPr/>
          <p:nvPr/>
        </p:nvSpPr>
        <p:spPr>
          <a:xfrm>
            <a:off x="1024128" y="1993392"/>
            <a:ext cx="566928" cy="45720"/>
          </a:xfrm>
          <a:prstGeom prst="rect">
            <a:avLst/>
          </a:prstGeom>
          <a:solidFill>
            <a:srgbClr val="9AA1AA"/>
          </a:solidFill>
          <a:ln>
            <a:noFill/>
          </a:ln>
        </p:spPr>
        <p:txBody>
          <a:bodyPr rtlCol="0" anchor="t" lIns="0" tIns="0" rIns="0" bIns="0" wrap="square"/>
          <a:lstStyle/>
          <a:p>
            <a:pPr algn="ctr"/>
          </a:p>
        </p:txBody>
      </p:sp>
      <p:sp>
        <p:nvSpPr>
          <p:cNvPr id="272" name="Record line"/>
          <p:cNvSpPr/>
          <p:nvPr/>
        </p:nvSpPr>
        <p:spPr>
          <a:xfrm>
            <a:off x="1024128" y="2112264"/>
            <a:ext cx="566928" cy="45720"/>
          </a:xfrm>
          <a:prstGeom prst="rect">
            <a:avLst/>
          </a:prstGeom>
          <a:solidFill>
            <a:srgbClr val="9AA1AA"/>
          </a:solidFill>
          <a:ln>
            <a:noFill/>
          </a:ln>
        </p:spPr>
        <p:txBody>
          <a:bodyPr rtlCol="0" anchor="t" lIns="0" tIns="0" rIns="0" bIns="0" wrap="square"/>
          <a:lstStyle/>
          <a:p>
            <a:pPr algn="ctr"/>
          </a:p>
        </p:txBody>
      </p:sp>
      <p:sp>
        <p:nvSpPr>
          <p:cNvPr id="273" name="Record line"/>
          <p:cNvSpPr/>
          <p:nvPr/>
        </p:nvSpPr>
        <p:spPr>
          <a:xfrm>
            <a:off x="1024128" y="2231136"/>
            <a:ext cx="429768" cy="45720"/>
          </a:xfrm>
          <a:prstGeom prst="rect">
            <a:avLst/>
          </a:prstGeom>
          <a:solidFill>
            <a:srgbClr val="9AA1AA"/>
          </a:solidFill>
          <a:ln>
            <a:noFill/>
          </a:ln>
        </p:spPr>
        <p:txBody>
          <a:bodyPr rtlCol="0" anchor="t" lIns="0" tIns="0" rIns="0" bIns="0" wrap="square"/>
          <a:lstStyle/>
          <a:p>
            <a:pPr algn="ctr"/>
          </a:p>
        </p:txBody>
      </p:sp>
      <p:sp>
        <p:nvSpPr>
          <p:cNvPr id="274" name="Records label"/>
          <p:cNvSpPr txBox="1"/>
          <p:nvPr/>
        </p:nvSpPr>
        <p:spPr>
          <a:xfrm>
            <a:off x="411480" y="2432304"/>
            <a:ext cx="2377440" cy="310896"/>
          </a:xfrm>
          <a:prstGeom prst="rect">
            <a:avLst/>
          </a:prstGeom>
          <a:noFill/>
        </p:spPr>
        <p:txBody>
          <a:bodyPr wrap="square" lIns="0" tIns="0" rIns="0" bIns="0" anchor="t">
            <a:spAutoFit/>
          </a:bodyPr>
          <a:lstStyle/>
          <a:p>
            <a:pPr algn="ctr"/>
            <a:r>
              <a:rPr sz="1700" b="1" i="0">
                <a:solidFill>
                  <a:srgbClr val="222222"/>
                </a:solidFill>
                <a:latin typeface="Ember Modern Display Standard"/>
              </a:rPr>
              <a:t>9,969,589 records</a:t>
            </a:r>
            <a:endParaRPr sz="1700"/>
          </a:p>
        </p:txBody>
      </p:sp>
      <p:sp>
        <p:nvSpPr>
          <p:cNvPr id="275" name="Records sub"/>
          <p:cNvSpPr txBox="1"/>
          <p:nvPr/>
        </p:nvSpPr>
        <p:spPr>
          <a:xfrm>
            <a:off x="411480" y="2724912"/>
            <a:ext cx="2377440" cy="274320"/>
          </a:xfrm>
          <a:prstGeom prst="rect">
            <a:avLst/>
          </a:prstGeom>
          <a:noFill/>
        </p:spPr>
        <p:txBody>
          <a:bodyPr wrap="square" lIns="0" tIns="0" rIns="0" bIns="0" anchor="t">
            <a:spAutoFit/>
          </a:bodyPr>
          <a:lstStyle/>
          <a:p>
            <a:pPr algn="ctr"/>
            <a:r>
              <a:rPr sz="1400" b="0" i="0">
                <a:solidFill>
                  <a:srgbClr val="5A6270"/>
                </a:solidFill>
                <a:latin typeface="Ember Modern Display Standard"/>
              </a:rPr>
              <a:t>incoming, to be linked</a:t>
            </a:r>
            <a:endParaRPr sz="1400"/>
          </a:p>
        </p:txBody>
      </p:sp>
      <p:sp>
        <p:nvSpPr>
          <p:cNvPr id="276" name="Business icon"/>
          <p:cNvSpPr/>
          <p:nvPr/>
        </p:nvSpPr>
        <p:spPr>
          <a:xfrm>
            <a:off x="6720840" y="1664208"/>
            <a:ext cx="347472" cy="347472"/>
          </a:xfrm>
          <a:prstGeom prst="ellipse">
            <a:avLst/>
          </a:prstGeom>
          <a:solidFill>
            <a:srgbClr val="161D26"/>
          </a:solidFill>
          <a:ln>
            <a:noFill/>
          </a:ln>
        </p:spPr>
        <p:txBody>
          <a:bodyPr rtlCol="0" anchor="ctr" lIns="0" tIns="0" rIns="0" bIns="0" wrap="square"/>
          <a:lstStyle/>
          <a:p>
            <a:pPr algn="ctr"/>
            <a:r>
              <a:rPr sz="1200" b="0" i="0">
                <a:solidFill>
                  <a:srgbClr val="FFFFFF"/>
                </a:solidFill>
                <a:latin typeface="Segoe UI Symbol"/>
              </a:rPr>
              <a:t>🏢</a:t>
            </a:r>
            <a:endParaRPr sz="1200"/>
          </a:p>
        </p:txBody>
      </p:sp>
      <p:sp>
        <p:nvSpPr>
          <p:cNvPr id="277" name="Business icon"/>
          <p:cNvSpPr/>
          <p:nvPr/>
        </p:nvSpPr>
        <p:spPr>
          <a:xfrm>
            <a:off x="7178040" y="1664208"/>
            <a:ext cx="347472" cy="347472"/>
          </a:xfrm>
          <a:prstGeom prst="ellipse">
            <a:avLst/>
          </a:prstGeom>
          <a:solidFill>
            <a:srgbClr val="161D26"/>
          </a:solidFill>
          <a:ln>
            <a:noFill/>
          </a:ln>
        </p:spPr>
        <p:txBody>
          <a:bodyPr rtlCol="0" anchor="ctr" lIns="0" tIns="0" rIns="0" bIns="0" wrap="square"/>
          <a:lstStyle/>
          <a:p>
            <a:pPr algn="ctr"/>
            <a:r>
              <a:rPr sz="1200" b="0" i="0">
                <a:solidFill>
                  <a:srgbClr val="FFFFFF"/>
                </a:solidFill>
                <a:latin typeface="Segoe UI Symbol"/>
              </a:rPr>
              <a:t>🏢</a:t>
            </a:r>
            <a:endParaRPr sz="1200"/>
          </a:p>
        </p:txBody>
      </p:sp>
      <p:sp>
        <p:nvSpPr>
          <p:cNvPr id="278" name="Business icon"/>
          <p:cNvSpPr/>
          <p:nvPr/>
        </p:nvSpPr>
        <p:spPr>
          <a:xfrm>
            <a:off x="7635240" y="1664208"/>
            <a:ext cx="347472" cy="347472"/>
          </a:xfrm>
          <a:prstGeom prst="ellipse">
            <a:avLst/>
          </a:prstGeom>
          <a:solidFill>
            <a:srgbClr val="161D26"/>
          </a:solidFill>
          <a:ln>
            <a:noFill/>
          </a:ln>
        </p:spPr>
        <p:txBody>
          <a:bodyPr rtlCol="0" anchor="ctr" lIns="0" tIns="0" rIns="0" bIns="0" wrap="square"/>
          <a:lstStyle/>
          <a:p>
            <a:pPr algn="ctr"/>
            <a:r>
              <a:rPr sz="1200" b="0" i="0">
                <a:solidFill>
                  <a:srgbClr val="FFFFFF"/>
                </a:solidFill>
                <a:latin typeface="Segoe UI Symbol"/>
              </a:rPr>
              <a:t>🏢</a:t>
            </a:r>
            <a:endParaRPr sz="1200"/>
          </a:p>
        </p:txBody>
      </p:sp>
      <p:sp>
        <p:nvSpPr>
          <p:cNvPr id="279" name="Business icon"/>
          <p:cNvSpPr/>
          <p:nvPr/>
        </p:nvSpPr>
        <p:spPr>
          <a:xfrm>
            <a:off x="6720840" y="2048256"/>
            <a:ext cx="347472" cy="347472"/>
          </a:xfrm>
          <a:prstGeom prst="ellipse">
            <a:avLst/>
          </a:prstGeom>
          <a:solidFill>
            <a:srgbClr val="161D26"/>
          </a:solidFill>
          <a:ln>
            <a:noFill/>
          </a:ln>
        </p:spPr>
        <p:txBody>
          <a:bodyPr rtlCol="0" anchor="ctr" lIns="0" tIns="0" rIns="0" bIns="0" wrap="square"/>
          <a:lstStyle/>
          <a:p>
            <a:pPr algn="ctr"/>
            <a:r>
              <a:rPr sz="1200" b="0" i="0">
                <a:solidFill>
                  <a:srgbClr val="FFFFFF"/>
                </a:solidFill>
                <a:latin typeface="Segoe UI Symbol"/>
              </a:rPr>
              <a:t>🏢</a:t>
            </a:r>
            <a:endParaRPr sz="1200"/>
          </a:p>
        </p:txBody>
      </p:sp>
      <p:sp>
        <p:nvSpPr>
          <p:cNvPr id="280" name="Business icon"/>
          <p:cNvSpPr/>
          <p:nvPr/>
        </p:nvSpPr>
        <p:spPr>
          <a:xfrm>
            <a:off x="7178040" y="2048256"/>
            <a:ext cx="347472" cy="347472"/>
          </a:xfrm>
          <a:prstGeom prst="ellipse">
            <a:avLst/>
          </a:prstGeom>
          <a:solidFill>
            <a:srgbClr val="161D26"/>
          </a:solidFill>
          <a:ln>
            <a:noFill/>
          </a:ln>
        </p:spPr>
        <p:txBody>
          <a:bodyPr rtlCol="0" anchor="ctr" lIns="0" tIns="0" rIns="0" bIns="0" wrap="square"/>
          <a:lstStyle/>
          <a:p>
            <a:pPr algn="ctr"/>
            <a:r>
              <a:rPr sz="1200" b="0" i="0">
                <a:solidFill>
                  <a:srgbClr val="FFFFFF"/>
                </a:solidFill>
                <a:latin typeface="Segoe UI Symbol"/>
              </a:rPr>
              <a:t>🏢</a:t>
            </a:r>
            <a:endParaRPr sz="1200"/>
          </a:p>
        </p:txBody>
      </p:sp>
      <p:sp>
        <p:nvSpPr>
          <p:cNvPr id="281" name="Business icon"/>
          <p:cNvSpPr/>
          <p:nvPr/>
        </p:nvSpPr>
        <p:spPr>
          <a:xfrm>
            <a:off x="7635240" y="2048256"/>
            <a:ext cx="347472" cy="347472"/>
          </a:xfrm>
          <a:prstGeom prst="ellipse">
            <a:avLst/>
          </a:prstGeom>
          <a:solidFill>
            <a:srgbClr val="161D26"/>
          </a:solidFill>
          <a:ln>
            <a:noFill/>
          </a:ln>
        </p:spPr>
        <p:txBody>
          <a:bodyPr rtlCol="0" anchor="ctr" lIns="0" tIns="0" rIns="0" bIns="0" wrap="square"/>
          <a:lstStyle/>
          <a:p>
            <a:pPr algn="ctr"/>
            <a:r>
              <a:rPr sz="1200" b="0" i="0">
                <a:solidFill>
                  <a:srgbClr val="FFFFFF"/>
                </a:solidFill>
                <a:latin typeface="Segoe UI Symbol"/>
              </a:rPr>
              <a:t>🏢</a:t>
            </a:r>
            <a:endParaRPr sz="1200"/>
          </a:p>
        </p:txBody>
      </p:sp>
      <p:sp>
        <p:nvSpPr>
          <p:cNvPr id="282" name="Businesses label"/>
          <p:cNvSpPr txBox="1"/>
          <p:nvPr/>
        </p:nvSpPr>
        <p:spPr>
          <a:xfrm>
            <a:off x="6263640" y="2432304"/>
            <a:ext cx="2468880" cy="310896"/>
          </a:xfrm>
          <a:prstGeom prst="rect">
            <a:avLst/>
          </a:prstGeom>
          <a:noFill/>
        </p:spPr>
        <p:txBody>
          <a:bodyPr wrap="square" lIns="0" tIns="0" rIns="0" bIns="0" anchor="t">
            <a:spAutoFit/>
          </a:bodyPr>
          <a:lstStyle/>
          <a:p>
            <a:pPr algn="ctr"/>
            <a:r>
              <a:rPr sz="1700" b="1" i="0">
                <a:solidFill>
                  <a:srgbClr val="222222"/>
                </a:solidFill>
                <a:latin typeface="Ember Modern Display Standard"/>
              </a:rPr>
              <a:t>1,732,544 businesses</a:t>
            </a:r>
            <a:endParaRPr sz="1700"/>
          </a:p>
        </p:txBody>
      </p:sp>
      <p:sp>
        <p:nvSpPr>
          <p:cNvPr id="283" name="Businesses sub"/>
          <p:cNvSpPr txBox="1"/>
          <p:nvPr/>
        </p:nvSpPr>
        <p:spPr>
          <a:xfrm>
            <a:off x="6263640" y="2724912"/>
            <a:ext cx="2468880" cy="274320"/>
          </a:xfrm>
          <a:prstGeom prst="rect">
            <a:avLst/>
          </a:prstGeom>
          <a:noFill/>
        </p:spPr>
        <p:txBody>
          <a:bodyPr wrap="square" lIns="0" tIns="0" rIns="0" bIns="0" anchor="t">
            <a:spAutoFit/>
          </a:bodyPr>
          <a:lstStyle/>
          <a:p>
            <a:pPr algn="ctr"/>
            <a:r>
              <a:rPr sz="1400" b="0" i="0">
                <a:solidFill>
                  <a:srgbClr val="5A6270"/>
                </a:solidFill>
                <a:latin typeface="Ember Modern Display Standard"/>
              </a:rPr>
              <a:t>the reference list</a:t>
            </a:r>
            <a:endParaRPr sz="1400"/>
          </a:p>
        </p:txBody>
      </p:sp>
      <p:sp>
        <p:nvSpPr>
          <p:cNvPr id="284" name="Arrow label"/>
          <p:cNvSpPr txBox="1"/>
          <p:nvPr/>
        </p:nvSpPr>
        <p:spPr>
          <a:xfrm>
            <a:off x="2834640" y="1591056"/>
            <a:ext cx="3429000" cy="310896"/>
          </a:xfrm>
          <a:prstGeom prst="rect">
            <a:avLst/>
          </a:prstGeom>
          <a:noFill/>
        </p:spPr>
        <p:txBody>
          <a:bodyPr wrap="square" lIns="0" tIns="0" rIns="0" bIns="0" anchor="t">
            <a:spAutoFit/>
          </a:bodyPr>
          <a:lstStyle/>
          <a:p>
            <a:pPr algn="ctr"/>
            <a:r>
              <a:rPr sz="1600" b="0" i="0">
                <a:solidFill>
                  <a:srgbClr val="5A6270"/>
                </a:solidFill>
                <a:latin typeface="Ember Modern Display Standard"/>
              </a:rPr>
              <a:t>which one, or none?</a:t>
            </a:r>
            <a:endParaRPr sz="1600"/>
          </a:p>
        </p:txBody>
      </p:sp>
      <p:cxnSp>
        <p:nvCxnSpPr>
          <p:cNvPr id="285" name="Records to businesses"/>
          <p:cNvCxnSpPr/>
          <p:nvPr/>
        </p:nvCxnSpPr>
        <p:spPr>
          <a:xfrm>
            <a:off x="2880360" y="2011680"/>
            <a:ext cx="3291840" cy="0"/>
          </a:xfrm>
          <a:prstGeom prst="line">
            <a:avLst/>
          </a:prstGeom>
          <a:ln w="31750">
            <a:solidFill>
              <a:srgbClr val="FF6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6" name="Chip US"/>
          <p:cNvSpPr/>
          <p:nvPr/>
        </p:nvSpPr>
        <p:spPr>
          <a:xfrm>
            <a:off x="3360420" y="2157984"/>
            <a:ext cx="566928" cy="292608"/>
          </a:xfrm>
          <a:prstGeom prst="roundRect">
            <a:avLst>
              <a:gd name="adj" fmla="val 50000"/>
            </a:avLst>
          </a:prstGeom>
          <a:solidFill>
            <a:srgbClr val="161D26"/>
          </a:solidFill>
          <a:ln>
            <a:noFill/>
          </a:ln>
        </p:spPr>
        <p:txBody>
          <a:bodyPr rtlCol="0" anchor="ctr" lIns="18288" tIns="0" rIns="18288" bIns="0" wrap="square"/>
          <a:lstStyle/>
          <a:p>
            <a:pPr algn="ctr"/>
            <a:r>
              <a:rPr sz="1400" b="1" i="0">
                <a:solidFill>
                  <a:srgbClr val="FFFFFF"/>
                </a:solidFill>
                <a:latin typeface="Ember Modern Display Standard"/>
              </a:rPr>
              <a:t>US</a:t>
            </a:r>
            <a:endParaRPr sz="1400"/>
          </a:p>
        </p:txBody>
      </p:sp>
      <p:sp>
        <p:nvSpPr>
          <p:cNvPr id="287" name="Chip India"/>
          <p:cNvSpPr/>
          <p:nvPr/>
        </p:nvSpPr>
        <p:spPr>
          <a:xfrm>
            <a:off x="4000500" y="2157984"/>
            <a:ext cx="749808" cy="292608"/>
          </a:xfrm>
          <a:prstGeom prst="roundRect">
            <a:avLst>
              <a:gd name="adj" fmla="val 50000"/>
            </a:avLst>
          </a:prstGeom>
          <a:solidFill>
            <a:srgbClr val="161D26"/>
          </a:solidFill>
          <a:ln>
            <a:noFill/>
          </a:ln>
        </p:spPr>
        <p:txBody>
          <a:bodyPr rtlCol="0" anchor="ctr" lIns="18288" tIns="0" rIns="18288" bIns="0" wrap="square"/>
          <a:lstStyle/>
          <a:p>
            <a:pPr algn="ctr"/>
            <a:r>
              <a:rPr sz="1400" b="1" i="0">
                <a:solidFill>
                  <a:srgbClr val="FFFFFF"/>
                </a:solidFill>
                <a:latin typeface="Ember Modern Display Standard"/>
              </a:rPr>
              <a:t>India</a:t>
            </a:r>
            <a:endParaRPr sz="1400"/>
          </a:p>
        </p:txBody>
      </p:sp>
      <p:sp>
        <p:nvSpPr>
          <p:cNvPr id="288" name="Chip France"/>
          <p:cNvSpPr/>
          <p:nvPr/>
        </p:nvSpPr>
        <p:spPr>
          <a:xfrm>
            <a:off x="4823460" y="2157984"/>
            <a:ext cx="868680" cy="292608"/>
          </a:xfrm>
          <a:prstGeom prst="roundRect">
            <a:avLst>
              <a:gd name="adj" fmla="val 50000"/>
            </a:avLst>
          </a:prstGeom>
          <a:solidFill>
            <a:srgbClr val="161D26"/>
          </a:solidFill>
          <a:ln>
            <a:noFill/>
          </a:ln>
        </p:spPr>
        <p:txBody>
          <a:bodyPr rtlCol="0" anchor="ctr" lIns="18288" tIns="0" rIns="18288" bIns="0" wrap="square"/>
          <a:lstStyle/>
          <a:p>
            <a:pPr algn="ctr"/>
            <a:r>
              <a:rPr sz="1400" b="1" i="0">
                <a:solidFill>
                  <a:srgbClr val="FFFFFF"/>
                </a:solidFill>
                <a:latin typeface="Ember Modern Display Standard"/>
              </a:rPr>
              <a:t>France</a:t>
            </a:r>
            <a:endParaRPr sz="1400"/>
          </a:p>
        </p:txBody>
      </p:sp>
      <p:sp>
        <p:nvSpPr>
          <p:cNvPr id="289" name="France tag"/>
          <p:cNvSpPr txBox="1"/>
          <p:nvPr/>
        </p:nvSpPr>
        <p:spPr>
          <a:xfrm>
            <a:off x="4640580" y="2468880"/>
            <a:ext cx="1234440" cy="274320"/>
          </a:xfrm>
          <a:prstGeom prst="rect">
            <a:avLst/>
          </a:prstGeom>
          <a:noFill/>
        </p:spPr>
        <p:txBody>
          <a:bodyPr wrap="square" lIns="0" tIns="0" rIns="0" bIns="0" anchor="t">
            <a:spAutoFit/>
          </a:bodyPr>
          <a:lstStyle/>
          <a:p>
            <a:pPr algn="ctr"/>
            <a:r>
              <a:rPr sz="1400" b="1" i="0">
                <a:solidFill>
                  <a:srgbClr val="C24E00"/>
                </a:solidFill>
                <a:latin typeface="Ember Modern Display Standard"/>
              </a:rPr>
              <a:t>0 labels</a:t>
            </a:r>
            <a:endParaRPr sz="1400"/>
          </a:p>
        </p:txBody>
      </p:sp>
      <p:sp>
        <p:nvSpPr>
          <p:cNvPr id="290" name="All pairs bar"/>
          <p:cNvSpPr/>
          <p:nvPr/>
        </p:nvSpPr>
        <p:spPr>
          <a:xfrm>
            <a:off x="411480" y="3108960"/>
            <a:ext cx="8321040" cy="749808"/>
          </a:xfrm>
          <a:prstGeom prst="roundRect">
            <a:avLst>
              <a:gd name="adj" fmla="val 7317"/>
            </a:avLst>
          </a:prstGeom>
          <a:solidFill>
            <a:srgbClr val="293440"/>
          </a:solidFill>
          <a:ln>
            <a:noFill/>
          </a:ln>
        </p:spPr>
        <p:txBody>
          <a:bodyPr rtlCol="0" anchor="ctr" lIns="228600" tIns="0" bIns="0" wrap="square"/>
          <a:lstStyle/>
          <a:p>
            <a:pPr algn="l"/>
            <a:r>
              <a:rPr sz="4000" b="1" i="0">
                <a:solidFill>
                  <a:srgbClr val="FFFFFF"/>
                </a:solidFill>
                <a:latin typeface="Ember Modern Display Standard"/>
              </a:rPr>
              <a:t>6.7 trillion</a:t>
            </a:r>
            <a:r>
              <a:rPr sz="1700" b="0" i="0">
                <a:solidFill>
                  <a:srgbClr val="D9DDE2"/>
                </a:solidFill>
                <a:latin typeface="Ember Modern Display Standard"/>
              </a:rPr>
              <a:t>    possible same-country pairs</a:t>
            </a:r>
            <a:endParaRPr sz="1200"/>
          </a:p>
        </p:txBody>
      </p:sp>
      <p:sp>
        <p:nvSpPr>
          <p:cNvPr id="291" name="Scored pairs bar"/>
          <p:cNvSpPr/>
          <p:nvPr/>
        </p:nvSpPr>
        <p:spPr>
          <a:xfrm>
            <a:off x="411480" y="3986784"/>
            <a:ext cx="45720" cy="749808"/>
          </a:xfrm>
          <a:prstGeom prst="rect">
            <a:avLst/>
          </a:prstGeom>
          <a:solidFill>
            <a:srgbClr val="FF6200"/>
          </a:solidFill>
          <a:ln>
            <a:noFill/>
          </a:ln>
        </p:spPr>
        <p:txBody>
          <a:bodyPr rtlCol="0" anchor="t" lIns="0" tIns="0" rIns="0" bIns="0" wrap="square"/>
          <a:lstStyle/>
          <a:p>
            <a:pPr algn="ctr"/>
          </a:p>
        </p:txBody>
      </p:sp>
      <p:sp>
        <p:nvSpPr>
          <p:cNvPr id="292" name="Scored pairs label"/>
          <p:cNvSpPr txBox="1"/>
          <p:nvPr/>
        </p:nvSpPr>
        <p:spPr>
          <a:xfrm>
            <a:off x="640080" y="3986784"/>
            <a:ext cx="8046720" cy="749808"/>
          </a:xfrm>
          <a:prstGeom prst="rect">
            <a:avLst/>
          </a:prstGeom>
          <a:noFill/>
        </p:spPr>
        <p:txBody>
          <a:bodyPr wrap="square" lIns="0" tIns="0" rIns="0" bIns="0" anchor="ctr">
            <a:spAutoFit/>
          </a:bodyPr>
          <a:lstStyle/>
          <a:p>
            <a:pPr algn="l"/>
            <a:r>
              <a:rPr sz="4000" b="1" i="0">
                <a:solidFill>
                  <a:srgbClr val="FF6200"/>
                </a:solidFill>
                <a:latin typeface="Ember Modern Display Standard"/>
              </a:rPr>
              <a:t>7.10</a:t>
            </a:r>
            <a:r>
              <a:rPr sz="1700" b="1" i="0">
                <a:solidFill>
                  <a:srgbClr val="C24E00"/>
                </a:solidFill>
                <a:latin typeface="Ember Modern Display Standard"/>
              </a:rPr>
              <a:t>  per business</a:t>
            </a:r>
            <a:r>
              <a:rPr sz="1700" b="0" i="0">
                <a:solidFill>
                  <a:srgbClr val="222222"/>
                </a:solidFill>
                <a:latin typeface="Ember Modern Display Standard"/>
              </a:rPr>
              <a:t>    candidates we keep: under 2 in every million pairs</a:t>
            </a:r>
            <a:endParaRPr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Meet Three</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Records</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Ember Modern Display Standard"/>
              </a:rPr>
              <a:t>Real records are messy, and the metric punishes every wrong link.</a:t>
            </a:r>
            <a:endParaRPr sz="1600"/>
          </a:p>
        </p:txBody>
      </p:sp>
      <p:sp>
        <p:nvSpPr>
          <p:cNvPr id="268" name="Meet again"/>
          <p:cNvSpPr txBox="1"/>
          <p:nvPr/>
        </p:nvSpPr>
        <p:spPr>
          <a:xfrm>
            <a:off x="6035040" y="960120"/>
            <a:ext cx="2697480" cy="310896"/>
          </a:xfrm>
          <a:prstGeom prst="rect">
            <a:avLst/>
          </a:prstGeom>
          <a:noFill/>
        </p:spPr>
        <p:txBody>
          <a:bodyPr wrap="square" lIns="0" tIns="0" rIns="0" bIns="0" anchor="t">
            <a:spAutoFit/>
          </a:bodyPr>
          <a:lstStyle/>
          <a:p>
            <a:pPr algn="r"/>
            <a:r>
              <a:rPr sz="1400" b="0" i="0">
                <a:solidFill>
                  <a:srgbClr val="5A6270"/>
                </a:solidFill>
                <a:latin typeface="Segoe UI Symbol"/>
              </a:rPr>
              <a:t>↻ </a:t>
            </a:r>
            <a:r>
              <a:rPr sz="1400" b="0" i="0">
                <a:solidFill>
                  <a:srgbClr val="5A6270"/>
                </a:solidFill>
                <a:latin typeface="Ember Modern Display Standard"/>
              </a:rPr>
              <a:t>we will meet them again</a:t>
            </a:r>
            <a:endParaRPr sz="1400"/>
          </a:p>
        </p:txBody>
      </p:sp>
      <p:sp>
        <p:nvSpPr>
          <p:cNvPr id="269" name="Record US body"/>
          <p:cNvSpPr/>
          <p:nvPr/>
        </p:nvSpPr>
        <p:spPr>
          <a:xfrm>
            <a:off x="411480" y="1636776"/>
            <a:ext cx="2651760" cy="1938528"/>
          </a:xfrm>
          <a:prstGeom prst="roundRect">
            <a:avLst>
              <a:gd name="adj" fmla="val 3773"/>
            </a:avLst>
          </a:prstGeom>
          <a:solidFill>
            <a:srgbClr val="FFFFFF"/>
          </a:solidFill>
          <a:ln w="12700">
            <a:solidFill>
              <a:srgbClr val="C9CDD3"/>
            </a:solidFill>
          </a:ln>
        </p:spPr>
        <p:txBody>
          <a:bodyPr rtlCol="0" anchor="t" lIns="146304" tIns="493776" rIns="109728" bIns="54864" wrap="square"/>
          <a:lstStyle/>
          <a:p>
            <a:pPr algn="l">
              <a:lnSpc>
                <a:spcPct val="105000"/>
              </a:lnSpc>
              <a:spcAft>
                <a:spcPts val="600"/>
              </a:spcAft>
            </a:pPr>
            <a:r>
              <a:rPr sz="1800" b="1" i="0">
                <a:solidFill>
                  <a:srgbClr val="222222"/>
                </a:solidFill>
                <a:latin typeface="Ember Modern Display Standard"/>
              </a:rPr>
              <a:t>Legacy Marketing Enterprises (Inc)</a:t>
            </a:r>
            <a:endParaRPr sz="1800"/>
          </a:p>
          <a:p>
            <a:pPr algn="l"/>
            <a:r>
              <a:rPr sz="1500" b="0" i="1">
                <a:solidFill>
                  <a:srgbClr val="5A6270"/>
                </a:solidFill>
                <a:latin typeface="Ember Modern Display Standard"/>
              </a:rPr>
              <a:t>(no address)</a:t>
            </a:r>
            <a:endParaRPr sz="1500"/>
          </a:p>
        </p:txBody>
      </p:sp>
      <p:sp>
        <p:nvSpPr>
          <p:cNvPr id="270" name="Record US header"/>
          <p:cNvSpPr/>
          <p:nvPr/>
        </p:nvSpPr>
        <p:spPr>
          <a:xfrm>
            <a:off x="411480" y="1636776"/>
            <a:ext cx="2651760" cy="384048"/>
          </a:xfrm>
          <a:prstGeom prst="round2SameRect">
            <a:avLst>
              <a:gd name="adj1" fmla="val 19047"/>
              <a:gd name="adj2" fmla="val 0"/>
            </a:avLst>
          </a:prstGeom>
          <a:solidFill>
            <a:srgbClr val="161D26"/>
          </a:solidFill>
          <a:ln>
            <a:noFill/>
          </a:ln>
        </p:spPr>
        <p:txBody>
          <a:bodyPr rtlCol="0" anchor="ctr" lIns="128016" tIns="0" rIns="73152" bIns="0" wrap="square"/>
          <a:lstStyle/>
          <a:p>
            <a:pPr algn="l"/>
            <a:r>
              <a:rPr sz="1400" b="0" i="0">
                <a:solidFill>
                  <a:srgbClr val="FFFFFF"/>
                </a:solidFill>
                <a:latin typeface="Segoe UI Symbol"/>
              </a:rPr>
              <a:t>📄  </a:t>
            </a:r>
            <a:r>
              <a:rPr sz="1600" b="1" i="0">
                <a:solidFill>
                  <a:srgbClr val="FFFFFF"/>
                </a:solidFill>
                <a:latin typeface="Ember Modern Display Standard"/>
              </a:rPr>
              <a:t>US</a:t>
            </a:r>
            <a:endParaRPr sz="1600"/>
          </a:p>
        </p:txBody>
      </p:sp>
      <p:sp>
        <p:nvSpPr>
          <p:cNvPr id="271" name="Tag US"/>
          <p:cNvSpPr txBox="1"/>
          <p:nvPr/>
        </p:nvSpPr>
        <p:spPr>
          <a:xfrm>
            <a:off x="411480" y="3621024"/>
            <a:ext cx="2651760" cy="292608"/>
          </a:xfrm>
          <a:prstGeom prst="rect">
            <a:avLst/>
          </a:prstGeom>
          <a:noFill/>
        </p:spPr>
        <p:txBody>
          <a:bodyPr wrap="square" lIns="0" tIns="0" rIns="0" bIns="0" anchor="t">
            <a:spAutoFit/>
          </a:bodyPr>
          <a:lstStyle/>
          <a:p>
            <a:pPr algn="ctr"/>
            <a:r>
              <a:rPr sz="1400" b="0" i="0">
                <a:solidFill>
                  <a:srgbClr val="5A6270"/>
                </a:solidFill>
                <a:latin typeface="Ember Modern Display Standard"/>
              </a:rPr>
              <a:t>no address: only the name</a:t>
            </a:r>
            <a:endParaRPr sz="1400"/>
          </a:p>
        </p:txBody>
      </p:sp>
      <p:sp>
        <p:nvSpPr>
          <p:cNvPr id="272" name="Record India body"/>
          <p:cNvSpPr/>
          <p:nvPr/>
        </p:nvSpPr>
        <p:spPr>
          <a:xfrm>
            <a:off x="3246120" y="1636776"/>
            <a:ext cx="2651760" cy="1938528"/>
          </a:xfrm>
          <a:prstGeom prst="roundRect">
            <a:avLst>
              <a:gd name="adj" fmla="val 3773"/>
            </a:avLst>
          </a:prstGeom>
          <a:solidFill>
            <a:srgbClr val="FFFFFF"/>
          </a:solidFill>
          <a:ln w="12700">
            <a:solidFill>
              <a:srgbClr val="C9CDD3"/>
            </a:solidFill>
          </a:ln>
        </p:spPr>
        <p:txBody>
          <a:bodyPr rtlCol="0" anchor="t" lIns="146304" tIns="493776" rIns="109728" bIns="54864" wrap="square"/>
          <a:lstStyle/>
          <a:p>
            <a:pPr algn="l">
              <a:lnSpc>
                <a:spcPct val="105000"/>
              </a:lnSpc>
              <a:spcAft>
                <a:spcPts val="600"/>
              </a:spcAft>
            </a:pPr>
            <a:r>
              <a:rPr sz="1800" b="1" i="0">
                <a:solidFill>
                  <a:srgbClr val="222222"/>
                </a:solidFill>
                <a:latin typeface="Nirmala UI"/>
                <a:ea typeface="Nirmala UI"/>
                <a:cs typeface="Nirmala UI"/>
              </a:rPr>
              <a:t>विजय एंटरप्राइजेज प्राइवेट लिमिटेड</a:t>
            </a:r>
            <a:endParaRPr sz="1800"/>
          </a:p>
          <a:p>
            <a:pPr algn="l"/>
            <a:r>
              <a:rPr sz="1500" b="0" i="0">
                <a:solidFill>
                  <a:srgbClr val="222222"/>
                </a:solidFill>
                <a:latin typeface="Ember Modern Display Standard"/>
              </a:rPr>
              <a:t>24/11, Mumbai, </a:t>
            </a:r>
            <a:r>
              <a:rPr sz="1500" b="0" i="0">
                <a:solidFill>
                  <a:srgbClr val="222222"/>
                </a:solidFill>
                <a:latin typeface="Nirmala UI"/>
                <a:ea typeface="Nirmala UI"/>
                <a:cs typeface="Nirmala UI"/>
              </a:rPr>
              <a:t>महाराष्ट्र</a:t>
            </a:r>
            <a:endParaRPr sz="1500"/>
          </a:p>
          <a:p>
            <a:pPr algn="l"/>
            <a:r>
              <a:rPr sz="1400" b="0" i="1">
                <a:solidFill>
                  <a:srgbClr val="5A6270"/>
                </a:solidFill>
                <a:latin typeface="Ember Modern Display Standard"/>
              </a:rPr>
              <a:t>(Vijay Enterprises Private Limited)</a:t>
            </a:r>
            <a:endParaRPr sz="1400"/>
          </a:p>
        </p:txBody>
      </p:sp>
      <p:sp>
        <p:nvSpPr>
          <p:cNvPr id="273" name="Record India header"/>
          <p:cNvSpPr/>
          <p:nvPr/>
        </p:nvSpPr>
        <p:spPr>
          <a:xfrm>
            <a:off x="3246120" y="1636776"/>
            <a:ext cx="2651760" cy="384048"/>
          </a:xfrm>
          <a:prstGeom prst="round2SameRect">
            <a:avLst>
              <a:gd name="adj1" fmla="val 19047"/>
              <a:gd name="adj2" fmla="val 0"/>
            </a:avLst>
          </a:prstGeom>
          <a:solidFill>
            <a:srgbClr val="161D26"/>
          </a:solidFill>
          <a:ln>
            <a:noFill/>
          </a:ln>
        </p:spPr>
        <p:txBody>
          <a:bodyPr rtlCol="0" anchor="ctr" lIns="128016" tIns="0" rIns="73152" bIns="0" wrap="square"/>
          <a:lstStyle/>
          <a:p>
            <a:pPr algn="l"/>
            <a:r>
              <a:rPr sz="1400" b="0" i="0">
                <a:solidFill>
                  <a:srgbClr val="FFFFFF"/>
                </a:solidFill>
                <a:latin typeface="Segoe UI Symbol"/>
              </a:rPr>
              <a:t>📄  </a:t>
            </a:r>
            <a:r>
              <a:rPr sz="1600" b="1" i="0">
                <a:solidFill>
                  <a:srgbClr val="FFFFFF"/>
                </a:solidFill>
                <a:latin typeface="Ember Modern Display Standard"/>
              </a:rPr>
              <a:t>India</a:t>
            </a:r>
            <a:endParaRPr sz="1600"/>
          </a:p>
        </p:txBody>
      </p:sp>
      <p:sp>
        <p:nvSpPr>
          <p:cNvPr id="274" name="Tag India"/>
          <p:cNvSpPr txBox="1"/>
          <p:nvPr/>
        </p:nvSpPr>
        <p:spPr>
          <a:xfrm>
            <a:off x="3246120" y="3621024"/>
            <a:ext cx="2651760" cy="292608"/>
          </a:xfrm>
          <a:prstGeom prst="rect">
            <a:avLst/>
          </a:prstGeom>
          <a:noFill/>
        </p:spPr>
        <p:txBody>
          <a:bodyPr wrap="square" lIns="0" tIns="0" rIns="0" bIns="0" anchor="t">
            <a:spAutoFit/>
          </a:bodyPr>
          <a:lstStyle/>
          <a:p>
            <a:pPr algn="ctr"/>
            <a:r>
              <a:rPr sz="1400" b="0" i="0">
                <a:solidFill>
                  <a:srgbClr val="5A6270"/>
                </a:solidFill>
                <a:latin typeface="Ember Modern Display Standard"/>
              </a:rPr>
              <a:t>Hindi script, short address</a:t>
            </a:r>
            <a:endParaRPr sz="1400"/>
          </a:p>
        </p:txBody>
      </p:sp>
      <p:sp>
        <p:nvSpPr>
          <p:cNvPr id="275" name="Record France body"/>
          <p:cNvSpPr/>
          <p:nvPr/>
        </p:nvSpPr>
        <p:spPr>
          <a:xfrm>
            <a:off x="6080760" y="1636776"/>
            <a:ext cx="2651760" cy="1938528"/>
          </a:xfrm>
          <a:prstGeom prst="roundRect">
            <a:avLst>
              <a:gd name="adj" fmla="val 3773"/>
            </a:avLst>
          </a:prstGeom>
          <a:solidFill>
            <a:srgbClr val="FFFFFF"/>
          </a:solidFill>
          <a:ln w="12700">
            <a:solidFill>
              <a:srgbClr val="C9CDD3"/>
            </a:solidFill>
          </a:ln>
        </p:spPr>
        <p:txBody>
          <a:bodyPr rtlCol="0" anchor="t" lIns="146304" tIns="493776" rIns="109728" bIns="54864" wrap="square"/>
          <a:lstStyle/>
          <a:p>
            <a:pPr algn="l">
              <a:lnSpc>
                <a:spcPct val="105000"/>
              </a:lnSpc>
              <a:spcAft>
                <a:spcPts val="600"/>
              </a:spcAft>
            </a:pPr>
            <a:r>
              <a:rPr sz="1800" b="1" i="0">
                <a:solidFill>
                  <a:srgbClr val="222222"/>
                </a:solidFill>
                <a:latin typeface="Ember Modern Display Standard"/>
              </a:rPr>
              <a:t>TQ COMITE SARL</a:t>
            </a:r>
            <a:endParaRPr sz="1800"/>
          </a:p>
          <a:p>
            <a:pPr algn="l"/>
            <a:r>
              <a:rPr sz="1500" b="0" i="0">
                <a:solidFill>
                  <a:srgbClr val="222222"/>
                </a:solidFill>
                <a:latin typeface="Ember Modern Display Standard"/>
              </a:rPr>
              <a:t>2 R SUZANNE LENGLEN, NANTES</a:t>
            </a:r>
            <a:endParaRPr sz="1500"/>
          </a:p>
        </p:txBody>
      </p:sp>
      <p:sp>
        <p:nvSpPr>
          <p:cNvPr id="276" name="Record France header"/>
          <p:cNvSpPr/>
          <p:nvPr/>
        </p:nvSpPr>
        <p:spPr>
          <a:xfrm>
            <a:off x="6080760" y="1636776"/>
            <a:ext cx="2651760" cy="384048"/>
          </a:xfrm>
          <a:prstGeom prst="round2SameRect">
            <a:avLst>
              <a:gd name="adj1" fmla="val 19047"/>
              <a:gd name="adj2" fmla="val 0"/>
            </a:avLst>
          </a:prstGeom>
          <a:solidFill>
            <a:srgbClr val="161D26"/>
          </a:solidFill>
          <a:ln>
            <a:noFill/>
          </a:ln>
        </p:spPr>
        <p:txBody>
          <a:bodyPr rtlCol="0" anchor="ctr" lIns="128016" tIns="0" rIns="73152" bIns="0" wrap="square"/>
          <a:lstStyle/>
          <a:p>
            <a:pPr algn="l"/>
            <a:r>
              <a:rPr sz="1400" b="0" i="0">
                <a:solidFill>
                  <a:srgbClr val="FFFFFF"/>
                </a:solidFill>
                <a:latin typeface="Segoe UI Symbol"/>
              </a:rPr>
              <a:t>📄  </a:t>
            </a:r>
            <a:r>
              <a:rPr sz="1600" b="1" i="0">
                <a:solidFill>
                  <a:srgbClr val="FFFFFF"/>
                </a:solidFill>
                <a:latin typeface="Ember Modern Display Standard"/>
              </a:rPr>
              <a:t>France</a:t>
            </a:r>
            <a:endParaRPr sz="1600"/>
          </a:p>
        </p:txBody>
      </p:sp>
      <p:sp>
        <p:nvSpPr>
          <p:cNvPr id="277" name="Tag France"/>
          <p:cNvSpPr txBox="1"/>
          <p:nvPr/>
        </p:nvSpPr>
        <p:spPr>
          <a:xfrm>
            <a:off x="6080760" y="3621024"/>
            <a:ext cx="2651760" cy="292608"/>
          </a:xfrm>
          <a:prstGeom prst="rect">
            <a:avLst/>
          </a:prstGeom>
          <a:noFill/>
        </p:spPr>
        <p:txBody>
          <a:bodyPr wrap="square" lIns="0" tIns="0" rIns="0" bIns="0" anchor="t">
            <a:spAutoFit/>
          </a:bodyPr>
          <a:lstStyle/>
          <a:p>
            <a:pPr algn="ctr"/>
            <a:r>
              <a:rPr sz="1400" b="0" i="0">
                <a:solidFill>
                  <a:srgbClr val="5A6270"/>
                </a:solidFill>
                <a:latin typeface="Ember Modern Display Standard"/>
              </a:rPr>
              <a:t>no labels in France</a:t>
            </a:r>
            <a:endParaRPr sz="1400"/>
          </a:p>
        </p:txBody>
      </p:sp>
      <p:sp>
        <p:nvSpPr>
          <p:cNvPr id="278" name="Metric strip"/>
          <p:cNvSpPr/>
          <p:nvPr/>
        </p:nvSpPr>
        <p:spPr>
          <a:xfrm>
            <a:off x="411480" y="3931920"/>
            <a:ext cx="8321040" cy="658368"/>
          </a:xfrm>
          <a:prstGeom prst="roundRect">
            <a:avLst>
              <a:gd name="adj" fmla="val 8333"/>
            </a:avLst>
          </a:prstGeom>
          <a:solidFill>
            <a:srgbClr val="EEEEEE"/>
          </a:solidFill>
          <a:ln>
            <a:noFill/>
          </a:ln>
        </p:spPr>
        <p:txBody>
          <a:bodyPr rtlCol="0" anchor="ctr" lIns="201168" tIns="36576" rIns="128016" bIns="36576" wrap="square"/>
          <a:lstStyle/>
          <a:p>
            <a:pPr algn="l"/>
            <a:r>
              <a:rPr sz="1700" b="1" i="0">
                <a:solidFill>
                  <a:srgbClr val="222222"/>
                </a:solidFill>
                <a:latin typeface="Ember Modern Display Standard"/>
              </a:rPr>
              <a:t>Score, per business (F0.5): </a:t>
            </a:r>
            <a:r>
              <a:rPr sz="1700" b="0" i="0">
                <a:solidFill>
                  <a:srgbClr val="222222"/>
                </a:solidFill>
                <a:latin typeface="Ember Modern Display Standard"/>
              </a:rPr>
              <a:t>a wrong link costs more than a missed one.</a:t>
            </a:r>
            <a:endParaRPr sz="1700"/>
          </a:p>
        </p:txBody>
      </p:sp>
      <p:sp>
        <p:nvSpPr>
          <p:cNvPr id="279" name="Metric strip accent"/>
          <p:cNvSpPr/>
          <p:nvPr/>
        </p:nvSpPr>
        <p:spPr>
          <a:xfrm>
            <a:off x="411480" y="3931920"/>
            <a:ext cx="64008" cy="658368"/>
          </a:xfrm>
          <a:prstGeom prst="rect">
            <a:avLst/>
          </a:prstGeom>
          <a:solidFill>
            <a:srgbClr val="FF6200"/>
          </a:solidFill>
          <a:ln>
            <a:noFill/>
          </a:ln>
        </p:spPr>
        <p:txBody>
          <a:bodyPr rtlCol="0" anchor="t" lIns="0" tIns="0" rIns="0" bIns="0" wrap="square"/>
          <a:lstStyle/>
          <a:p>
            <a:pPr algn="c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Pipeline</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Architecture</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Ember Modern Display Standard"/>
              </a:rPr>
              <a:t>Five zones per country, from cheap to expensive.</a:t>
            </a:r>
            <a:endParaRPr sz="1600"/>
          </a:p>
        </p:txBody>
      </p:sp>
      <p:pic>
        <p:nvPicPr>
          <p:cNvPr id="268" name="Architecture diagram" descr="Pipeline in five zones, left to right: 1 Find (clean the text, inverted index), 2 Filter and shortlist (quick rule-based filter, CatBoost ranker keeps the top 4), 3 Read (cross-encoders), 4 Decide ('what changed' features, LightGBM decision model per country, confident and clear winner), 5 Second chances and France, then the output files."/>
          <p:cNvPicPr>
            <a:picLocks noChangeAspect="1"/>
          </p:cNvPicPr>
          <p:nvPr/>
        </p:nvPicPr>
        <p:blipFill>
          <a:blip r:embed="rId2"/>
          <a:stretch>
            <a:fillRect/>
          </a:stretch>
        </p:blipFill>
        <p:spPr>
          <a:xfrm>
            <a:off x="384048" y="1572768"/>
            <a:ext cx="6812280" cy="3292602"/>
          </a:xfrm>
          <a:prstGeom prst="rect">
            <a:avLst/>
          </a:prstGeom>
        </p:spPr>
      </p:pic>
      <p:sp>
        <p:nvSpPr>
          <p:cNvPr id="269" name="Zone legend 1"/>
          <p:cNvSpPr txBox="1"/>
          <p:nvPr/>
        </p:nvSpPr>
        <p:spPr>
          <a:xfrm>
            <a:off x="7360920" y="1627632"/>
            <a:ext cx="1371600" cy="274320"/>
          </a:xfrm>
          <a:prstGeom prst="rect">
            <a:avLst/>
          </a:prstGeom>
          <a:noFill/>
        </p:spPr>
        <p:txBody>
          <a:bodyPr wrap="square" lIns="0" tIns="0" rIns="0" bIns="0" anchor="t">
            <a:spAutoFit/>
          </a:bodyPr>
          <a:lstStyle/>
          <a:p>
            <a:pPr algn="l"/>
            <a:r>
              <a:rPr sz="1600" b="1" i="0">
                <a:solidFill>
                  <a:srgbClr val="FF6200"/>
                </a:solidFill>
                <a:latin typeface="Ember Modern Display Standard"/>
              </a:rPr>
              <a:t>1  </a:t>
            </a:r>
            <a:r>
              <a:rPr sz="1600" b="1" i="0">
                <a:solidFill>
                  <a:srgbClr val="161D26"/>
                </a:solidFill>
                <a:latin typeface="Ember Modern Display Standard"/>
              </a:rPr>
              <a:t>Find</a:t>
            </a:r>
            <a:endParaRPr sz="1600"/>
          </a:p>
        </p:txBody>
      </p:sp>
      <p:sp>
        <p:nvSpPr>
          <p:cNvPr id="270" name="Zone legend 2"/>
          <p:cNvSpPr txBox="1"/>
          <p:nvPr/>
        </p:nvSpPr>
        <p:spPr>
          <a:xfrm>
            <a:off x="7360920" y="1901952"/>
            <a:ext cx="1371600" cy="274320"/>
          </a:xfrm>
          <a:prstGeom prst="rect">
            <a:avLst/>
          </a:prstGeom>
          <a:noFill/>
        </p:spPr>
        <p:txBody>
          <a:bodyPr wrap="square" lIns="0" tIns="0" rIns="0" bIns="0" anchor="t">
            <a:spAutoFit/>
          </a:bodyPr>
          <a:lstStyle/>
          <a:p>
            <a:pPr algn="l"/>
            <a:r>
              <a:rPr sz="1600" b="1" i="0">
                <a:solidFill>
                  <a:srgbClr val="FF6200"/>
                </a:solidFill>
                <a:latin typeface="Ember Modern Display Standard"/>
              </a:rPr>
              <a:t>2  </a:t>
            </a:r>
            <a:r>
              <a:rPr sz="1600" b="1" i="0">
                <a:solidFill>
                  <a:srgbClr val="161D26"/>
                </a:solidFill>
                <a:latin typeface="Ember Modern Display Standard"/>
              </a:rPr>
              <a:t>Filter</a:t>
            </a:r>
            <a:endParaRPr sz="1600"/>
          </a:p>
        </p:txBody>
      </p:sp>
      <p:sp>
        <p:nvSpPr>
          <p:cNvPr id="271" name="Zone legend 3"/>
          <p:cNvSpPr txBox="1"/>
          <p:nvPr/>
        </p:nvSpPr>
        <p:spPr>
          <a:xfrm>
            <a:off x="7360920" y="2176272"/>
            <a:ext cx="1371600" cy="274320"/>
          </a:xfrm>
          <a:prstGeom prst="rect">
            <a:avLst/>
          </a:prstGeom>
          <a:noFill/>
        </p:spPr>
        <p:txBody>
          <a:bodyPr wrap="square" lIns="0" tIns="0" rIns="0" bIns="0" anchor="t">
            <a:spAutoFit/>
          </a:bodyPr>
          <a:lstStyle/>
          <a:p>
            <a:pPr algn="l"/>
            <a:r>
              <a:rPr sz="1600" b="1" i="0">
                <a:solidFill>
                  <a:srgbClr val="FF6200"/>
                </a:solidFill>
                <a:latin typeface="Ember Modern Display Standard"/>
              </a:rPr>
              <a:t>3  </a:t>
            </a:r>
            <a:r>
              <a:rPr sz="1600" b="1" i="0">
                <a:solidFill>
                  <a:srgbClr val="161D26"/>
                </a:solidFill>
                <a:latin typeface="Ember Modern Display Standard"/>
              </a:rPr>
              <a:t>Read</a:t>
            </a:r>
            <a:endParaRPr sz="1600"/>
          </a:p>
        </p:txBody>
      </p:sp>
      <p:sp>
        <p:nvSpPr>
          <p:cNvPr id="272" name="Zone legend 4"/>
          <p:cNvSpPr txBox="1"/>
          <p:nvPr/>
        </p:nvSpPr>
        <p:spPr>
          <a:xfrm>
            <a:off x="7360920" y="2450592"/>
            <a:ext cx="1371600" cy="274320"/>
          </a:xfrm>
          <a:prstGeom prst="rect">
            <a:avLst/>
          </a:prstGeom>
          <a:noFill/>
        </p:spPr>
        <p:txBody>
          <a:bodyPr wrap="square" lIns="0" tIns="0" rIns="0" bIns="0" anchor="t">
            <a:spAutoFit/>
          </a:bodyPr>
          <a:lstStyle/>
          <a:p>
            <a:pPr algn="l"/>
            <a:r>
              <a:rPr sz="1600" b="1" i="0">
                <a:solidFill>
                  <a:srgbClr val="FF6200"/>
                </a:solidFill>
                <a:latin typeface="Ember Modern Display Standard"/>
              </a:rPr>
              <a:t>4  </a:t>
            </a:r>
            <a:r>
              <a:rPr sz="1600" b="1" i="0">
                <a:solidFill>
                  <a:srgbClr val="161D26"/>
                </a:solidFill>
                <a:latin typeface="Ember Modern Display Standard"/>
              </a:rPr>
              <a:t>Decide</a:t>
            </a:r>
            <a:endParaRPr sz="1600"/>
          </a:p>
        </p:txBody>
      </p:sp>
      <p:sp>
        <p:nvSpPr>
          <p:cNvPr id="273" name="Zone legend 5"/>
          <p:cNvSpPr txBox="1"/>
          <p:nvPr/>
        </p:nvSpPr>
        <p:spPr>
          <a:xfrm>
            <a:off x="7360920" y="2724912"/>
            <a:ext cx="1371600" cy="512064"/>
          </a:xfrm>
          <a:prstGeom prst="rect">
            <a:avLst/>
          </a:prstGeom>
          <a:noFill/>
        </p:spPr>
        <p:txBody>
          <a:bodyPr wrap="square" lIns="0" tIns="0" rIns="0" bIns="0" anchor="t">
            <a:spAutoFit/>
          </a:bodyPr>
          <a:lstStyle/>
          <a:p>
            <a:pPr algn="l"/>
            <a:r>
              <a:rPr sz="1600" b="1" i="0">
                <a:solidFill>
                  <a:srgbClr val="FF6200"/>
                </a:solidFill>
                <a:latin typeface="Ember Modern Display Standard"/>
              </a:rPr>
              <a:t>5  </a:t>
            </a:r>
            <a:r>
              <a:rPr sz="1600" b="1" i="0">
                <a:solidFill>
                  <a:srgbClr val="161D26"/>
                </a:solidFill>
                <a:latin typeface="Ember Modern Display Standard"/>
              </a:rPr>
              <a:t>Second chances</a:t>
            </a:r>
            <a:endParaRPr sz="1600"/>
          </a:p>
        </p:txBody>
      </p:sp>
      <p:sp>
        <p:nvSpPr>
          <p:cNvPr id="274" name="Side note"/>
          <p:cNvSpPr txBox="1"/>
          <p:nvPr/>
        </p:nvSpPr>
        <p:spPr>
          <a:xfrm>
            <a:off x="7360920" y="3328416"/>
            <a:ext cx="1371600" cy="1097280"/>
          </a:xfrm>
          <a:prstGeom prst="rect">
            <a:avLst/>
          </a:prstGeom>
          <a:noFill/>
        </p:spPr>
        <p:txBody>
          <a:bodyPr wrap="square" lIns="0" tIns="0" rIns="0" bIns="0" anchor="t">
            <a:spAutoFit/>
          </a:bodyPr>
          <a:lstStyle/>
          <a:p>
            <a:pPr algn="l"/>
            <a:r>
              <a:rPr sz="1400" b="0" i="0">
                <a:solidFill>
                  <a:srgbClr val="222222"/>
                </a:solidFill>
                <a:latin typeface="Ember Modern Display Standard"/>
              </a:rPr>
              <a:t>Cheap steps first; costly models read only the shortlist.</a:t>
            </a:r>
            <a:endParaRPr sz="1400"/>
          </a:p>
        </p:txBody>
      </p:sp>
      <p:sp>
        <p:nvSpPr>
          <p:cNvPr id="275" name="Side note 2"/>
          <p:cNvSpPr txBox="1"/>
          <p:nvPr/>
        </p:nvSpPr>
        <p:spPr>
          <a:xfrm>
            <a:off x="7360920" y="4425696"/>
            <a:ext cx="1371600" cy="457200"/>
          </a:xfrm>
          <a:prstGeom prst="rect">
            <a:avLst/>
          </a:prstGeom>
          <a:noFill/>
        </p:spPr>
        <p:txBody>
          <a:bodyPr wrap="square" lIns="0" tIns="0" rIns="0" bIns="0" anchor="t">
            <a:spAutoFit/>
          </a:bodyPr>
          <a:lstStyle/>
          <a:p>
            <a:pPr algn="l"/>
            <a:r>
              <a:rPr sz="1400" b="0" i="0">
                <a:solidFill>
                  <a:srgbClr val="5A6270"/>
                </a:solidFill>
                <a:latin typeface="Ember Modern Display Standard"/>
              </a:rPr>
              <a:t>Runs separately per country.</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Architecture:</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Find</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Ember Modern Display Standard"/>
              </a:rPr>
              <a:t>We clean the text, then look up businesses that share rare words, letter pieces or sounds.</a:t>
            </a:r>
            <a:endParaRPr sz="1600"/>
          </a:p>
        </p:txBody>
      </p:sp>
      <p:pic>
        <p:nvPicPr>
          <p:cNvPr id="268" name="Architecture diagram" descr="Pipeline in five zones, left to right: 1 Find (clean the text, inverted index), 2 Filter and shortlist (quick rule-based filter, CatBoost ranker keeps the top 4), 3 Read (cross-encoders), 4 Decide ('what changed' features, LightGBM decision model per country, confident and clear winner), 5 Second chances and France, then the output files. Zone 1, Find, is highlighted."/>
          <p:cNvPicPr>
            <a:picLocks noChangeAspect="1"/>
          </p:cNvPicPr>
          <p:nvPr/>
        </p:nvPicPr>
        <p:blipFill>
          <a:blip r:embed="rId2"/>
          <a:stretch>
            <a:fillRect/>
          </a:stretch>
        </p:blipFill>
        <p:spPr>
          <a:xfrm>
            <a:off x="384048" y="1572768"/>
            <a:ext cx="6812280" cy="3292602"/>
          </a:xfrm>
          <a:prstGeom prst="rect">
            <a:avLst/>
          </a:prstGeom>
        </p:spPr>
      </p:pic>
      <p:sp>
        <p:nvSpPr>
          <p:cNvPr id="269" name="Zone number"/>
          <p:cNvSpPr/>
          <p:nvPr/>
        </p:nvSpPr>
        <p:spPr>
          <a:xfrm>
            <a:off x="7566660" y="1682496"/>
            <a:ext cx="960120" cy="960120"/>
          </a:xfrm>
          <a:prstGeom prst="ellipse">
            <a:avLst/>
          </a:prstGeom>
          <a:solidFill>
            <a:srgbClr val="FF6200"/>
          </a:solidFill>
          <a:ln>
            <a:noFill/>
          </a:ln>
        </p:spPr>
        <p:txBody>
          <a:bodyPr rtlCol="0" anchor="ctr" lIns="0" tIns="0" rIns="0" bIns="0" wrap="square"/>
          <a:lstStyle/>
          <a:p>
            <a:pPr algn="ctr"/>
            <a:r>
              <a:rPr sz="4800" b="1" i="0">
                <a:solidFill>
                  <a:srgbClr val="FFFFFF"/>
                </a:solidFill>
                <a:latin typeface="Ember Modern Display Standard"/>
              </a:rPr>
              <a:t>1</a:t>
            </a:r>
            <a:endParaRPr sz="4800"/>
          </a:p>
        </p:txBody>
      </p:sp>
      <p:sp>
        <p:nvSpPr>
          <p:cNvPr id="270" name="Zone name"/>
          <p:cNvSpPr txBox="1"/>
          <p:nvPr/>
        </p:nvSpPr>
        <p:spPr>
          <a:xfrm>
            <a:off x="7360920" y="2734056"/>
            <a:ext cx="1371600" cy="566928"/>
          </a:xfrm>
          <a:prstGeom prst="rect">
            <a:avLst/>
          </a:prstGeom>
          <a:noFill/>
        </p:spPr>
        <p:txBody>
          <a:bodyPr wrap="square" lIns="0" tIns="0" rIns="0" bIns="0" anchor="t">
            <a:spAutoFit/>
          </a:bodyPr>
          <a:lstStyle/>
          <a:p>
            <a:pPr algn="ctr">
              <a:lnSpc>
                <a:spcPct val="95000"/>
              </a:lnSpc>
            </a:pPr>
            <a:r>
              <a:rPr sz="1500" b="1" i="0">
                <a:solidFill>
                  <a:srgbClr val="C24E00"/>
                </a:solidFill>
                <a:latin typeface="Ember Modern Display Standard"/>
              </a:rPr>
              <a:t>Find</a:t>
            </a:r>
            <a:endParaRPr sz="1500"/>
          </a:p>
        </p:txBody>
      </p:sp>
      <p:sp>
        <p:nvSpPr>
          <p:cNvPr id="271" name="Side note"/>
          <p:cNvSpPr txBox="1"/>
          <p:nvPr/>
        </p:nvSpPr>
        <p:spPr>
          <a:xfrm>
            <a:off x="7360920" y="3401568"/>
            <a:ext cx="1371600" cy="1417320"/>
          </a:xfrm>
          <a:prstGeom prst="rect">
            <a:avLst/>
          </a:prstGeom>
          <a:noFill/>
        </p:spPr>
        <p:txBody>
          <a:bodyPr wrap="square" lIns="0" tIns="0" rIns="0" bIns="0" anchor="t">
            <a:spAutoFit/>
          </a:bodyPr>
          <a:lstStyle/>
          <a:p>
            <a:pPr algn="ctr"/>
            <a:r>
              <a:rPr sz="1600" b="0" i="0">
                <a:solidFill>
                  <a:srgbClr val="222222"/>
                </a:solidFill>
                <a:latin typeface="Ember Modern Display Standard"/>
              </a:rPr>
              <a:t>Typos and abbreviations still find their business.</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Architecture:</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Filter</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Ember Modern Display Standard"/>
              </a:rPr>
              <a:t>A quick rule and a ranker cut the list to at most 4 candidates per record.</a:t>
            </a:r>
            <a:endParaRPr sz="1600"/>
          </a:p>
        </p:txBody>
      </p:sp>
      <p:pic>
        <p:nvPicPr>
          <p:cNvPr id="268" name="Architecture diagram" descr="Pipeline in five zones, left to right: 1 Find (clean the text, inverted index), 2 Filter and shortlist (quick rule-based filter, CatBoost ranker keeps the top 4), 3 Read (cross-encoders), 4 Decide ('what changed' features, LightGBM decision model per country, confident and clear winner), 5 Second chances and France, then the output files. Zone 2, Filter &amp; shortlist, is highlighted."/>
          <p:cNvPicPr>
            <a:picLocks noChangeAspect="1"/>
          </p:cNvPicPr>
          <p:nvPr/>
        </p:nvPicPr>
        <p:blipFill>
          <a:blip r:embed="rId2"/>
          <a:stretch>
            <a:fillRect/>
          </a:stretch>
        </p:blipFill>
        <p:spPr>
          <a:xfrm>
            <a:off x="384048" y="1572768"/>
            <a:ext cx="6812280" cy="3292602"/>
          </a:xfrm>
          <a:prstGeom prst="rect">
            <a:avLst/>
          </a:prstGeom>
        </p:spPr>
      </p:pic>
      <p:sp>
        <p:nvSpPr>
          <p:cNvPr id="269" name="Zone number"/>
          <p:cNvSpPr/>
          <p:nvPr/>
        </p:nvSpPr>
        <p:spPr>
          <a:xfrm>
            <a:off x="7566660" y="1682496"/>
            <a:ext cx="960120" cy="960120"/>
          </a:xfrm>
          <a:prstGeom prst="ellipse">
            <a:avLst/>
          </a:prstGeom>
          <a:solidFill>
            <a:srgbClr val="FF6200"/>
          </a:solidFill>
          <a:ln>
            <a:noFill/>
          </a:ln>
        </p:spPr>
        <p:txBody>
          <a:bodyPr rtlCol="0" anchor="ctr" lIns="0" tIns="0" rIns="0" bIns="0" wrap="square"/>
          <a:lstStyle/>
          <a:p>
            <a:pPr algn="ctr"/>
            <a:r>
              <a:rPr sz="4800" b="1" i="0">
                <a:solidFill>
                  <a:srgbClr val="FFFFFF"/>
                </a:solidFill>
                <a:latin typeface="Ember Modern Display Standard"/>
              </a:rPr>
              <a:t>2</a:t>
            </a:r>
            <a:endParaRPr sz="4800"/>
          </a:p>
        </p:txBody>
      </p:sp>
      <p:sp>
        <p:nvSpPr>
          <p:cNvPr id="270" name="Zone name"/>
          <p:cNvSpPr txBox="1"/>
          <p:nvPr/>
        </p:nvSpPr>
        <p:spPr>
          <a:xfrm>
            <a:off x="7360920" y="2734056"/>
            <a:ext cx="1371600" cy="566928"/>
          </a:xfrm>
          <a:prstGeom prst="rect">
            <a:avLst/>
          </a:prstGeom>
          <a:noFill/>
        </p:spPr>
        <p:txBody>
          <a:bodyPr wrap="square" lIns="0" tIns="0" rIns="0" bIns="0" anchor="t">
            <a:spAutoFit/>
          </a:bodyPr>
          <a:lstStyle/>
          <a:p>
            <a:pPr algn="ctr">
              <a:lnSpc>
                <a:spcPct val="95000"/>
              </a:lnSpc>
            </a:pPr>
            <a:r>
              <a:rPr sz="1500" b="1" i="0">
                <a:solidFill>
                  <a:srgbClr val="C24E00"/>
                </a:solidFill>
                <a:latin typeface="Ember Modern Display Standard"/>
              </a:rPr>
              <a:t>Filter &amp; shortlist</a:t>
            </a:r>
            <a:endParaRPr sz="1500"/>
          </a:p>
        </p:txBody>
      </p:sp>
      <p:sp>
        <p:nvSpPr>
          <p:cNvPr id="271" name="Side note"/>
          <p:cNvSpPr txBox="1"/>
          <p:nvPr/>
        </p:nvSpPr>
        <p:spPr>
          <a:xfrm>
            <a:off x="7360920" y="3401568"/>
            <a:ext cx="1371600" cy="1417320"/>
          </a:xfrm>
          <a:prstGeom prst="rect">
            <a:avLst/>
          </a:prstGeom>
          <a:noFill/>
        </p:spPr>
        <p:txBody>
          <a:bodyPr wrap="square" lIns="0" tIns="0" rIns="0" bIns="0" anchor="t">
            <a:spAutoFit/>
          </a:bodyPr>
          <a:lstStyle/>
          <a:p>
            <a:pPr algn="ctr"/>
            <a:r>
              <a:rPr sz="1600" b="0" i="0">
                <a:solidFill>
                  <a:srgbClr val="222222"/>
                </a:solidFill>
                <a:latin typeface="Ember Modern Display Standard"/>
              </a:rPr>
              <a:t>The shortlist is all the expensive models ever see.</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Architecture:</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Read</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Ember Modern Display Standard"/>
              </a:rPr>
              <a:t>Cross-encoders (we call them readers) read the record and each candidate side by side.</a:t>
            </a:r>
            <a:endParaRPr sz="1600"/>
          </a:p>
        </p:txBody>
      </p:sp>
      <p:pic>
        <p:nvPicPr>
          <p:cNvPr id="268" name="Architecture diagram" descr="Pipeline in five zones, left to right: 1 Find (clean the text, inverted index), 2 Filter and shortlist (quick rule-based filter, CatBoost ranker keeps the top 4), 3 Read (cross-encoders), 4 Decide ('what changed' features, LightGBM decision model per country, confident and clear winner), 5 Second chances and France, then the output files. Zone 3, Read, is highlighted."/>
          <p:cNvPicPr>
            <a:picLocks noChangeAspect="1"/>
          </p:cNvPicPr>
          <p:nvPr/>
        </p:nvPicPr>
        <p:blipFill>
          <a:blip r:embed="rId2"/>
          <a:stretch>
            <a:fillRect/>
          </a:stretch>
        </p:blipFill>
        <p:spPr>
          <a:xfrm>
            <a:off x="384048" y="1572768"/>
            <a:ext cx="6812280" cy="3292602"/>
          </a:xfrm>
          <a:prstGeom prst="rect">
            <a:avLst/>
          </a:prstGeom>
        </p:spPr>
      </p:pic>
      <p:sp>
        <p:nvSpPr>
          <p:cNvPr id="269" name="Zone number"/>
          <p:cNvSpPr/>
          <p:nvPr/>
        </p:nvSpPr>
        <p:spPr>
          <a:xfrm>
            <a:off x="7566660" y="1682496"/>
            <a:ext cx="960120" cy="960120"/>
          </a:xfrm>
          <a:prstGeom prst="ellipse">
            <a:avLst/>
          </a:prstGeom>
          <a:solidFill>
            <a:srgbClr val="FF6200"/>
          </a:solidFill>
          <a:ln>
            <a:noFill/>
          </a:ln>
        </p:spPr>
        <p:txBody>
          <a:bodyPr rtlCol="0" anchor="ctr" lIns="0" tIns="0" rIns="0" bIns="0" wrap="square"/>
          <a:lstStyle/>
          <a:p>
            <a:pPr algn="ctr"/>
            <a:r>
              <a:rPr sz="4800" b="1" i="0">
                <a:solidFill>
                  <a:srgbClr val="FFFFFF"/>
                </a:solidFill>
                <a:latin typeface="Ember Modern Display Standard"/>
              </a:rPr>
              <a:t>3</a:t>
            </a:r>
            <a:endParaRPr sz="4800"/>
          </a:p>
        </p:txBody>
      </p:sp>
      <p:sp>
        <p:nvSpPr>
          <p:cNvPr id="270" name="Zone name"/>
          <p:cNvSpPr txBox="1"/>
          <p:nvPr/>
        </p:nvSpPr>
        <p:spPr>
          <a:xfrm>
            <a:off x="7360920" y="2734056"/>
            <a:ext cx="1371600" cy="566928"/>
          </a:xfrm>
          <a:prstGeom prst="rect">
            <a:avLst/>
          </a:prstGeom>
          <a:noFill/>
        </p:spPr>
        <p:txBody>
          <a:bodyPr wrap="square" lIns="0" tIns="0" rIns="0" bIns="0" anchor="t">
            <a:spAutoFit/>
          </a:bodyPr>
          <a:lstStyle/>
          <a:p>
            <a:pPr algn="ctr">
              <a:lnSpc>
                <a:spcPct val="95000"/>
              </a:lnSpc>
            </a:pPr>
            <a:r>
              <a:rPr sz="1500" b="1" i="0">
                <a:solidFill>
                  <a:srgbClr val="C24E00"/>
                </a:solidFill>
                <a:latin typeface="Ember Modern Display Standard"/>
              </a:rPr>
              <a:t>Read</a:t>
            </a:r>
            <a:endParaRPr sz="1500"/>
          </a:p>
        </p:txBody>
      </p:sp>
      <p:sp>
        <p:nvSpPr>
          <p:cNvPr id="271" name="Side note"/>
          <p:cNvSpPr txBox="1"/>
          <p:nvPr/>
        </p:nvSpPr>
        <p:spPr>
          <a:xfrm>
            <a:off x="7360920" y="3401568"/>
            <a:ext cx="1371600" cy="1417320"/>
          </a:xfrm>
          <a:prstGeom prst="rect">
            <a:avLst/>
          </a:prstGeom>
          <a:noFill/>
        </p:spPr>
        <p:txBody>
          <a:bodyPr wrap="square" lIns="0" tIns="0" rIns="0" bIns="0" anchor="t">
            <a:spAutoFit/>
          </a:bodyPr>
          <a:lstStyle/>
          <a:p>
            <a:pPr algn="ctr"/>
            <a:r>
              <a:rPr sz="1600" b="0" i="0">
                <a:solidFill>
                  <a:srgbClr val="222222"/>
                </a:solidFill>
                <a:latin typeface="Ember Modern Display Standard"/>
              </a:rPr>
              <a:t>Reading both names together catches Inc vs LLC.</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Architecture:</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Decide</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Ember Modern Display Standard"/>
              </a:rPr>
              <a:t>We link only a confident, clear winner.</a:t>
            </a:r>
            <a:endParaRPr sz="1600"/>
          </a:p>
        </p:txBody>
      </p:sp>
      <p:pic>
        <p:nvPicPr>
          <p:cNvPr id="268" name="Architecture diagram" descr="Pipeline in five zones, left to right: 1 Find (clean the text, inverted index), 2 Filter and shortlist (quick rule-based filter, CatBoost ranker keeps the top 4), 3 Read (cross-encoders), 4 Decide ('what changed' features, LightGBM decision model per country, confident and clear winner), 5 Second chances and France, then the output files. Zone 4, Decide, is highlighted."/>
          <p:cNvPicPr>
            <a:picLocks noChangeAspect="1"/>
          </p:cNvPicPr>
          <p:nvPr/>
        </p:nvPicPr>
        <p:blipFill>
          <a:blip r:embed="rId2"/>
          <a:stretch>
            <a:fillRect/>
          </a:stretch>
        </p:blipFill>
        <p:spPr>
          <a:xfrm>
            <a:off x="384048" y="1572768"/>
            <a:ext cx="6812280" cy="3292602"/>
          </a:xfrm>
          <a:prstGeom prst="rect">
            <a:avLst/>
          </a:prstGeom>
        </p:spPr>
      </p:pic>
      <p:sp>
        <p:nvSpPr>
          <p:cNvPr id="269" name="Zone number"/>
          <p:cNvSpPr/>
          <p:nvPr/>
        </p:nvSpPr>
        <p:spPr>
          <a:xfrm>
            <a:off x="7566660" y="1682496"/>
            <a:ext cx="960120" cy="960120"/>
          </a:xfrm>
          <a:prstGeom prst="ellipse">
            <a:avLst/>
          </a:prstGeom>
          <a:solidFill>
            <a:srgbClr val="FF6200"/>
          </a:solidFill>
          <a:ln>
            <a:noFill/>
          </a:ln>
        </p:spPr>
        <p:txBody>
          <a:bodyPr rtlCol="0" anchor="ctr" lIns="0" tIns="0" rIns="0" bIns="0" wrap="square"/>
          <a:lstStyle/>
          <a:p>
            <a:pPr algn="ctr"/>
            <a:r>
              <a:rPr sz="4800" b="1" i="0">
                <a:solidFill>
                  <a:srgbClr val="FFFFFF"/>
                </a:solidFill>
                <a:latin typeface="Ember Modern Display Standard"/>
              </a:rPr>
              <a:t>4</a:t>
            </a:r>
            <a:endParaRPr sz="4800"/>
          </a:p>
        </p:txBody>
      </p:sp>
      <p:sp>
        <p:nvSpPr>
          <p:cNvPr id="270" name="Zone name"/>
          <p:cNvSpPr txBox="1"/>
          <p:nvPr/>
        </p:nvSpPr>
        <p:spPr>
          <a:xfrm>
            <a:off x="7360920" y="2734056"/>
            <a:ext cx="1371600" cy="566928"/>
          </a:xfrm>
          <a:prstGeom prst="rect">
            <a:avLst/>
          </a:prstGeom>
          <a:noFill/>
        </p:spPr>
        <p:txBody>
          <a:bodyPr wrap="square" lIns="0" tIns="0" rIns="0" bIns="0" anchor="t">
            <a:spAutoFit/>
          </a:bodyPr>
          <a:lstStyle/>
          <a:p>
            <a:pPr algn="ctr">
              <a:lnSpc>
                <a:spcPct val="95000"/>
              </a:lnSpc>
            </a:pPr>
            <a:r>
              <a:rPr sz="1500" b="1" i="0">
                <a:solidFill>
                  <a:srgbClr val="C24E00"/>
                </a:solidFill>
                <a:latin typeface="Ember Modern Display Standard"/>
              </a:rPr>
              <a:t>Decide</a:t>
            </a:r>
            <a:endParaRPr sz="1500"/>
          </a:p>
        </p:txBody>
      </p:sp>
      <p:sp>
        <p:nvSpPr>
          <p:cNvPr id="271" name="Side note"/>
          <p:cNvSpPr txBox="1"/>
          <p:nvPr/>
        </p:nvSpPr>
        <p:spPr>
          <a:xfrm>
            <a:off x="7360920" y="3401568"/>
            <a:ext cx="1371600" cy="1417320"/>
          </a:xfrm>
          <a:prstGeom prst="rect">
            <a:avLst/>
          </a:prstGeom>
          <a:noFill/>
        </p:spPr>
        <p:txBody>
          <a:bodyPr wrap="square" lIns="0" tIns="0" rIns="0" bIns="0" anchor="t">
            <a:spAutoFit/>
          </a:bodyPr>
          <a:lstStyle/>
          <a:p>
            <a:pPr algn="ctr"/>
            <a:r>
              <a:rPr sz="1600" b="0" i="0">
                <a:solidFill>
                  <a:srgbClr val="222222"/>
                </a:solidFill>
                <a:latin typeface="Ember Modern Display Standard"/>
              </a:rPr>
              <a:t>Score ≥ 0.75 and ≥ 0.4 ahead of the runner-up.</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Architecture: Second</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Chances</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Ember Modern Display Standard"/>
              </a:rPr>
              <a:t>Unlinked records get a second search, and France gets its own rules.</a:t>
            </a:r>
            <a:endParaRPr sz="1600"/>
          </a:p>
        </p:txBody>
      </p:sp>
      <p:pic>
        <p:nvPicPr>
          <p:cNvPr id="268" name="Architecture diagram" descr="Pipeline in five zones, left to right: 1 Find (clean the text, inverted index), 2 Filter and shortlist (quick rule-based filter, CatBoost ranker keeps the top 4), 3 Read (cross-encoders), 4 Decide ('what changed' features, LightGBM decision model per country, confident and clear winner), 5 Second chances and France, then the output files. Zone 5, Second chances &amp; France, is highlighted."/>
          <p:cNvPicPr>
            <a:picLocks noChangeAspect="1"/>
          </p:cNvPicPr>
          <p:nvPr/>
        </p:nvPicPr>
        <p:blipFill>
          <a:blip r:embed="rId2"/>
          <a:stretch>
            <a:fillRect/>
          </a:stretch>
        </p:blipFill>
        <p:spPr>
          <a:xfrm>
            <a:off x="384048" y="1572768"/>
            <a:ext cx="6812280" cy="3292602"/>
          </a:xfrm>
          <a:prstGeom prst="rect">
            <a:avLst/>
          </a:prstGeom>
        </p:spPr>
      </p:pic>
      <p:sp>
        <p:nvSpPr>
          <p:cNvPr id="269" name="Zone number"/>
          <p:cNvSpPr/>
          <p:nvPr/>
        </p:nvSpPr>
        <p:spPr>
          <a:xfrm>
            <a:off x="7566660" y="1682496"/>
            <a:ext cx="960120" cy="960120"/>
          </a:xfrm>
          <a:prstGeom prst="ellipse">
            <a:avLst/>
          </a:prstGeom>
          <a:solidFill>
            <a:srgbClr val="FF6200"/>
          </a:solidFill>
          <a:ln>
            <a:noFill/>
          </a:ln>
        </p:spPr>
        <p:txBody>
          <a:bodyPr rtlCol="0" anchor="ctr" lIns="0" tIns="0" rIns="0" bIns="0" wrap="square"/>
          <a:lstStyle/>
          <a:p>
            <a:pPr algn="ctr"/>
            <a:r>
              <a:rPr sz="4800" b="1" i="0">
                <a:solidFill>
                  <a:srgbClr val="FFFFFF"/>
                </a:solidFill>
                <a:latin typeface="Ember Modern Display Standard"/>
              </a:rPr>
              <a:t>5</a:t>
            </a:r>
            <a:endParaRPr sz="4800"/>
          </a:p>
        </p:txBody>
      </p:sp>
      <p:sp>
        <p:nvSpPr>
          <p:cNvPr id="270" name="Zone name"/>
          <p:cNvSpPr txBox="1"/>
          <p:nvPr/>
        </p:nvSpPr>
        <p:spPr>
          <a:xfrm>
            <a:off x="7360920" y="2734056"/>
            <a:ext cx="1371600" cy="566928"/>
          </a:xfrm>
          <a:prstGeom prst="rect">
            <a:avLst/>
          </a:prstGeom>
          <a:noFill/>
        </p:spPr>
        <p:txBody>
          <a:bodyPr wrap="square" lIns="0" tIns="0" rIns="0" bIns="0" anchor="t">
            <a:spAutoFit/>
          </a:bodyPr>
          <a:lstStyle/>
          <a:p>
            <a:pPr algn="ctr">
              <a:lnSpc>
                <a:spcPct val="95000"/>
              </a:lnSpc>
            </a:pPr>
            <a:r>
              <a:rPr sz="1500" b="1" i="0">
                <a:solidFill>
                  <a:srgbClr val="C24E00"/>
                </a:solidFill>
                <a:latin typeface="Ember Modern Display Standard"/>
              </a:rPr>
              <a:t>Second chances &amp; France</a:t>
            </a:r>
            <a:endParaRPr sz="1500"/>
          </a:p>
        </p:txBody>
      </p:sp>
      <p:sp>
        <p:nvSpPr>
          <p:cNvPr id="271" name="Side note"/>
          <p:cNvSpPr txBox="1"/>
          <p:nvPr/>
        </p:nvSpPr>
        <p:spPr>
          <a:xfrm>
            <a:off x="7360920" y="3401568"/>
            <a:ext cx="1371600" cy="1417320"/>
          </a:xfrm>
          <a:prstGeom prst="rect">
            <a:avLst/>
          </a:prstGeom>
          <a:noFill/>
        </p:spPr>
        <p:txBody>
          <a:bodyPr wrap="square" lIns="0" tIns="0" rIns="0" bIns="0" anchor="t">
            <a:spAutoFit/>
          </a:bodyPr>
          <a:lstStyle/>
          <a:p>
            <a:pPr algn="ctr"/>
            <a:r>
              <a:rPr sz="1600" b="0" i="0">
                <a:solidFill>
                  <a:srgbClr val="222222"/>
                </a:solidFill>
                <a:latin typeface="Ember Modern Display Standard"/>
              </a:rPr>
              <a:t>Second searches add missed links; France rules block risky ones.</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Blocking: the</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Funnel</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Ember Modern Display Standard"/>
              </a:rPr>
              <a:t>The expensive models read only about 7 candidates per business, so cost grows in a straight line.</a:t>
            </a:r>
            <a:endParaRPr sz="1600"/>
          </a:p>
        </p:txBody>
      </p:sp>
      <p:sp>
        <p:nvSpPr>
          <p:cNvPr id="268" name="Funnel bar 1"/>
          <p:cNvSpPr/>
          <p:nvPr/>
        </p:nvSpPr>
        <p:spPr>
          <a:xfrm>
            <a:off x="411480" y="1664208"/>
            <a:ext cx="3840480" cy="457200"/>
          </a:xfrm>
          <a:prstGeom prst="roundRect">
            <a:avLst>
              <a:gd name="adj" fmla="val 12000"/>
            </a:avLst>
          </a:prstGeom>
          <a:solidFill>
            <a:srgbClr val="161D26"/>
          </a:solidFill>
          <a:ln>
            <a:noFill/>
          </a:ln>
        </p:spPr>
        <p:txBody>
          <a:bodyPr rtlCol="0" anchor="ctr" lIns="45720" tIns="0" rIns="45720" bIns="0" wrap="square"/>
          <a:lstStyle/>
          <a:p>
            <a:pPr algn="ctr"/>
            <a:r>
              <a:rPr sz="1500" b="1" i="0">
                <a:solidFill>
                  <a:srgbClr val="FFFFFF"/>
                </a:solidFill>
                <a:latin typeface="Ember Modern Display Standard"/>
              </a:rPr>
              <a:t>All same-country pairs</a:t>
            </a:r>
            <a:endParaRPr sz="1500"/>
          </a:p>
        </p:txBody>
      </p:sp>
      <p:sp>
        <p:nvSpPr>
          <p:cNvPr id="269" name="Funnel value 1"/>
          <p:cNvSpPr txBox="1"/>
          <p:nvPr/>
        </p:nvSpPr>
        <p:spPr>
          <a:xfrm>
            <a:off x="4361688" y="1664208"/>
            <a:ext cx="2194560" cy="457200"/>
          </a:xfrm>
          <a:prstGeom prst="rect">
            <a:avLst/>
          </a:prstGeom>
          <a:noFill/>
        </p:spPr>
        <p:txBody>
          <a:bodyPr wrap="square" lIns="0" tIns="0" rIns="0" bIns="0" anchor="ctr">
            <a:spAutoFit/>
          </a:bodyPr>
          <a:lstStyle/>
          <a:p>
            <a:pPr algn="l"/>
            <a:r>
              <a:rPr sz="1500" b="0" i="0">
                <a:solidFill>
                  <a:srgbClr val="222222"/>
                </a:solidFill>
                <a:latin typeface="Ember Modern Display Standard"/>
              </a:rPr>
              <a:t>6.7 trillion pairs</a:t>
            </a:r>
            <a:endParaRPr sz="1500"/>
          </a:p>
        </p:txBody>
      </p:sp>
      <p:sp>
        <p:nvSpPr>
          <p:cNvPr id="270" name="Funnel bar 2"/>
          <p:cNvSpPr/>
          <p:nvPr/>
        </p:nvSpPr>
        <p:spPr>
          <a:xfrm>
            <a:off x="731520" y="2212848"/>
            <a:ext cx="3200400" cy="457200"/>
          </a:xfrm>
          <a:prstGeom prst="roundRect">
            <a:avLst>
              <a:gd name="adj" fmla="val 12000"/>
            </a:avLst>
          </a:prstGeom>
          <a:solidFill>
            <a:srgbClr val="161D26"/>
          </a:solidFill>
          <a:ln>
            <a:noFill/>
          </a:ln>
        </p:spPr>
        <p:txBody>
          <a:bodyPr rtlCol="0" anchor="ctr" lIns="45720" tIns="0" rIns="45720" bIns="0" wrap="square"/>
          <a:lstStyle/>
          <a:p>
            <a:pPr algn="ctr"/>
            <a:r>
              <a:rPr sz="1500" b="1" i="0">
                <a:solidFill>
                  <a:srgbClr val="FFFFFF"/>
                </a:solidFill>
                <a:latin typeface="Ember Modern Display Standard"/>
              </a:rPr>
              <a:t>Index lookup</a:t>
            </a:r>
            <a:endParaRPr sz="1500"/>
          </a:p>
        </p:txBody>
      </p:sp>
      <p:sp>
        <p:nvSpPr>
          <p:cNvPr id="271" name="Funnel value 2"/>
          <p:cNvSpPr txBox="1"/>
          <p:nvPr/>
        </p:nvSpPr>
        <p:spPr>
          <a:xfrm>
            <a:off x="4041648" y="2212848"/>
            <a:ext cx="2194560" cy="457200"/>
          </a:xfrm>
          <a:prstGeom prst="rect">
            <a:avLst/>
          </a:prstGeom>
          <a:noFill/>
        </p:spPr>
        <p:txBody>
          <a:bodyPr wrap="square" lIns="0" tIns="0" rIns="0" bIns="0" anchor="ctr">
            <a:spAutoFit/>
          </a:bodyPr>
          <a:lstStyle/>
          <a:p>
            <a:pPr algn="l"/>
            <a:r>
              <a:rPr sz="1500" b="0" i="0">
                <a:solidFill>
                  <a:srgbClr val="222222"/>
                </a:solidFill>
                <a:latin typeface="Ember Modern Display Standard"/>
              </a:rPr>
              <a:t>about 130 per business</a:t>
            </a:r>
            <a:endParaRPr sz="1500"/>
          </a:p>
        </p:txBody>
      </p:sp>
      <p:sp>
        <p:nvSpPr>
          <p:cNvPr id="272" name="Funnel bar 3"/>
          <p:cNvSpPr/>
          <p:nvPr/>
        </p:nvSpPr>
        <p:spPr>
          <a:xfrm>
            <a:off x="1005840" y="2761488"/>
            <a:ext cx="2651760" cy="457200"/>
          </a:xfrm>
          <a:prstGeom prst="roundRect">
            <a:avLst>
              <a:gd name="adj" fmla="val 12000"/>
            </a:avLst>
          </a:prstGeom>
          <a:solidFill>
            <a:srgbClr val="161D26"/>
          </a:solidFill>
          <a:ln>
            <a:noFill/>
          </a:ln>
        </p:spPr>
        <p:txBody>
          <a:bodyPr rtlCol="0" anchor="ctr" lIns="45720" tIns="0" rIns="45720" bIns="0" wrap="square"/>
          <a:lstStyle/>
          <a:p>
            <a:pPr algn="ctr"/>
            <a:r>
              <a:rPr sz="1500" b="1" i="0">
                <a:solidFill>
                  <a:srgbClr val="FFFFFF"/>
                </a:solidFill>
                <a:latin typeface="Ember Modern Display Standard"/>
              </a:rPr>
              <a:t>Quick rule-based filter</a:t>
            </a:r>
            <a:endParaRPr sz="1500"/>
          </a:p>
        </p:txBody>
      </p:sp>
      <p:sp>
        <p:nvSpPr>
          <p:cNvPr id="273" name="Funnel value 3"/>
          <p:cNvSpPr txBox="1"/>
          <p:nvPr/>
        </p:nvSpPr>
        <p:spPr>
          <a:xfrm>
            <a:off x="3767328" y="2761488"/>
            <a:ext cx="2194560" cy="457200"/>
          </a:xfrm>
          <a:prstGeom prst="rect">
            <a:avLst/>
          </a:prstGeom>
          <a:noFill/>
        </p:spPr>
        <p:txBody>
          <a:bodyPr wrap="square" lIns="0" tIns="0" rIns="0" bIns="0" anchor="ctr">
            <a:spAutoFit/>
          </a:bodyPr>
          <a:lstStyle/>
          <a:p>
            <a:pPr algn="l"/>
            <a:r>
              <a:rPr sz="1500" b="0" i="0">
                <a:solidFill>
                  <a:srgbClr val="222222"/>
                </a:solidFill>
                <a:latin typeface="Ember Modern Display Standard"/>
              </a:rPr>
              <a:t>21.7 per business</a:t>
            </a:r>
            <a:endParaRPr sz="1500"/>
          </a:p>
        </p:txBody>
      </p:sp>
      <p:sp>
        <p:nvSpPr>
          <p:cNvPr id="274" name="Funnel bar 4"/>
          <p:cNvSpPr/>
          <p:nvPr/>
        </p:nvSpPr>
        <p:spPr>
          <a:xfrm>
            <a:off x="1143000" y="3310128"/>
            <a:ext cx="2377440" cy="457200"/>
          </a:xfrm>
          <a:prstGeom prst="roundRect">
            <a:avLst>
              <a:gd name="adj" fmla="val 12000"/>
            </a:avLst>
          </a:prstGeom>
          <a:solidFill>
            <a:srgbClr val="161D26"/>
          </a:solidFill>
          <a:ln>
            <a:noFill/>
          </a:ln>
        </p:spPr>
        <p:txBody>
          <a:bodyPr rtlCol="0" anchor="ctr" lIns="45720" tIns="0" rIns="45720" bIns="0" wrap="square"/>
          <a:lstStyle/>
          <a:p>
            <a:pPr algn="ctr"/>
            <a:r>
              <a:rPr sz="1500" b="1" i="0">
                <a:solidFill>
                  <a:srgbClr val="FFFFFF"/>
                </a:solidFill>
                <a:latin typeface="Ember Modern Display Standard"/>
              </a:rPr>
              <a:t>Shortlist: up to 4 per record</a:t>
            </a:r>
            <a:endParaRPr sz="1500"/>
          </a:p>
        </p:txBody>
      </p:sp>
      <p:sp>
        <p:nvSpPr>
          <p:cNvPr id="275" name="Funnel value 4"/>
          <p:cNvSpPr txBox="1"/>
          <p:nvPr/>
        </p:nvSpPr>
        <p:spPr>
          <a:xfrm>
            <a:off x="3630168" y="3310128"/>
            <a:ext cx="2194560" cy="457200"/>
          </a:xfrm>
          <a:prstGeom prst="rect">
            <a:avLst/>
          </a:prstGeom>
          <a:noFill/>
        </p:spPr>
        <p:txBody>
          <a:bodyPr wrap="square" lIns="0" tIns="0" rIns="0" bIns="0" anchor="ctr">
            <a:spAutoFit/>
          </a:bodyPr>
          <a:lstStyle/>
          <a:p>
            <a:pPr algn="l"/>
            <a:r>
              <a:rPr sz="1500" b="0" i="0">
                <a:solidFill>
                  <a:srgbClr val="222222"/>
                </a:solidFill>
                <a:latin typeface="Ember Modern Display Standard"/>
              </a:rPr>
              <a:t>6.75 per business</a:t>
            </a:r>
            <a:endParaRPr sz="1500"/>
          </a:p>
        </p:txBody>
      </p:sp>
      <p:sp>
        <p:nvSpPr>
          <p:cNvPr id="276" name="Funnel bar 5"/>
          <p:cNvSpPr/>
          <p:nvPr/>
        </p:nvSpPr>
        <p:spPr>
          <a:xfrm>
            <a:off x="1143000" y="3858768"/>
            <a:ext cx="2377440" cy="566928"/>
          </a:xfrm>
          <a:prstGeom prst="roundRect">
            <a:avLst>
              <a:gd name="adj" fmla="val 9677"/>
            </a:avLst>
          </a:prstGeom>
          <a:solidFill>
            <a:srgbClr val="FF6200"/>
          </a:solidFill>
          <a:ln>
            <a:noFill/>
          </a:ln>
        </p:spPr>
        <p:txBody>
          <a:bodyPr rtlCol="0" anchor="ctr" lIns="45720" tIns="0" rIns="45720" bIns="0" wrap="square"/>
          <a:lstStyle/>
          <a:p>
            <a:pPr algn="ctr"/>
            <a:r>
              <a:rPr sz="1500" b="1" i="0">
                <a:solidFill>
                  <a:srgbClr val="FFFFFF"/>
                </a:solidFill>
                <a:latin typeface="Ember Modern Display Standard"/>
              </a:rPr>
              <a:t>Final list, + second chances</a:t>
            </a:r>
            <a:endParaRPr sz="1500"/>
          </a:p>
        </p:txBody>
      </p:sp>
      <p:sp>
        <p:nvSpPr>
          <p:cNvPr id="277" name="Funnel value 5"/>
          <p:cNvSpPr txBox="1"/>
          <p:nvPr/>
        </p:nvSpPr>
        <p:spPr>
          <a:xfrm>
            <a:off x="3630168" y="3785616"/>
            <a:ext cx="2377440" cy="713232"/>
          </a:xfrm>
          <a:prstGeom prst="rect">
            <a:avLst/>
          </a:prstGeom>
          <a:noFill/>
        </p:spPr>
        <p:txBody>
          <a:bodyPr wrap="square" lIns="0" tIns="0" rIns="0" bIns="0" anchor="ctr">
            <a:spAutoFit/>
          </a:bodyPr>
          <a:lstStyle/>
          <a:p>
            <a:pPr algn="l"/>
            <a:r>
              <a:rPr sz="4000" b="1" i="0">
                <a:solidFill>
                  <a:srgbClr val="FF6200"/>
                </a:solidFill>
                <a:latin typeface="Ember Modern Display Standard"/>
              </a:rPr>
              <a:t>7.10</a:t>
            </a:r>
            <a:r>
              <a:rPr sz="1500" b="1" i="0">
                <a:solidFill>
                  <a:srgbClr val="C24E00"/>
                </a:solidFill>
                <a:latin typeface="Ember Modern Display Standard"/>
              </a:rPr>
              <a:t> per business</a:t>
            </a:r>
            <a:endParaRPr sz="1200"/>
          </a:p>
        </p:txBody>
      </p:sp>
      <p:cxnSp>
        <p:nvCxnSpPr>
          <p:cNvPr id="278" name="Divider"/>
          <p:cNvCxnSpPr/>
          <p:nvPr/>
        </p:nvCxnSpPr>
        <p:spPr>
          <a:xfrm>
            <a:off x="6309360" y="1682496"/>
            <a:ext cx="0" cy="3072384"/>
          </a:xfrm>
          <a:prstGeom prst="line">
            <a:avLst/>
          </a:prstGeom>
          <a:ln w="12700">
            <a:solidFill>
              <a:srgbClr val="C9CDD3"/>
            </a:solidFill>
          </a:ln>
        </p:spPr>
        <p:style>
          <a:lnRef idx="2">
            <a:schemeClr val="accent1"/>
          </a:lnRef>
          <a:fillRef idx="0">
            <a:schemeClr val="accent1"/>
          </a:fillRef>
          <a:effectRef idx="1">
            <a:schemeClr val="accent1"/>
          </a:effectRef>
          <a:fontRef idx="minor">
            <a:schemeClr val="tx1"/>
          </a:fontRef>
        </p:style>
      </p:cxnSp>
      <p:sp>
        <p:nvSpPr>
          <p:cNvPr id="279" name="Scale-out title"/>
          <p:cNvSpPr txBox="1"/>
          <p:nvPr/>
        </p:nvSpPr>
        <p:spPr>
          <a:xfrm>
            <a:off x="6446520" y="1691640"/>
            <a:ext cx="2286000" cy="274320"/>
          </a:xfrm>
          <a:prstGeom prst="rect">
            <a:avLst/>
          </a:prstGeom>
          <a:noFill/>
        </p:spPr>
        <p:txBody>
          <a:bodyPr wrap="square" lIns="0" tIns="0" rIns="0" bIns="0" anchor="t">
            <a:spAutoFit/>
          </a:bodyPr>
          <a:lstStyle/>
          <a:p>
            <a:pPr algn="ctr"/>
            <a:r>
              <a:rPr sz="1600" b="1" i="0">
                <a:solidFill>
                  <a:srgbClr val="161D26"/>
                </a:solidFill>
                <a:latin typeface="Ember Modern Display Standard"/>
              </a:rPr>
              <a:t>Scaling to billions</a:t>
            </a:r>
            <a:endParaRPr sz="1600"/>
          </a:p>
        </p:txBody>
      </p:sp>
      <p:sp>
        <p:nvSpPr>
          <p:cNvPr id="280" name="Shard today US"/>
          <p:cNvSpPr/>
          <p:nvPr/>
        </p:nvSpPr>
        <p:spPr>
          <a:xfrm>
            <a:off x="6537960" y="2103120"/>
            <a:ext cx="676656" cy="411480"/>
          </a:xfrm>
          <a:prstGeom prst="roundRect">
            <a:avLst>
              <a:gd name="adj" fmla="val 11111"/>
            </a:avLst>
          </a:prstGeom>
          <a:solidFill>
            <a:srgbClr val="161D26"/>
          </a:solidFill>
          <a:ln>
            <a:noFill/>
          </a:ln>
        </p:spPr>
        <p:txBody>
          <a:bodyPr rtlCol="0" anchor="ctr" lIns="0" tIns="0" rIns="0" bIns="0" wrap="square"/>
          <a:lstStyle/>
          <a:p>
            <a:pPr algn="ctr"/>
            <a:r>
              <a:rPr sz="1600" b="1" i="0">
                <a:solidFill>
                  <a:srgbClr val="FFFFFF"/>
                </a:solidFill>
                <a:latin typeface="Ember Modern Display Standard"/>
              </a:rPr>
              <a:t>US</a:t>
            </a:r>
            <a:endParaRPr sz="1600"/>
          </a:p>
        </p:txBody>
      </p:sp>
      <p:sp>
        <p:nvSpPr>
          <p:cNvPr id="281" name="Shard today India"/>
          <p:cNvSpPr/>
          <p:nvPr/>
        </p:nvSpPr>
        <p:spPr>
          <a:xfrm>
            <a:off x="7251192" y="2103120"/>
            <a:ext cx="676656" cy="411480"/>
          </a:xfrm>
          <a:prstGeom prst="roundRect">
            <a:avLst>
              <a:gd name="adj" fmla="val 11111"/>
            </a:avLst>
          </a:prstGeom>
          <a:solidFill>
            <a:srgbClr val="293440"/>
          </a:solidFill>
          <a:ln>
            <a:noFill/>
          </a:ln>
        </p:spPr>
        <p:txBody>
          <a:bodyPr rtlCol="0" anchor="ctr" lIns="0" tIns="0" rIns="0" bIns="0" wrap="square"/>
          <a:lstStyle/>
          <a:p>
            <a:pPr algn="ctr"/>
            <a:r>
              <a:rPr sz="1600" b="1" i="0">
                <a:solidFill>
                  <a:srgbClr val="FFFFFF"/>
                </a:solidFill>
                <a:latin typeface="Ember Modern Display Standard"/>
              </a:rPr>
              <a:t>India</a:t>
            </a:r>
            <a:endParaRPr sz="1600"/>
          </a:p>
        </p:txBody>
      </p:sp>
      <p:sp>
        <p:nvSpPr>
          <p:cNvPr id="282" name="Shard today France"/>
          <p:cNvSpPr/>
          <p:nvPr/>
        </p:nvSpPr>
        <p:spPr>
          <a:xfrm>
            <a:off x="7964424" y="2103120"/>
            <a:ext cx="676656" cy="411480"/>
          </a:xfrm>
          <a:prstGeom prst="roundRect">
            <a:avLst>
              <a:gd name="adj" fmla="val 11111"/>
            </a:avLst>
          </a:prstGeom>
          <a:solidFill>
            <a:srgbClr val="161D26"/>
          </a:solidFill>
          <a:ln>
            <a:noFill/>
          </a:ln>
        </p:spPr>
        <p:txBody>
          <a:bodyPr rtlCol="0" anchor="ctr" lIns="0" tIns="0" rIns="0" bIns="0" wrap="square"/>
          <a:lstStyle/>
          <a:p>
            <a:pPr algn="ctr"/>
            <a:r>
              <a:rPr sz="1600" b="1" i="0">
                <a:solidFill>
                  <a:srgbClr val="FFFFFF"/>
                </a:solidFill>
                <a:latin typeface="Ember Modern Display Standard"/>
              </a:rPr>
              <a:t>France</a:t>
            </a:r>
            <a:endParaRPr sz="1600"/>
          </a:p>
        </p:txBody>
      </p:sp>
      <p:sp>
        <p:nvSpPr>
          <p:cNvPr id="283" name="Today label"/>
          <p:cNvSpPr txBox="1"/>
          <p:nvPr/>
        </p:nvSpPr>
        <p:spPr>
          <a:xfrm>
            <a:off x="6446520" y="2578608"/>
            <a:ext cx="2286000" cy="274320"/>
          </a:xfrm>
          <a:prstGeom prst="rect">
            <a:avLst/>
          </a:prstGeom>
          <a:noFill/>
        </p:spPr>
        <p:txBody>
          <a:bodyPr wrap="square" lIns="0" tIns="0" rIns="0" bIns="0" anchor="t">
            <a:spAutoFit/>
          </a:bodyPr>
          <a:lstStyle/>
          <a:p>
            <a:pPr algn="ctr"/>
            <a:r>
              <a:rPr sz="1500" b="0" i="0">
                <a:solidFill>
                  <a:srgbClr val="5A6270"/>
                </a:solidFill>
                <a:latin typeface="Ember Modern Display Standard"/>
              </a:rPr>
              <a:t>today: one index per country</a:t>
            </a:r>
            <a:endParaRPr sz="1500"/>
          </a:p>
        </p:txBody>
      </p:sp>
      <p:cxnSp>
        <p:nvCxnSpPr>
          <p:cNvPr id="284" name="Scale arrow"/>
          <p:cNvCxnSpPr/>
          <p:nvPr/>
        </p:nvCxnSpPr>
        <p:spPr>
          <a:xfrm>
            <a:off x="7589520" y="2926080"/>
            <a:ext cx="0" cy="384048"/>
          </a:xfrm>
          <a:prstGeom prst="line">
            <a:avLst/>
          </a:prstGeom>
          <a:ln w="31750">
            <a:solidFill>
              <a:srgbClr val="FF6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5" name="Shard next"/>
          <p:cNvSpPr/>
          <p:nvPr/>
        </p:nvSpPr>
        <p:spPr>
          <a:xfrm>
            <a:off x="6583680" y="3401568"/>
            <a:ext cx="292608" cy="365760"/>
          </a:xfrm>
          <a:prstGeom prst="roundRect">
            <a:avLst>
              <a:gd name="adj" fmla="val 12500"/>
            </a:avLst>
          </a:prstGeom>
          <a:solidFill>
            <a:srgbClr val="FFFFFF"/>
          </a:solidFill>
          <a:ln w="15875">
            <a:solidFill>
              <a:srgbClr val="161D26"/>
            </a:solidFill>
            <a:prstDash val="dash"/>
          </a:ln>
        </p:spPr>
        <p:txBody>
          <a:bodyPr rtlCol="0" anchor="t" lIns="0" tIns="0" rIns="0" bIns="0" wrap="square"/>
          <a:lstStyle/>
          <a:p>
            <a:pPr algn="ctr"/>
          </a:p>
        </p:txBody>
      </p:sp>
      <p:sp>
        <p:nvSpPr>
          <p:cNvPr id="286" name="Shard next"/>
          <p:cNvSpPr/>
          <p:nvPr/>
        </p:nvSpPr>
        <p:spPr>
          <a:xfrm>
            <a:off x="6949440" y="3401568"/>
            <a:ext cx="292608" cy="365760"/>
          </a:xfrm>
          <a:prstGeom prst="roundRect">
            <a:avLst>
              <a:gd name="adj" fmla="val 12500"/>
            </a:avLst>
          </a:prstGeom>
          <a:solidFill>
            <a:srgbClr val="FFFFFF"/>
          </a:solidFill>
          <a:ln w="15875">
            <a:solidFill>
              <a:srgbClr val="161D26"/>
            </a:solidFill>
            <a:prstDash val="dash"/>
          </a:ln>
        </p:spPr>
        <p:txBody>
          <a:bodyPr rtlCol="0" anchor="t" lIns="0" tIns="0" rIns="0" bIns="0" wrap="square"/>
          <a:lstStyle/>
          <a:p>
            <a:pPr algn="ctr"/>
          </a:p>
        </p:txBody>
      </p:sp>
      <p:sp>
        <p:nvSpPr>
          <p:cNvPr id="287" name="Shard next"/>
          <p:cNvSpPr/>
          <p:nvPr/>
        </p:nvSpPr>
        <p:spPr>
          <a:xfrm>
            <a:off x="7315200" y="3401568"/>
            <a:ext cx="292608" cy="365760"/>
          </a:xfrm>
          <a:prstGeom prst="roundRect">
            <a:avLst>
              <a:gd name="adj" fmla="val 12500"/>
            </a:avLst>
          </a:prstGeom>
          <a:solidFill>
            <a:srgbClr val="FFFFFF"/>
          </a:solidFill>
          <a:ln w="15875">
            <a:solidFill>
              <a:srgbClr val="161D26"/>
            </a:solidFill>
            <a:prstDash val="dash"/>
          </a:ln>
        </p:spPr>
        <p:txBody>
          <a:bodyPr rtlCol="0" anchor="t" lIns="0" tIns="0" rIns="0" bIns="0" wrap="square"/>
          <a:lstStyle/>
          <a:p>
            <a:pPr algn="ctr"/>
          </a:p>
        </p:txBody>
      </p:sp>
      <p:sp>
        <p:nvSpPr>
          <p:cNvPr id="288" name="Shard next"/>
          <p:cNvSpPr/>
          <p:nvPr/>
        </p:nvSpPr>
        <p:spPr>
          <a:xfrm>
            <a:off x="7680960" y="3401568"/>
            <a:ext cx="292608" cy="365760"/>
          </a:xfrm>
          <a:prstGeom prst="roundRect">
            <a:avLst>
              <a:gd name="adj" fmla="val 12500"/>
            </a:avLst>
          </a:prstGeom>
          <a:solidFill>
            <a:srgbClr val="FFFFFF"/>
          </a:solidFill>
          <a:ln w="15875">
            <a:solidFill>
              <a:srgbClr val="161D26"/>
            </a:solidFill>
            <a:prstDash val="dash"/>
          </a:ln>
        </p:spPr>
        <p:txBody>
          <a:bodyPr rtlCol="0" anchor="t" lIns="0" tIns="0" rIns="0" bIns="0" wrap="square"/>
          <a:lstStyle/>
          <a:p>
            <a:pPr algn="ctr"/>
          </a:p>
        </p:txBody>
      </p:sp>
      <p:sp>
        <p:nvSpPr>
          <p:cNvPr id="289" name="Shard next"/>
          <p:cNvSpPr/>
          <p:nvPr/>
        </p:nvSpPr>
        <p:spPr>
          <a:xfrm>
            <a:off x="8046720" y="3401568"/>
            <a:ext cx="292608" cy="365760"/>
          </a:xfrm>
          <a:prstGeom prst="roundRect">
            <a:avLst>
              <a:gd name="adj" fmla="val 12500"/>
            </a:avLst>
          </a:prstGeom>
          <a:solidFill>
            <a:srgbClr val="FFFFFF"/>
          </a:solidFill>
          <a:ln w="15875">
            <a:solidFill>
              <a:srgbClr val="161D26"/>
            </a:solidFill>
            <a:prstDash val="dash"/>
          </a:ln>
        </p:spPr>
        <p:txBody>
          <a:bodyPr rtlCol="0" anchor="t" lIns="0" tIns="0" rIns="0" bIns="0" wrap="square"/>
          <a:lstStyle/>
          <a:p>
            <a:pPr algn="ctr"/>
          </a:p>
        </p:txBody>
      </p:sp>
      <p:sp>
        <p:nvSpPr>
          <p:cNvPr id="290" name="Shard next"/>
          <p:cNvSpPr/>
          <p:nvPr/>
        </p:nvSpPr>
        <p:spPr>
          <a:xfrm>
            <a:off x="8412480" y="3401568"/>
            <a:ext cx="292608" cy="365760"/>
          </a:xfrm>
          <a:prstGeom prst="roundRect">
            <a:avLst>
              <a:gd name="adj" fmla="val 12500"/>
            </a:avLst>
          </a:prstGeom>
          <a:solidFill>
            <a:srgbClr val="FFFFFF"/>
          </a:solidFill>
          <a:ln w="15875">
            <a:solidFill>
              <a:srgbClr val="161D26"/>
            </a:solidFill>
            <a:prstDash val="dash"/>
          </a:ln>
        </p:spPr>
        <p:txBody>
          <a:bodyPr rtlCol="0" anchor="t" lIns="0" tIns="0" rIns="0" bIns="0" wrap="square"/>
          <a:lstStyle/>
          <a:p>
            <a:pPr algn="ctr"/>
          </a:p>
        </p:txBody>
      </p:sp>
      <p:sp>
        <p:nvSpPr>
          <p:cNvPr id="291" name="Next label"/>
          <p:cNvSpPr txBox="1"/>
          <p:nvPr/>
        </p:nvSpPr>
        <p:spPr>
          <a:xfrm>
            <a:off x="6355080" y="3840480"/>
            <a:ext cx="2468880" cy="548640"/>
          </a:xfrm>
          <a:prstGeom prst="rect">
            <a:avLst/>
          </a:prstGeom>
          <a:noFill/>
        </p:spPr>
        <p:txBody>
          <a:bodyPr wrap="square" lIns="0" tIns="0" rIns="0" bIns="0" anchor="t">
            <a:spAutoFit/>
          </a:bodyPr>
          <a:lstStyle/>
          <a:p>
            <a:pPr algn="ctr"/>
            <a:r>
              <a:rPr sz="1400" b="0" i="0">
                <a:solidFill>
                  <a:srgbClr val="5A6270"/>
                </a:solidFill>
                <a:latin typeface="Ember Modern Display Standard"/>
              </a:rPr>
              <a:t>next: smaller pieces by state or postcode, run in parallel</a:t>
            </a:r>
            <a:endParaRPr sz="1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What</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Changed</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Ember Modern Display Standard"/>
              </a:rPr>
              <a:t>We describe every candidate by exactly how it differs from the record.</a:t>
            </a:r>
            <a:endParaRPr sz="1600"/>
          </a:p>
        </p:txBody>
      </p:sp>
      <p:sp>
        <p:nvSpPr>
          <p:cNvPr id="268" name="Record"/>
          <p:cNvSpPr/>
          <p:nvPr/>
        </p:nvSpPr>
        <p:spPr>
          <a:xfrm>
            <a:off x="411480" y="1591056"/>
            <a:ext cx="8321040" cy="457200"/>
          </a:xfrm>
          <a:prstGeom prst="roundRect">
            <a:avLst>
              <a:gd name="adj" fmla="val 16000"/>
            </a:avLst>
          </a:prstGeom>
          <a:solidFill>
            <a:srgbClr val="161D26"/>
          </a:solidFill>
          <a:ln>
            <a:noFill/>
          </a:ln>
        </p:spPr>
        <p:txBody>
          <a:bodyPr rtlCol="0" anchor="ctr" lIns="137160" tIns="0" bIns="0" wrap="square"/>
          <a:lstStyle/>
          <a:p>
            <a:pPr algn="l"/>
            <a:r>
              <a:rPr sz="1400" b="0" i="0">
                <a:solidFill>
                  <a:srgbClr val="FFFFFF"/>
                </a:solidFill>
                <a:latin typeface="Segoe UI Symbol"/>
              </a:rPr>
              <a:t>📄  </a:t>
            </a:r>
            <a:r>
              <a:rPr sz="1700" b="0" i="0">
                <a:solidFill>
                  <a:srgbClr val="D9DDE2"/>
                </a:solidFill>
                <a:latin typeface="Ember Modern Display Standard"/>
              </a:rPr>
              <a:t>Record:  </a:t>
            </a:r>
            <a:r>
              <a:rPr sz="1700" b="1" i="0">
                <a:solidFill>
                  <a:srgbClr val="FFFFFF"/>
                </a:solidFill>
                <a:latin typeface="Ember Modern Display Standard"/>
              </a:rPr>
              <a:t>Legacy Marketing Enterprises (Inc)</a:t>
            </a:r>
            <a:endParaRPr sz="1700"/>
          </a:p>
        </p:txBody>
      </p:sp>
      <p:sp>
        <p:nvSpPr>
          <p:cNvPr id="269" name="Candidate 1"/>
          <p:cNvSpPr/>
          <p:nvPr/>
        </p:nvSpPr>
        <p:spPr>
          <a:xfrm>
            <a:off x="411480" y="2194560"/>
            <a:ext cx="6080760" cy="438912"/>
          </a:xfrm>
          <a:prstGeom prst="roundRect">
            <a:avLst>
              <a:gd name="adj" fmla="val 20833"/>
            </a:avLst>
          </a:prstGeom>
          <a:solidFill>
            <a:srgbClr val="FFFFFF"/>
          </a:solidFill>
          <a:ln w="12700">
            <a:solidFill>
              <a:srgbClr val="C9CDD3"/>
            </a:solidFill>
          </a:ln>
        </p:spPr>
        <p:txBody>
          <a:bodyPr rtlCol="0" anchor="ctr" lIns="137160" tIns="0" bIns="0" wrap="square"/>
          <a:lstStyle/>
          <a:p>
            <a:pPr algn="l"/>
            <a:r>
              <a:rPr sz="1600" b="0" i="0">
                <a:solidFill>
                  <a:srgbClr val="222222"/>
                </a:solidFill>
                <a:latin typeface="Ember Modern Display Standard"/>
              </a:rPr>
              <a:t>Legacy Marketing Enterprises </a:t>
            </a:r>
            <a:r>
              <a:rPr sz="1600" b="1" i="0">
                <a:solidFill>
                  <a:srgbClr val="C24E00"/>
                </a:solidFill>
                <a:latin typeface="Ember Modern Display Standard"/>
              </a:rPr>
              <a:t>LLC</a:t>
            </a:r>
            <a:endParaRPr sz="1600"/>
          </a:p>
        </p:txBody>
      </p:sp>
      <p:cxnSp>
        <p:nvCxnSpPr>
          <p:cNvPr id="270" name="Candidate arrow 1"/>
          <p:cNvCxnSpPr/>
          <p:nvPr/>
        </p:nvCxnSpPr>
        <p:spPr>
          <a:xfrm>
            <a:off x="6537960" y="2414016"/>
            <a:ext cx="320040" cy="0"/>
          </a:xfrm>
          <a:prstGeom prst="line">
            <a:avLst/>
          </a:prstGeom>
          <a:ln w="25400">
            <a:solidFill>
              <a:srgbClr val="FF6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1" name="Change chip 1"/>
          <p:cNvSpPr/>
          <p:nvPr/>
        </p:nvSpPr>
        <p:spPr>
          <a:xfrm>
            <a:off x="6903720" y="2231136"/>
            <a:ext cx="1828800" cy="365760"/>
          </a:xfrm>
          <a:prstGeom prst="roundRect">
            <a:avLst>
              <a:gd name="adj" fmla="val 50000"/>
            </a:avLst>
          </a:prstGeom>
          <a:solidFill>
            <a:srgbClr val="FF6200"/>
          </a:solidFill>
          <a:ln>
            <a:noFill/>
          </a:ln>
        </p:spPr>
        <p:txBody>
          <a:bodyPr rtlCol="0" anchor="ctr" lIns="36576" tIns="0" rIns="36576" bIns="0" wrap="square"/>
          <a:lstStyle/>
          <a:p>
            <a:pPr algn="ctr"/>
            <a:r>
              <a:rPr sz="1500" b="1" i="0">
                <a:solidFill>
                  <a:srgbClr val="FFFFFF"/>
                </a:solidFill>
                <a:latin typeface="Ember Modern Display Standard"/>
              </a:rPr>
              <a:t>legal form changed</a:t>
            </a:r>
            <a:endParaRPr sz="1500"/>
          </a:p>
        </p:txBody>
      </p:sp>
      <p:sp>
        <p:nvSpPr>
          <p:cNvPr id="272" name="Candidate 2"/>
          <p:cNvSpPr/>
          <p:nvPr/>
        </p:nvSpPr>
        <p:spPr>
          <a:xfrm>
            <a:off x="411480" y="2743200"/>
            <a:ext cx="6080760" cy="438912"/>
          </a:xfrm>
          <a:prstGeom prst="roundRect">
            <a:avLst>
              <a:gd name="adj" fmla="val 20833"/>
            </a:avLst>
          </a:prstGeom>
          <a:solidFill>
            <a:srgbClr val="FFFFFF"/>
          </a:solidFill>
          <a:ln w="12700">
            <a:solidFill>
              <a:srgbClr val="C9CDD3"/>
            </a:solidFill>
          </a:ln>
        </p:spPr>
        <p:txBody>
          <a:bodyPr rtlCol="0" anchor="ctr" lIns="137160" tIns="0" bIns="0" wrap="square"/>
          <a:lstStyle/>
          <a:p>
            <a:pPr algn="l"/>
            <a:r>
              <a:rPr sz="1600" b="0" i="0">
                <a:solidFill>
                  <a:srgbClr val="222222"/>
                </a:solidFill>
                <a:latin typeface="Ember Modern Display Standard"/>
              </a:rPr>
              <a:t>Legacy Marketing </a:t>
            </a:r>
            <a:r>
              <a:rPr sz="1600" b="1" i="0">
                <a:solidFill>
                  <a:srgbClr val="C24E00"/>
                </a:solidFill>
                <a:latin typeface="Ember Modern Display Standard"/>
              </a:rPr>
              <a:t>Industries</a:t>
            </a:r>
            <a:r>
              <a:rPr sz="1600" b="0" i="0">
                <a:solidFill>
                  <a:srgbClr val="222222"/>
                </a:solidFill>
                <a:latin typeface="Ember Modern Display Standard"/>
              </a:rPr>
              <a:t> Inc</a:t>
            </a:r>
            <a:endParaRPr sz="1600"/>
          </a:p>
        </p:txBody>
      </p:sp>
      <p:cxnSp>
        <p:nvCxnSpPr>
          <p:cNvPr id="273" name="Candidate arrow 2"/>
          <p:cNvCxnSpPr/>
          <p:nvPr/>
        </p:nvCxnSpPr>
        <p:spPr>
          <a:xfrm>
            <a:off x="6537960" y="2962656"/>
            <a:ext cx="320040" cy="0"/>
          </a:xfrm>
          <a:prstGeom prst="line">
            <a:avLst/>
          </a:prstGeom>
          <a:ln w="25400">
            <a:solidFill>
              <a:srgbClr val="FF6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4" name="Change chip 2"/>
          <p:cNvSpPr/>
          <p:nvPr/>
        </p:nvSpPr>
        <p:spPr>
          <a:xfrm>
            <a:off x="6903720" y="2779776"/>
            <a:ext cx="1828800" cy="365760"/>
          </a:xfrm>
          <a:prstGeom prst="roundRect">
            <a:avLst>
              <a:gd name="adj" fmla="val 50000"/>
            </a:avLst>
          </a:prstGeom>
          <a:solidFill>
            <a:srgbClr val="FF6200"/>
          </a:solidFill>
          <a:ln>
            <a:noFill/>
          </a:ln>
        </p:spPr>
        <p:txBody>
          <a:bodyPr rtlCol="0" anchor="ctr" lIns="36576" tIns="0" rIns="36576" bIns="0" wrap="square"/>
          <a:lstStyle/>
          <a:p>
            <a:pPr algn="ctr"/>
            <a:r>
              <a:rPr sz="1500" b="1" i="0">
                <a:solidFill>
                  <a:srgbClr val="FFFFFF"/>
                </a:solidFill>
                <a:latin typeface="Ember Modern Display Standard"/>
              </a:rPr>
              <a:t>1 word replaced</a:t>
            </a:r>
            <a:endParaRPr sz="1500"/>
          </a:p>
        </p:txBody>
      </p:sp>
      <p:sp>
        <p:nvSpPr>
          <p:cNvPr id="275" name="Also counted"/>
          <p:cNvSpPr txBox="1"/>
          <p:nvPr/>
        </p:nvSpPr>
        <p:spPr>
          <a:xfrm>
            <a:off x="411480" y="3218688"/>
            <a:ext cx="8321040" cy="274320"/>
          </a:xfrm>
          <a:prstGeom prst="rect">
            <a:avLst/>
          </a:prstGeom>
          <a:noFill/>
        </p:spPr>
        <p:txBody>
          <a:bodyPr wrap="square" lIns="0" tIns="0" rIns="0" bIns="0" anchor="t">
            <a:spAutoFit/>
          </a:bodyPr>
          <a:lstStyle/>
          <a:p>
            <a:pPr algn="l"/>
            <a:r>
              <a:rPr sz="1400" b="0" i="0">
                <a:solidFill>
                  <a:srgbClr val="5A6270"/>
                </a:solidFill>
                <a:latin typeface="Ember Modern Display Standard"/>
              </a:rPr>
              <a:t>Also counted: numbers changed, words added or dropped.</a:t>
            </a:r>
            <a:endParaRPr sz="1400"/>
          </a:p>
        </p:txBody>
      </p:sp>
      <p:sp>
        <p:nvSpPr>
          <p:cNvPr id="276" name="Features box"/>
          <p:cNvSpPr/>
          <p:nvPr/>
        </p:nvSpPr>
        <p:spPr>
          <a:xfrm>
            <a:off x="411480" y="3566160"/>
            <a:ext cx="2331720" cy="1243584"/>
          </a:xfrm>
          <a:prstGeom prst="roundRect">
            <a:avLst>
              <a:gd name="adj" fmla="val 7352"/>
            </a:avLst>
          </a:prstGeom>
          <a:solidFill>
            <a:srgbClr val="F3F4F6"/>
          </a:solidFill>
          <a:ln>
            <a:noFill/>
          </a:ln>
        </p:spPr>
        <p:txBody>
          <a:bodyPr rtlCol="0" anchor="ctr" wrap="square"/>
          <a:lstStyle/>
          <a:p>
            <a:pPr algn="ctr"/>
            <a:r>
              <a:rPr sz="1500" b="0" i="0">
                <a:solidFill>
                  <a:srgbClr val="222222"/>
                </a:solidFill>
                <a:latin typeface="Ember Modern Display Standard"/>
              </a:rPr>
              <a:t>Reader scores</a:t>
            </a:r>
            <a:endParaRPr sz="1500"/>
          </a:p>
          <a:p>
            <a:pPr algn="ctr"/>
            <a:r>
              <a:rPr sz="1500" b="0" i="0">
                <a:solidFill>
                  <a:srgbClr val="222222"/>
                </a:solidFill>
                <a:latin typeface="Ember Modern Display Standard"/>
              </a:rPr>
              <a:t>+ “what changed”</a:t>
            </a:r>
            <a:endParaRPr sz="1500"/>
          </a:p>
          <a:p>
            <a:pPr algn="ctr"/>
            <a:r>
              <a:rPr sz="1500" b="0" i="0">
                <a:solidFill>
                  <a:srgbClr val="222222"/>
                </a:solidFill>
                <a:latin typeface="Ember Modern Display Standard"/>
              </a:rPr>
              <a:t>+ lead over rivals</a:t>
            </a:r>
            <a:endParaRPr sz="1500"/>
          </a:p>
        </p:txBody>
      </p:sp>
      <p:cxnSp>
        <p:nvCxnSpPr>
          <p:cNvPr id="277" name="Arrow f-m"/>
          <p:cNvCxnSpPr/>
          <p:nvPr/>
        </p:nvCxnSpPr>
        <p:spPr>
          <a:xfrm>
            <a:off x="2788920" y="4187952"/>
            <a:ext cx="274320" cy="0"/>
          </a:xfrm>
          <a:prstGeom prst="line">
            <a:avLst/>
          </a:prstGeom>
          <a:ln w="3175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8" name="Model box"/>
          <p:cNvSpPr/>
          <p:nvPr/>
        </p:nvSpPr>
        <p:spPr>
          <a:xfrm>
            <a:off x="3108960" y="3566160"/>
            <a:ext cx="2194560" cy="1243584"/>
          </a:xfrm>
          <a:prstGeom prst="roundRect">
            <a:avLst>
              <a:gd name="adj" fmla="val 7352"/>
            </a:avLst>
          </a:prstGeom>
          <a:solidFill>
            <a:srgbClr val="161D26"/>
          </a:solidFill>
          <a:ln>
            <a:noFill/>
          </a:ln>
        </p:spPr>
        <p:txBody>
          <a:bodyPr rtlCol="0" anchor="ctr" wrap="square"/>
          <a:lstStyle/>
          <a:p>
            <a:pPr algn="ctr"/>
            <a:r>
              <a:rPr sz="1500" b="0" i="0">
                <a:solidFill>
                  <a:srgbClr val="FFFFFF"/>
                </a:solidFill>
                <a:latin typeface="Segoe UI Symbol"/>
              </a:rPr>
              <a:t>⚙ </a:t>
            </a:r>
            <a:r>
              <a:rPr sz="1500" b="1" i="0">
                <a:solidFill>
                  <a:srgbClr val="FFFFFF"/>
                </a:solidFill>
                <a:latin typeface="Ember Modern Display Standard"/>
              </a:rPr>
              <a:t>LightGBM</a:t>
            </a:r>
            <a:endParaRPr sz="1500"/>
          </a:p>
          <a:p>
            <a:pPr algn="ctr"/>
            <a:r>
              <a:rPr sz="1500" b="0" i="0">
                <a:solidFill>
                  <a:srgbClr val="FFFFFF"/>
                </a:solidFill>
                <a:latin typeface="Ember Modern Display Standard"/>
              </a:rPr>
              <a:t>decision model,</a:t>
            </a:r>
            <a:endParaRPr sz="1500"/>
          </a:p>
          <a:p>
            <a:pPr algn="ctr"/>
            <a:r>
              <a:rPr sz="1500" b="0" i="0">
                <a:solidFill>
                  <a:srgbClr val="FFFFFF"/>
                </a:solidFill>
                <a:latin typeface="Ember Modern Display Standard"/>
              </a:rPr>
              <a:t>one per country</a:t>
            </a:r>
            <a:endParaRPr sz="1500"/>
          </a:p>
        </p:txBody>
      </p:sp>
      <p:cxnSp>
        <p:nvCxnSpPr>
          <p:cNvPr id="279" name="Arrow m-r"/>
          <p:cNvCxnSpPr/>
          <p:nvPr/>
        </p:nvCxnSpPr>
        <p:spPr>
          <a:xfrm>
            <a:off x="5349240" y="4187952"/>
            <a:ext cx="274320" cy="0"/>
          </a:xfrm>
          <a:prstGeom prst="line">
            <a:avLst/>
          </a:prstGeom>
          <a:ln w="31750">
            <a:solidFill>
              <a:srgbClr val="FF6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0" name="Rule box"/>
          <p:cNvSpPr/>
          <p:nvPr/>
        </p:nvSpPr>
        <p:spPr>
          <a:xfrm>
            <a:off x="5669280" y="3566160"/>
            <a:ext cx="3063240" cy="1243584"/>
          </a:xfrm>
          <a:prstGeom prst="roundRect">
            <a:avLst>
              <a:gd name="adj" fmla="val 7352"/>
            </a:avLst>
          </a:prstGeom>
          <a:solidFill>
            <a:srgbClr val="FFEBDD"/>
          </a:solidFill>
          <a:ln w="28575">
            <a:solidFill>
              <a:srgbClr val="FF6200"/>
            </a:solidFill>
          </a:ln>
        </p:spPr>
        <p:txBody>
          <a:bodyPr rtlCol="0" anchor="t" lIns="73152" rIns="73152" wrap="square"/>
          <a:lstStyle/>
          <a:p>
            <a:pPr algn="ctr"/>
          </a:p>
        </p:txBody>
      </p:sp>
      <p:sp>
        <p:nvSpPr>
          <p:cNvPr id="281" name="Rule text"/>
          <p:cNvSpPr txBox="1"/>
          <p:nvPr/>
        </p:nvSpPr>
        <p:spPr>
          <a:xfrm>
            <a:off x="5715000" y="3639312"/>
            <a:ext cx="2971800" cy="329184"/>
          </a:xfrm>
          <a:prstGeom prst="rect">
            <a:avLst/>
          </a:prstGeom>
          <a:noFill/>
        </p:spPr>
        <p:txBody>
          <a:bodyPr wrap="square" lIns="0" tIns="0" rIns="0" bIns="0" anchor="t">
            <a:spAutoFit/>
          </a:bodyPr>
          <a:lstStyle/>
          <a:p>
            <a:pPr algn="ctr"/>
            <a:r>
              <a:rPr sz="1400" b="1" i="0">
                <a:solidFill>
                  <a:srgbClr val="222222"/>
                </a:solidFill>
                <a:latin typeface="Ember Modern Display Standard"/>
              </a:rPr>
              <a:t>Link if confident AND a clear winner</a:t>
            </a:r>
            <a:endParaRPr sz="1400"/>
          </a:p>
        </p:txBody>
      </p:sp>
      <p:sp>
        <p:nvSpPr>
          <p:cNvPr id="282" name="Big threshold"/>
          <p:cNvSpPr txBox="1"/>
          <p:nvPr/>
        </p:nvSpPr>
        <p:spPr>
          <a:xfrm>
            <a:off x="5715000" y="3931920"/>
            <a:ext cx="1417320" cy="841248"/>
          </a:xfrm>
          <a:prstGeom prst="rect">
            <a:avLst/>
          </a:prstGeom>
          <a:noFill/>
        </p:spPr>
        <p:txBody>
          <a:bodyPr wrap="square" lIns="0" tIns="0" rIns="0" bIns="0" anchor="ctr">
            <a:spAutoFit/>
          </a:bodyPr>
          <a:lstStyle/>
          <a:p>
            <a:pPr algn="ctr">
              <a:lnSpc>
                <a:spcPct val="90000"/>
              </a:lnSpc>
            </a:pPr>
            <a:r>
              <a:rPr sz="4000" b="1" i="0">
                <a:solidFill>
                  <a:srgbClr val="FF6200"/>
                </a:solidFill>
                <a:latin typeface="Ember Modern Display Standard"/>
              </a:rPr>
              <a:t>≥ 0.75</a:t>
            </a:r>
            <a:endParaRPr sz="4000"/>
          </a:p>
          <a:p>
            <a:pPr algn="ctr"/>
            <a:r>
              <a:rPr sz="1400" b="0" i="0">
                <a:solidFill>
                  <a:srgbClr val="222222"/>
                </a:solidFill>
                <a:latin typeface="Ember Modern Display Standard"/>
              </a:rPr>
              <a:t>score</a:t>
            </a:r>
            <a:endParaRPr sz="1400"/>
          </a:p>
        </p:txBody>
      </p:sp>
      <p:sp>
        <p:nvSpPr>
          <p:cNvPr id="283" name="Big margin"/>
          <p:cNvSpPr txBox="1"/>
          <p:nvPr/>
        </p:nvSpPr>
        <p:spPr>
          <a:xfrm>
            <a:off x="7223760" y="3931920"/>
            <a:ext cx="1463040" cy="841248"/>
          </a:xfrm>
          <a:prstGeom prst="rect">
            <a:avLst/>
          </a:prstGeom>
          <a:noFill/>
        </p:spPr>
        <p:txBody>
          <a:bodyPr wrap="square" lIns="0" tIns="0" rIns="0" bIns="0" anchor="ctr">
            <a:spAutoFit/>
          </a:bodyPr>
          <a:lstStyle/>
          <a:p>
            <a:pPr algn="ctr">
              <a:lnSpc>
                <a:spcPct val="90000"/>
              </a:lnSpc>
            </a:pPr>
            <a:r>
              <a:rPr sz="4000" b="1" i="0">
                <a:solidFill>
                  <a:srgbClr val="FF6200"/>
                </a:solidFill>
                <a:latin typeface="Ember Modern Display Standard"/>
              </a:rPr>
              <a:t>≥ 0.4</a:t>
            </a:r>
            <a:endParaRPr sz="4000"/>
          </a:p>
          <a:p>
            <a:pPr algn="ctr"/>
            <a:r>
              <a:rPr sz="1400" b="0" i="0">
                <a:solidFill>
                  <a:srgbClr val="222222"/>
                </a:solidFill>
                <a:latin typeface="Ember Modern Display Standard"/>
              </a:rPr>
              <a:t>lead</a:t>
            </a:r>
            <a:endParaRPr sz="1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Second-Chance</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Searches</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Ember Modern Display Standard"/>
              </a:rPr>
              <a:t>When the first search misses the right business, unlinked records get a second search.</a:t>
            </a:r>
            <a:endParaRPr sz="1600"/>
          </a:p>
        </p:txBody>
      </p:sp>
      <p:sp>
        <p:nvSpPr>
          <p:cNvPr id="268" name="Lane 1 title"/>
          <p:cNvSpPr txBox="1"/>
          <p:nvPr/>
        </p:nvSpPr>
        <p:spPr>
          <a:xfrm>
            <a:off x="411480" y="1591056"/>
            <a:ext cx="5943600" cy="292608"/>
          </a:xfrm>
          <a:prstGeom prst="rect">
            <a:avLst/>
          </a:prstGeom>
          <a:noFill/>
        </p:spPr>
        <p:txBody>
          <a:bodyPr wrap="square" lIns="0" tIns="0" rIns="0" bIns="0" anchor="t">
            <a:spAutoFit/>
          </a:bodyPr>
          <a:lstStyle/>
          <a:p>
            <a:pPr algn="l"/>
            <a:r>
              <a:rPr sz="1600" b="1" i="0">
                <a:solidFill>
                  <a:srgbClr val="FF6200"/>
                </a:solidFill>
                <a:latin typeface="Segoe UI Symbol"/>
              </a:rPr>
              <a:t>↻  </a:t>
            </a:r>
            <a:r>
              <a:rPr sz="1600" b="1" i="0">
                <a:solidFill>
                  <a:srgbClr val="222222"/>
                </a:solidFill>
                <a:latin typeface="Ember Modern Display Standard"/>
              </a:rPr>
              <a:t>Names in Indian scripts</a:t>
            </a:r>
            <a:endParaRPr sz="1600"/>
          </a:p>
        </p:txBody>
      </p:sp>
      <p:sp>
        <p:nvSpPr>
          <p:cNvPr id="269" name="Lane 1 step 1"/>
          <p:cNvSpPr/>
          <p:nvPr/>
        </p:nvSpPr>
        <p:spPr>
          <a:xfrm>
            <a:off x="411480" y="1956816"/>
            <a:ext cx="1207008" cy="713232"/>
          </a:xfrm>
          <a:prstGeom prst="roundRect">
            <a:avLst>
              <a:gd name="adj" fmla="val 12820"/>
            </a:avLst>
          </a:prstGeom>
          <a:solidFill>
            <a:srgbClr val="F3F4F6"/>
          </a:solidFill>
          <a:ln>
            <a:noFill/>
          </a:ln>
        </p:spPr>
        <p:txBody>
          <a:bodyPr rtlCol="0" anchor="ctr" lIns="54864" tIns="27432" rIns="54864" bIns="27432" wrap="square"/>
          <a:lstStyle/>
          <a:p>
            <a:pPr algn="ctr"/>
            <a:r>
              <a:rPr sz="1400" b="1" i="0">
                <a:solidFill>
                  <a:srgbClr val="222222"/>
                </a:solidFill>
                <a:latin typeface="Nirmala UI"/>
                <a:ea typeface="Nirmala UI"/>
                <a:cs typeface="Nirmala UI"/>
              </a:rPr>
              <a:t>विजय एंटरप्राइजेज</a:t>
            </a:r>
            <a:endParaRPr sz="1400"/>
          </a:p>
        </p:txBody>
      </p:sp>
      <p:cxnSp>
        <p:nvCxnSpPr>
          <p:cNvPr id="270" name="Lane 1 arrow 1"/>
          <p:cNvCxnSpPr/>
          <p:nvPr/>
        </p:nvCxnSpPr>
        <p:spPr>
          <a:xfrm>
            <a:off x="1645920" y="2313432"/>
            <a:ext cx="219456" cy="0"/>
          </a:xfrm>
          <a:prstGeom prst="line">
            <a:avLst/>
          </a:prstGeom>
          <a:ln w="2540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1" name="Lane 1 step 2"/>
          <p:cNvSpPr/>
          <p:nvPr/>
        </p:nvSpPr>
        <p:spPr>
          <a:xfrm>
            <a:off x="1892808" y="1956816"/>
            <a:ext cx="1207008" cy="713232"/>
          </a:xfrm>
          <a:prstGeom prst="roundRect">
            <a:avLst>
              <a:gd name="adj" fmla="val 12820"/>
            </a:avLst>
          </a:prstGeom>
          <a:solidFill>
            <a:srgbClr val="F3F4F6"/>
          </a:solidFill>
          <a:ln>
            <a:noFill/>
          </a:ln>
        </p:spPr>
        <p:txBody>
          <a:bodyPr rtlCol="0" anchor="ctr" lIns="54864" tIns="27432" rIns="54864" bIns="27432" wrap="square"/>
          <a:lstStyle/>
          <a:p>
            <a:pPr algn="ctr"/>
            <a:r>
              <a:rPr sz="1400" b="1" i="0">
                <a:solidFill>
                  <a:srgbClr val="222222"/>
                </a:solidFill>
                <a:latin typeface="Ember Modern Display Standard"/>
              </a:rPr>
              <a:t>vijay enterprises</a:t>
            </a:r>
            <a:endParaRPr sz="1400"/>
          </a:p>
        </p:txBody>
      </p:sp>
      <p:cxnSp>
        <p:nvCxnSpPr>
          <p:cNvPr id="272" name="Lane 1 arrow 2"/>
          <p:cNvCxnSpPr/>
          <p:nvPr/>
        </p:nvCxnSpPr>
        <p:spPr>
          <a:xfrm>
            <a:off x="3127248" y="2313432"/>
            <a:ext cx="219456" cy="0"/>
          </a:xfrm>
          <a:prstGeom prst="line">
            <a:avLst/>
          </a:prstGeom>
          <a:ln w="2540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3" name="Lane 1 step 3"/>
          <p:cNvSpPr/>
          <p:nvPr/>
        </p:nvSpPr>
        <p:spPr>
          <a:xfrm>
            <a:off x="3374136" y="1956816"/>
            <a:ext cx="1207008" cy="713232"/>
          </a:xfrm>
          <a:prstGeom prst="roundRect">
            <a:avLst>
              <a:gd name="adj" fmla="val 12820"/>
            </a:avLst>
          </a:prstGeom>
          <a:solidFill>
            <a:srgbClr val="F3F4F6"/>
          </a:solidFill>
          <a:ln>
            <a:noFill/>
          </a:ln>
        </p:spPr>
        <p:txBody>
          <a:bodyPr rtlCol="0" anchor="ctr" lIns="54864" tIns="27432" rIns="54864" bIns="27432" wrap="square"/>
          <a:lstStyle/>
          <a:p>
            <a:pPr algn="ctr"/>
            <a:r>
              <a:rPr sz="1400" b="0" i="0">
                <a:solidFill>
                  <a:srgbClr val="222222"/>
                </a:solidFill>
                <a:latin typeface="Ember Modern Display Standard"/>
              </a:rPr>
              <a:t>search the same state</a:t>
            </a:r>
            <a:endParaRPr sz="1400"/>
          </a:p>
        </p:txBody>
      </p:sp>
      <p:cxnSp>
        <p:nvCxnSpPr>
          <p:cNvPr id="274" name="Lane 1 arrow 3"/>
          <p:cNvCxnSpPr/>
          <p:nvPr/>
        </p:nvCxnSpPr>
        <p:spPr>
          <a:xfrm>
            <a:off x="4608576" y="2313432"/>
            <a:ext cx="219456" cy="0"/>
          </a:xfrm>
          <a:prstGeom prst="line">
            <a:avLst/>
          </a:prstGeom>
          <a:ln w="2540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5" name="Lane 1 step 4"/>
          <p:cNvSpPr/>
          <p:nvPr/>
        </p:nvSpPr>
        <p:spPr>
          <a:xfrm>
            <a:off x="4855464" y="1956816"/>
            <a:ext cx="1207008" cy="713232"/>
          </a:xfrm>
          <a:prstGeom prst="roundRect">
            <a:avLst>
              <a:gd name="adj" fmla="val 12820"/>
            </a:avLst>
          </a:prstGeom>
          <a:solidFill>
            <a:srgbClr val="F3F4F6"/>
          </a:solidFill>
          <a:ln>
            <a:noFill/>
          </a:ln>
        </p:spPr>
        <p:txBody>
          <a:bodyPr rtlCol="0" anchor="ctr" lIns="54864" tIns="27432" rIns="54864" bIns="27432" wrap="square"/>
          <a:lstStyle/>
          <a:p>
            <a:pPr algn="ctr"/>
            <a:r>
              <a:rPr sz="1400" b="0" i="0">
                <a:solidFill>
                  <a:srgbClr val="222222"/>
                </a:solidFill>
                <a:latin typeface="Ember Modern Display Standard"/>
              </a:rPr>
              <a:t>scoring model</a:t>
            </a:r>
            <a:endParaRPr sz="1400"/>
          </a:p>
        </p:txBody>
      </p:sp>
      <p:cxnSp>
        <p:nvCxnSpPr>
          <p:cNvPr id="276" name="Lane 1 arrow 4"/>
          <p:cNvCxnSpPr/>
          <p:nvPr/>
        </p:nvCxnSpPr>
        <p:spPr>
          <a:xfrm>
            <a:off x="6089904" y="2313432"/>
            <a:ext cx="219456" cy="0"/>
          </a:xfrm>
          <a:prstGeom prst="line">
            <a:avLst/>
          </a:prstGeom>
          <a:ln w="2540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7" name="Lane 1 link"/>
          <p:cNvSpPr/>
          <p:nvPr/>
        </p:nvSpPr>
        <p:spPr>
          <a:xfrm>
            <a:off x="6336792" y="2039112"/>
            <a:ext cx="548640" cy="548640"/>
          </a:xfrm>
          <a:prstGeom prst="ellipse">
            <a:avLst/>
          </a:prstGeom>
          <a:solidFill>
            <a:srgbClr val="FF6200"/>
          </a:solidFill>
          <a:ln>
            <a:noFill/>
          </a:ln>
        </p:spPr>
        <p:txBody>
          <a:bodyPr rtlCol="0" anchor="ctr" lIns="0" tIns="0" rIns="0" bIns="0" wrap="square"/>
          <a:lstStyle/>
          <a:p>
            <a:pPr algn="ctr"/>
            <a:r>
              <a:rPr sz="2000" b="0" i="0">
                <a:solidFill>
                  <a:srgbClr val="FFFFFF"/>
                </a:solidFill>
                <a:latin typeface="Segoe UI Symbol"/>
              </a:rPr>
              <a:t>🔗</a:t>
            </a:r>
            <a:endParaRPr sz="1200"/>
          </a:p>
        </p:txBody>
      </p:sp>
      <p:sp>
        <p:nvSpPr>
          <p:cNvPr id="278" name="Lane 1 big"/>
          <p:cNvSpPr txBox="1"/>
          <p:nvPr/>
        </p:nvSpPr>
        <p:spPr>
          <a:xfrm>
            <a:off x="6812280" y="1728216"/>
            <a:ext cx="1920240" cy="1097280"/>
          </a:xfrm>
          <a:prstGeom prst="rect">
            <a:avLst/>
          </a:prstGeom>
          <a:noFill/>
        </p:spPr>
        <p:txBody>
          <a:bodyPr wrap="square" lIns="0" tIns="0" rIns="0" bIns="0" anchor="ctr">
            <a:spAutoFit/>
          </a:bodyPr>
          <a:lstStyle/>
          <a:p>
            <a:pPr algn="r">
              <a:lnSpc>
                <a:spcPct val="90000"/>
              </a:lnSpc>
            </a:pPr>
            <a:r>
              <a:rPr sz="4400" b="1" i="0">
                <a:solidFill>
                  <a:srgbClr val="FF6200"/>
                </a:solidFill>
                <a:latin typeface="Ember Modern Display Standard"/>
              </a:rPr>
              <a:t>+9,759</a:t>
            </a:r>
            <a:endParaRPr sz="4400"/>
          </a:p>
          <a:p>
            <a:pPr algn="r"/>
            <a:r>
              <a:rPr sz="1500" b="0" i="0">
                <a:solidFill>
                  <a:srgbClr val="222222"/>
                </a:solidFill>
                <a:latin typeface="Ember Modern Display Standard"/>
              </a:rPr>
              <a:t>links</a:t>
            </a:r>
            <a:endParaRPr sz="1500"/>
          </a:p>
        </p:txBody>
      </p:sp>
      <p:sp>
        <p:nvSpPr>
          <p:cNvPr id="279" name="Lane 1 note"/>
          <p:cNvSpPr txBox="1"/>
          <p:nvPr/>
        </p:nvSpPr>
        <p:spPr>
          <a:xfrm>
            <a:off x="411480" y="2706624"/>
            <a:ext cx="3291840" cy="274320"/>
          </a:xfrm>
          <a:prstGeom prst="rect">
            <a:avLst/>
          </a:prstGeom>
          <a:noFill/>
        </p:spPr>
        <p:txBody>
          <a:bodyPr wrap="square" lIns="0" tIns="0" rIns="0" bIns="0" anchor="t">
            <a:spAutoFit/>
          </a:bodyPr>
          <a:lstStyle/>
          <a:p>
            <a:pPr algn="l"/>
            <a:r>
              <a:rPr sz="1400" b="0" i="0">
                <a:solidFill>
                  <a:srgbClr val="5A6270"/>
                </a:solidFill>
                <a:latin typeface="Ember Modern Display Standard"/>
              </a:rPr>
              <a:t>word list learned from training matches</a:t>
            </a:r>
            <a:endParaRPr sz="1400"/>
          </a:p>
        </p:txBody>
      </p:sp>
      <p:sp>
        <p:nvSpPr>
          <p:cNvPr id="280" name="Lane 2 title"/>
          <p:cNvSpPr txBox="1"/>
          <p:nvPr/>
        </p:nvSpPr>
        <p:spPr>
          <a:xfrm>
            <a:off x="411480" y="3063240"/>
            <a:ext cx="5943600" cy="292608"/>
          </a:xfrm>
          <a:prstGeom prst="rect">
            <a:avLst/>
          </a:prstGeom>
          <a:noFill/>
        </p:spPr>
        <p:txBody>
          <a:bodyPr wrap="square" lIns="0" tIns="0" rIns="0" bIns="0" anchor="t">
            <a:spAutoFit/>
          </a:bodyPr>
          <a:lstStyle/>
          <a:p>
            <a:pPr algn="l"/>
            <a:r>
              <a:rPr sz="1600" b="1" i="0">
                <a:solidFill>
                  <a:srgbClr val="FF6200"/>
                </a:solidFill>
                <a:latin typeface="Segoe UI Symbol"/>
              </a:rPr>
              <a:t>↻  </a:t>
            </a:r>
            <a:r>
              <a:rPr sz="1600" b="1" i="0">
                <a:solidFill>
                  <a:srgbClr val="222222"/>
                </a:solidFill>
                <a:latin typeface="Ember Modern Display Standard"/>
              </a:rPr>
              <a:t>Search again from the address</a:t>
            </a:r>
            <a:endParaRPr sz="1600"/>
          </a:p>
        </p:txBody>
      </p:sp>
      <p:sp>
        <p:nvSpPr>
          <p:cNvPr id="281" name="Lane 2 step 1"/>
          <p:cNvSpPr/>
          <p:nvPr/>
        </p:nvSpPr>
        <p:spPr>
          <a:xfrm>
            <a:off x="411480" y="3429000"/>
            <a:ext cx="1691640" cy="713232"/>
          </a:xfrm>
          <a:prstGeom prst="roundRect">
            <a:avLst>
              <a:gd name="adj" fmla="val 12820"/>
            </a:avLst>
          </a:prstGeom>
          <a:solidFill>
            <a:srgbClr val="F3F4F6"/>
          </a:solidFill>
          <a:ln>
            <a:noFill/>
          </a:ln>
        </p:spPr>
        <p:txBody>
          <a:bodyPr rtlCol="0" anchor="ctr" lIns="54864" tIns="27432" rIns="54864" bIns="27432" wrap="square"/>
          <a:lstStyle/>
          <a:p>
            <a:pPr algn="ctr"/>
            <a:r>
              <a:rPr sz="1400" b="0" i="0">
                <a:solidFill>
                  <a:srgbClr val="222222"/>
                </a:solidFill>
                <a:latin typeface="Ember Modern Display Standard"/>
              </a:rPr>
              <a:t>rare house no. + rare street word</a:t>
            </a:r>
            <a:endParaRPr sz="1400"/>
          </a:p>
        </p:txBody>
      </p:sp>
      <p:cxnSp>
        <p:nvCxnSpPr>
          <p:cNvPr id="282" name="Lane 2 arrow 1"/>
          <p:cNvCxnSpPr/>
          <p:nvPr/>
        </p:nvCxnSpPr>
        <p:spPr>
          <a:xfrm>
            <a:off x="2130552" y="3785616"/>
            <a:ext cx="228600" cy="0"/>
          </a:xfrm>
          <a:prstGeom prst="line">
            <a:avLst/>
          </a:prstGeom>
          <a:ln w="2540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3" name="Lane 2 step 2"/>
          <p:cNvSpPr/>
          <p:nvPr/>
        </p:nvSpPr>
        <p:spPr>
          <a:xfrm>
            <a:off x="2386584" y="3429000"/>
            <a:ext cx="1691640" cy="713232"/>
          </a:xfrm>
          <a:prstGeom prst="roundRect">
            <a:avLst>
              <a:gd name="adj" fmla="val 12820"/>
            </a:avLst>
          </a:prstGeom>
          <a:solidFill>
            <a:srgbClr val="F3F4F6"/>
          </a:solidFill>
          <a:ln>
            <a:noFill/>
          </a:ln>
        </p:spPr>
        <p:txBody>
          <a:bodyPr rtlCol="0" anchor="ctr" lIns="54864" tIns="27432" rIns="54864" bIns="27432" wrap="square"/>
          <a:lstStyle/>
          <a:p>
            <a:pPr algn="ctr"/>
            <a:r>
              <a:rPr sz="1400" b="0" i="0">
                <a:solidFill>
                  <a:srgbClr val="222222"/>
                </a:solidFill>
                <a:latin typeface="Ember Modern Display Standard"/>
              </a:rPr>
              <a:t>quick filter</a:t>
            </a:r>
            <a:endParaRPr sz="1400"/>
          </a:p>
        </p:txBody>
      </p:sp>
      <p:cxnSp>
        <p:nvCxnSpPr>
          <p:cNvPr id="284" name="Lane 2 arrow 2"/>
          <p:cNvCxnSpPr/>
          <p:nvPr/>
        </p:nvCxnSpPr>
        <p:spPr>
          <a:xfrm>
            <a:off x="4105656" y="3785616"/>
            <a:ext cx="228600" cy="0"/>
          </a:xfrm>
          <a:prstGeom prst="line">
            <a:avLst/>
          </a:prstGeom>
          <a:ln w="2540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5" name="Lane 2 step 3"/>
          <p:cNvSpPr/>
          <p:nvPr/>
        </p:nvSpPr>
        <p:spPr>
          <a:xfrm>
            <a:off x="4361688" y="3429000"/>
            <a:ext cx="1691640" cy="713232"/>
          </a:xfrm>
          <a:prstGeom prst="roundRect">
            <a:avLst>
              <a:gd name="adj" fmla="val 12820"/>
            </a:avLst>
          </a:prstGeom>
          <a:solidFill>
            <a:srgbClr val="F3F4F6"/>
          </a:solidFill>
          <a:ln>
            <a:noFill/>
          </a:ln>
        </p:spPr>
        <p:txBody>
          <a:bodyPr rtlCol="0" anchor="ctr" lIns="54864" tIns="27432" rIns="54864" bIns="27432" wrap="square"/>
          <a:lstStyle/>
          <a:p>
            <a:pPr algn="ctr"/>
            <a:r>
              <a:rPr sz="1400" b="0" i="0">
                <a:solidFill>
                  <a:srgbClr val="222222"/>
                </a:solidFill>
                <a:latin typeface="Ember Modern Display Standard"/>
              </a:rPr>
              <a:t>scoring model</a:t>
            </a:r>
            <a:endParaRPr sz="1400"/>
          </a:p>
        </p:txBody>
      </p:sp>
      <p:cxnSp>
        <p:nvCxnSpPr>
          <p:cNvPr id="286" name="Lane 2 arrow 3"/>
          <p:cNvCxnSpPr/>
          <p:nvPr/>
        </p:nvCxnSpPr>
        <p:spPr>
          <a:xfrm>
            <a:off x="6080760" y="3785616"/>
            <a:ext cx="228600" cy="0"/>
          </a:xfrm>
          <a:prstGeom prst="line">
            <a:avLst/>
          </a:prstGeom>
          <a:ln w="2540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7" name="Lane 2 link"/>
          <p:cNvSpPr/>
          <p:nvPr/>
        </p:nvSpPr>
        <p:spPr>
          <a:xfrm>
            <a:off x="6336792" y="3511296"/>
            <a:ext cx="548640" cy="548640"/>
          </a:xfrm>
          <a:prstGeom prst="ellipse">
            <a:avLst/>
          </a:prstGeom>
          <a:solidFill>
            <a:srgbClr val="FF6200"/>
          </a:solidFill>
          <a:ln>
            <a:noFill/>
          </a:ln>
        </p:spPr>
        <p:txBody>
          <a:bodyPr rtlCol="0" anchor="ctr" lIns="0" tIns="0" rIns="0" bIns="0" wrap="square"/>
          <a:lstStyle/>
          <a:p>
            <a:pPr algn="ctr"/>
            <a:r>
              <a:rPr sz="2000" b="0" i="0">
                <a:solidFill>
                  <a:srgbClr val="FFFFFF"/>
                </a:solidFill>
                <a:latin typeface="Segoe UI Symbol"/>
              </a:rPr>
              <a:t>🔗</a:t>
            </a:r>
            <a:endParaRPr sz="1200"/>
          </a:p>
        </p:txBody>
      </p:sp>
      <p:sp>
        <p:nvSpPr>
          <p:cNvPr id="288" name="Lane 2 big"/>
          <p:cNvSpPr txBox="1"/>
          <p:nvPr/>
        </p:nvSpPr>
        <p:spPr>
          <a:xfrm>
            <a:off x="6812280" y="3200400"/>
            <a:ext cx="1920240" cy="1097280"/>
          </a:xfrm>
          <a:prstGeom prst="rect">
            <a:avLst/>
          </a:prstGeom>
          <a:noFill/>
        </p:spPr>
        <p:txBody>
          <a:bodyPr wrap="square" lIns="0" tIns="0" rIns="0" bIns="0" anchor="ctr">
            <a:spAutoFit/>
          </a:bodyPr>
          <a:lstStyle/>
          <a:p>
            <a:pPr algn="r">
              <a:lnSpc>
                <a:spcPct val="90000"/>
              </a:lnSpc>
            </a:pPr>
            <a:r>
              <a:rPr sz="4400" b="1" i="0">
                <a:solidFill>
                  <a:srgbClr val="FF6200"/>
                </a:solidFill>
                <a:latin typeface="Ember Modern Display Standard"/>
              </a:rPr>
              <a:t>+3,137</a:t>
            </a:r>
            <a:endParaRPr sz="4400"/>
          </a:p>
          <a:p>
            <a:pPr algn="r"/>
            <a:r>
              <a:rPr sz="1500" b="0" i="0">
                <a:solidFill>
                  <a:srgbClr val="222222"/>
                </a:solidFill>
                <a:latin typeface="Ember Modern Display Standard"/>
              </a:rPr>
              <a:t>links</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France: Zero</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Labels</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Ember Modern Display Standard"/>
              </a:rPr>
              <a:t>With no French labels, our readers taught themselves, and rules computed by code add caution.</a:t>
            </a:r>
            <a:endParaRPr sz="1600"/>
          </a:p>
        </p:txBody>
      </p:sp>
      <p:sp>
        <p:nvSpPr>
          <p:cNvPr id="268" name="Loop box 1"/>
          <p:cNvSpPr/>
          <p:nvPr/>
        </p:nvSpPr>
        <p:spPr>
          <a:xfrm>
            <a:off x="457200" y="1636776"/>
            <a:ext cx="2194560" cy="914400"/>
          </a:xfrm>
          <a:prstGeom prst="roundRect">
            <a:avLst>
              <a:gd name="adj" fmla="val 10000"/>
            </a:avLst>
          </a:prstGeom>
          <a:solidFill>
            <a:srgbClr val="161D26"/>
          </a:solidFill>
          <a:ln>
            <a:noFill/>
          </a:ln>
        </p:spPr>
        <p:txBody>
          <a:bodyPr rtlCol="0" anchor="ctr" wrap="square"/>
          <a:lstStyle/>
          <a:p>
            <a:pPr algn="ctr"/>
            <a:r>
              <a:rPr sz="1500" b="1" i="0">
                <a:solidFill>
                  <a:srgbClr val="FFFFFF"/>
                </a:solidFill>
                <a:latin typeface="Ember Modern Display Standard"/>
              </a:rPr>
              <a:t>Readers score French pairs</a:t>
            </a:r>
            <a:endParaRPr sz="1500"/>
          </a:p>
        </p:txBody>
      </p:sp>
      <p:sp>
        <p:nvSpPr>
          <p:cNvPr id="269" name="Loop box 2"/>
          <p:cNvSpPr/>
          <p:nvPr/>
        </p:nvSpPr>
        <p:spPr>
          <a:xfrm>
            <a:off x="3246120" y="1636776"/>
            <a:ext cx="2194560" cy="914400"/>
          </a:xfrm>
          <a:prstGeom prst="roundRect">
            <a:avLst>
              <a:gd name="adj" fmla="val 10000"/>
            </a:avLst>
          </a:prstGeom>
          <a:solidFill>
            <a:srgbClr val="F3F4F6"/>
          </a:solidFill>
          <a:ln>
            <a:noFill/>
          </a:ln>
        </p:spPr>
        <p:txBody>
          <a:bodyPr rtlCol="0" anchor="ctr" wrap="square"/>
          <a:lstStyle/>
          <a:p>
            <a:pPr algn="ctr"/>
            <a:r>
              <a:rPr sz="1500" b="0" i="0">
                <a:solidFill>
                  <a:srgbClr val="222222"/>
                </a:solidFill>
                <a:latin typeface="Ember Modern Display Standard"/>
              </a:rPr>
              <a:t>Keep only very sure pairs (match or no match)</a:t>
            </a:r>
            <a:endParaRPr sz="1500"/>
          </a:p>
        </p:txBody>
      </p:sp>
      <p:sp>
        <p:nvSpPr>
          <p:cNvPr id="270" name="Loop box 3"/>
          <p:cNvSpPr/>
          <p:nvPr/>
        </p:nvSpPr>
        <p:spPr>
          <a:xfrm>
            <a:off x="3246120" y="3840480"/>
            <a:ext cx="2194560" cy="914400"/>
          </a:xfrm>
          <a:prstGeom prst="roundRect">
            <a:avLst>
              <a:gd name="adj" fmla="val 10000"/>
            </a:avLst>
          </a:prstGeom>
          <a:solidFill>
            <a:srgbClr val="F3F4F6"/>
          </a:solidFill>
          <a:ln>
            <a:noFill/>
          </a:ln>
        </p:spPr>
        <p:txBody>
          <a:bodyPr rtlCol="0" anchor="ctr" wrap="square"/>
          <a:lstStyle/>
          <a:p>
            <a:pPr algn="ctr"/>
            <a:r>
              <a:rPr sz="1500" b="0" i="0">
                <a:solidFill>
                  <a:srgbClr val="222222"/>
                </a:solidFill>
                <a:latin typeface="Ember Modern Display Standard"/>
              </a:rPr>
              <a:t>Mix 1 : 1 with labelled US + India pairs</a:t>
            </a:r>
            <a:endParaRPr sz="1500"/>
          </a:p>
        </p:txBody>
      </p:sp>
      <p:sp>
        <p:nvSpPr>
          <p:cNvPr id="271" name="Loop box 4"/>
          <p:cNvSpPr/>
          <p:nvPr/>
        </p:nvSpPr>
        <p:spPr>
          <a:xfrm>
            <a:off x="457200" y="3840480"/>
            <a:ext cx="2194560" cy="914400"/>
          </a:xfrm>
          <a:prstGeom prst="roundRect">
            <a:avLst>
              <a:gd name="adj" fmla="val 10000"/>
            </a:avLst>
          </a:prstGeom>
          <a:solidFill>
            <a:srgbClr val="161D26"/>
          </a:solidFill>
          <a:ln>
            <a:noFill/>
          </a:ln>
        </p:spPr>
        <p:txBody>
          <a:bodyPr rtlCol="0" anchor="ctr" wrap="square"/>
          <a:lstStyle/>
          <a:p>
            <a:pPr algn="ctr"/>
            <a:r>
              <a:rPr sz="1500" b="1" i="0">
                <a:solidFill>
                  <a:srgbClr val="FFFFFF"/>
                </a:solidFill>
                <a:latin typeface="Ember Modern Display Standard"/>
              </a:rPr>
              <a:t>Fine-tune French readers</a:t>
            </a:r>
            <a:endParaRPr sz="1500"/>
          </a:p>
        </p:txBody>
      </p:sp>
      <p:cxnSp>
        <p:nvCxnSpPr>
          <p:cNvPr id="272" name="Loop 1-2"/>
          <p:cNvCxnSpPr/>
          <p:nvPr/>
        </p:nvCxnSpPr>
        <p:spPr>
          <a:xfrm>
            <a:off x="2706624" y="2093976"/>
            <a:ext cx="484632" cy="0"/>
          </a:xfrm>
          <a:prstGeom prst="line">
            <a:avLst/>
          </a:prstGeom>
          <a:ln w="31750">
            <a:solidFill>
              <a:srgbClr val="FF62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3" name="Loop 2-3"/>
          <p:cNvCxnSpPr/>
          <p:nvPr/>
        </p:nvCxnSpPr>
        <p:spPr>
          <a:xfrm>
            <a:off x="4343400" y="2606040"/>
            <a:ext cx="0" cy="1179576"/>
          </a:xfrm>
          <a:prstGeom prst="line">
            <a:avLst/>
          </a:prstGeom>
          <a:ln w="31750">
            <a:solidFill>
              <a:srgbClr val="FF62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4" name="Loop 3-4"/>
          <p:cNvCxnSpPr/>
          <p:nvPr/>
        </p:nvCxnSpPr>
        <p:spPr>
          <a:xfrm flipH="1">
            <a:off x="2706624" y="4297680"/>
            <a:ext cx="484632" cy="0"/>
          </a:xfrm>
          <a:prstGeom prst="line">
            <a:avLst/>
          </a:prstGeom>
          <a:ln w="31750">
            <a:solidFill>
              <a:srgbClr val="FF62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5" name="Loop 4-1"/>
          <p:cNvCxnSpPr/>
          <p:nvPr/>
        </p:nvCxnSpPr>
        <p:spPr>
          <a:xfrm flipV="1">
            <a:off x="1554480" y="2606040"/>
            <a:ext cx="0" cy="1179576"/>
          </a:xfrm>
          <a:prstGeom prst="line">
            <a:avLst/>
          </a:prstGeom>
          <a:ln w="31750">
            <a:solidFill>
              <a:srgbClr val="FF6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6" name="Big 97"/>
          <p:cNvSpPr txBox="1"/>
          <p:nvPr/>
        </p:nvSpPr>
        <p:spPr>
          <a:xfrm>
            <a:off x="1645920" y="2624328"/>
            <a:ext cx="2697480" cy="1143000"/>
          </a:xfrm>
          <a:prstGeom prst="rect">
            <a:avLst/>
          </a:prstGeom>
          <a:noFill/>
        </p:spPr>
        <p:txBody>
          <a:bodyPr wrap="square" lIns="0" tIns="0" rIns="0" bIns="0" anchor="ctr">
            <a:spAutoFit/>
          </a:bodyPr>
          <a:lstStyle/>
          <a:p>
            <a:pPr algn="ctr">
              <a:lnSpc>
                <a:spcPct val="90000"/>
              </a:lnSpc>
            </a:pPr>
            <a:r>
              <a:rPr sz="4000" b="1" i="0">
                <a:solidFill>
                  <a:srgbClr val="FF6200"/>
                </a:solidFill>
                <a:latin typeface="Ember Modern Display Standard"/>
              </a:rPr>
              <a:t>≥ 97 %</a:t>
            </a:r>
            <a:endParaRPr sz="4000"/>
          </a:p>
          <a:p>
            <a:pPr algn="ctr"/>
            <a:r>
              <a:rPr sz="1500" b="0" i="0">
                <a:solidFill>
                  <a:srgbClr val="222222"/>
                </a:solidFill>
                <a:latin typeface="Ember Modern Display Standard"/>
              </a:rPr>
              <a:t>sure of a match</a:t>
            </a:r>
            <a:endParaRPr sz="1500"/>
          </a:p>
        </p:txBody>
      </p:sp>
      <p:cxnSp>
        <p:nvCxnSpPr>
          <p:cNvPr id="277" name="Divider"/>
          <p:cNvCxnSpPr/>
          <p:nvPr/>
        </p:nvCxnSpPr>
        <p:spPr>
          <a:xfrm>
            <a:off x="5605272" y="1682496"/>
            <a:ext cx="0" cy="3072384"/>
          </a:xfrm>
          <a:prstGeom prst="line">
            <a:avLst/>
          </a:prstGeom>
          <a:ln w="12700">
            <a:solidFill>
              <a:srgbClr val="C9CDD3"/>
            </a:solidFill>
          </a:ln>
        </p:spPr>
        <p:style>
          <a:lnRef idx="2">
            <a:schemeClr val="accent1"/>
          </a:lnRef>
          <a:fillRef idx="0">
            <a:schemeClr val="accent1"/>
          </a:fillRef>
          <a:effectRef idx="1">
            <a:schemeClr val="accent1"/>
          </a:effectRef>
          <a:fontRef idx="minor">
            <a:schemeClr val="tx1"/>
          </a:fontRef>
        </p:style>
      </p:cxnSp>
      <p:sp>
        <p:nvSpPr>
          <p:cNvPr id="278" name="Rule box"/>
          <p:cNvSpPr/>
          <p:nvPr/>
        </p:nvSpPr>
        <p:spPr>
          <a:xfrm>
            <a:off x="5760720" y="1682496"/>
            <a:ext cx="2971800" cy="2103120"/>
          </a:xfrm>
          <a:prstGeom prst="roundRect">
            <a:avLst>
              <a:gd name="adj" fmla="val 3478"/>
            </a:avLst>
          </a:prstGeom>
          <a:solidFill>
            <a:srgbClr val="FFFFFF"/>
          </a:solidFill>
          <a:ln w="15875">
            <a:solidFill>
              <a:srgbClr val="161D26"/>
            </a:solidFill>
          </a:ln>
        </p:spPr>
        <p:txBody>
          <a:bodyPr rtlCol="0" anchor="t" lIns="128016" tIns="73152" bIns="54864" wrap="square"/>
          <a:lstStyle/>
          <a:p>
            <a:pPr algn="l">
              <a:spcAft>
                <a:spcPts val="300"/>
              </a:spcAft>
            </a:pPr>
            <a:r>
              <a:rPr sz="1500" b="0" i="0">
                <a:solidFill>
                  <a:srgbClr val="161D26"/>
                </a:solidFill>
                <a:latin typeface="Segoe UI Symbol"/>
              </a:rPr>
              <a:t>☑  </a:t>
            </a:r>
            <a:r>
              <a:rPr sz="1500" b="1" i="0">
                <a:solidFill>
                  <a:srgbClr val="222222"/>
                </a:solidFill>
                <a:latin typeface="Ember Modern Display Standard"/>
              </a:rPr>
              <a:t>France rules</a:t>
            </a:r>
            <a:r>
              <a:rPr sz="1500" b="0" i="0">
                <a:solidFill>
                  <a:srgbClr val="5A6270"/>
                </a:solidFill>
                <a:latin typeface="Ember Modern Display Standard"/>
              </a:rPr>
              <a:t>  computed by code</a:t>
            </a:r>
            <a:endParaRPr sz="1500"/>
          </a:p>
          <a:p>
            <a:pPr algn="l"/>
            <a:r>
              <a:rPr sz="1400" b="0" i="0">
                <a:solidFill>
                  <a:srgbClr val="222222"/>
                </a:solidFill>
                <a:latin typeface="Ember Modern Display Standard"/>
              </a:rPr>
              <a:t>Same address, one name word swapped for a common word</a:t>
            </a:r>
            <a:endParaRPr sz="1400"/>
          </a:p>
          <a:p>
            <a:pPr algn="l">
              <a:spcAft>
                <a:spcPts val="500"/>
              </a:spcAft>
            </a:pPr>
            <a:r>
              <a:rPr sz="1400" b="1" i="0">
                <a:solidFill>
                  <a:srgbClr val="C24E00"/>
                </a:solidFill>
                <a:latin typeface="Ember Modern Display Standard"/>
              </a:rPr>
              <a:t>→ no link</a:t>
            </a:r>
            <a:endParaRPr sz="1400"/>
          </a:p>
          <a:p>
            <a:pPr algn="l"/>
            <a:r>
              <a:rPr sz="1400" b="0" i="0">
                <a:solidFill>
                  <a:srgbClr val="222222"/>
                </a:solidFill>
                <a:latin typeface="Ember Modern Display Standard"/>
              </a:rPr>
              <a:t>Business’s street missing from the record’s address</a:t>
            </a:r>
            <a:endParaRPr sz="1400"/>
          </a:p>
          <a:p>
            <a:pPr algn="l"/>
            <a:r>
              <a:rPr sz="1400" b="1" i="0">
                <a:solidFill>
                  <a:srgbClr val="C24E00"/>
                </a:solidFill>
                <a:latin typeface="Ember Modern Display Standard"/>
              </a:rPr>
              <a:t>→ no link</a:t>
            </a:r>
            <a:endParaRPr sz="1400"/>
          </a:p>
        </p:txBody>
      </p:sp>
      <p:sp>
        <p:nvSpPr>
          <p:cNvPr id="279" name="Stricter chip"/>
          <p:cNvSpPr/>
          <p:nvPr/>
        </p:nvSpPr>
        <p:spPr>
          <a:xfrm>
            <a:off x="5760720" y="3931920"/>
            <a:ext cx="2971800" cy="457200"/>
          </a:xfrm>
          <a:prstGeom prst="roundRect">
            <a:avLst>
              <a:gd name="adj" fmla="val 46000"/>
            </a:avLst>
          </a:prstGeom>
          <a:solidFill>
            <a:srgbClr val="FFEBDD"/>
          </a:solidFill>
          <a:ln w="15875">
            <a:solidFill>
              <a:srgbClr val="FF6200"/>
            </a:solidFill>
          </a:ln>
        </p:spPr>
        <p:txBody>
          <a:bodyPr rtlCol="0" anchor="ctr" wrap="square"/>
          <a:lstStyle/>
          <a:p>
            <a:pPr algn="ctr"/>
            <a:r>
              <a:rPr sz="1500" b="1" i="0">
                <a:solidFill>
                  <a:srgbClr val="222222"/>
                </a:solidFill>
                <a:latin typeface="Ember Modern Display Standard"/>
              </a:rPr>
              <a:t>Stricter bar: 0.82 instead of 0.75</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Training and</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Selection</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Ember Modern Display Standard"/>
              </a:rPr>
              <a:t>We tested changes on businesses the models had never seen.</a:t>
            </a:r>
            <a:endParaRPr sz="1600"/>
          </a:p>
        </p:txBody>
      </p:sp>
      <p:sp>
        <p:nvSpPr>
          <p:cNvPr id="268" name="Big 10 folds"/>
          <p:cNvSpPr txBox="1"/>
          <p:nvPr/>
        </p:nvSpPr>
        <p:spPr>
          <a:xfrm>
            <a:off x="411480" y="1682496"/>
            <a:ext cx="1325880" cy="1097280"/>
          </a:xfrm>
          <a:prstGeom prst="rect">
            <a:avLst/>
          </a:prstGeom>
          <a:noFill/>
        </p:spPr>
        <p:txBody>
          <a:bodyPr wrap="square" lIns="0" tIns="0" rIns="0" bIns="0" anchor="ctr">
            <a:spAutoFit/>
          </a:bodyPr>
          <a:lstStyle/>
          <a:p>
            <a:pPr algn="ctr">
              <a:lnSpc>
                <a:spcPct val="90000"/>
              </a:lnSpc>
            </a:pPr>
            <a:r>
              <a:rPr sz="5400" b="1" i="0">
                <a:solidFill>
                  <a:srgbClr val="FF6200"/>
                </a:solidFill>
                <a:latin typeface="Ember Modern Display Standard"/>
              </a:rPr>
              <a:t>10</a:t>
            </a:r>
            <a:endParaRPr sz="5400"/>
          </a:p>
          <a:p>
            <a:pPr algn="ctr"/>
            <a:r>
              <a:rPr sz="1500" b="0" i="0">
                <a:solidFill>
                  <a:srgbClr val="222222"/>
                </a:solidFill>
                <a:latin typeface="Ember Modern Display Standard"/>
              </a:rPr>
              <a:t>folds</a:t>
            </a:r>
            <a:endParaRPr sz="1500"/>
          </a:p>
        </p:txBody>
      </p:sp>
      <p:sp>
        <p:nvSpPr>
          <p:cNvPr id="269" name="Folds caption"/>
          <p:cNvSpPr txBox="1"/>
          <p:nvPr/>
        </p:nvSpPr>
        <p:spPr>
          <a:xfrm>
            <a:off x="1920240" y="1591056"/>
            <a:ext cx="6812280" cy="274320"/>
          </a:xfrm>
          <a:prstGeom prst="rect">
            <a:avLst/>
          </a:prstGeom>
          <a:noFill/>
        </p:spPr>
        <p:txBody>
          <a:bodyPr wrap="square" lIns="0" tIns="0" rIns="0" bIns="0" anchor="t">
            <a:spAutoFit/>
          </a:bodyPr>
          <a:lstStyle/>
          <a:p>
            <a:pPr algn="l"/>
            <a:r>
              <a:rPr sz="1400" b="0" i="0">
                <a:solidFill>
                  <a:srgbClr val="5A6270"/>
                </a:solidFill>
                <a:latin typeface="Ember Modern Display Standard"/>
              </a:rPr>
              <a:t>Businesses split into 10 folds (each business’s records stay together)</a:t>
            </a:r>
            <a:endParaRPr sz="1400"/>
          </a:p>
        </p:txBody>
      </p:sp>
      <p:sp>
        <p:nvSpPr>
          <p:cNvPr id="270" name="Fold 0"/>
          <p:cNvSpPr/>
          <p:nvPr/>
        </p:nvSpPr>
        <p:spPr>
          <a:xfrm>
            <a:off x="1920240" y="1956816"/>
            <a:ext cx="603504" cy="512064"/>
          </a:xfrm>
          <a:prstGeom prst="roundRect">
            <a:avLst>
              <a:gd name="adj" fmla="val 10714"/>
            </a:avLst>
          </a:prstGeom>
          <a:solidFill>
            <a:srgbClr val="161D26"/>
          </a:solidFill>
          <a:ln>
            <a:noFill/>
          </a:ln>
        </p:spPr>
        <p:txBody>
          <a:bodyPr rtlCol="0" anchor="ctr" lIns="0" tIns="0" rIns="0" bIns="0" wrap="square"/>
          <a:lstStyle/>
          <a:p>
            <a:pPr algn="ctr"/>
            <a:r>
              <a:rPr sz="1800" b="1" i="0">
                <a:solidFill>
                  <a:srgbClr val="FFFFFF"/>
                </a:solidFill>
                <a:latin typeface="Ember Modern Display Standard"/>
              </a:rPr>
              <a:t>0</a:t>
            </a:r>
            <a:endParaRPr sz="1800"/>
          </a:p>
        </p:txBody>
      </p:sp>
      <p:sp>
        <p:nvSpPr>
          <p:cNvPr id="271" name="Fold 1"/>
          <p:cNvSpPr/>
          <p:nvPr/>
        </p:nvSpPr>
        <p:spPr>
          <a:xfrm>
            <a:off x="2606040" y="1956816"/>
            <a:ext cx="603504" cy="512064"/>
          </a:xfrm>
          <a:prstGeom prst="roundRect">
            <a:avLst>
              <a:gd name="adj" fmla="val 10714"/>
            </a:avLst>
          </a:prstGeom>
          <a:solidFill>
            <a:srgbClr val="161D26"/>
          </a:solidFill>
          <a:ln>
            <a:noFill/>
          </a:ln>
        </p:spPr>
        <p:txBody>
          <a:bodyPr rtlCol="0" anchor="ctr" lIns="0" tIns="0" rIns="0" bIns="0" wrap="square"/>
          <a:lstStyle/>
          <a:p>
            <a:pPr algn="ctr"/>
            <a:r>
              <a:rPr sz="1800" b="1" i="0">
                <a:solidFill>
                  <a:srgbClr val="FFFFFF"/>
                </a:solidFill>
                <a:latin typeface="Ember Modern Display Standard"/>
              </a:rPr>
              <a:t>1</a:t>
            </a:r>
            <a:endParaRPr sz="1800"/>
          </a:p>
        </p:txBody>
      </p:sp>
      <p:sp>
        <p:nvSpPr>
          <p:cNvPr id="272" name="Fold 2"/>
          <p:cNvSpPr/>
          <p:nvPr/>
        </p:nvSpPr>
        <p:spPr>
          <a:xfrm>
            <a:off x="3291840" y="1956816"/>
            <a:ext cx="603504" cy="512064"/>
          </a:xfrm>
          <a:prstGeom prst="roundRect">
            <a:avLst>
              <a:gd name="adj" fmla="val 10714"/>
            </a:avLst>
          </a:prstGeom>
          <a:solidFill>
            <a:srgbClr val="161D26"/>
          </a:solidFill>
          <a:ln>
            <a:noFill/>
          </a:ln>
        </p:spPr>
        <p:txBody>
          <a:bodyPr rtlCol="0" anchor="ctr" lIns="0" tIns="0" rIns="0" bIns="0" wrap="square"/>
          <a:lstStyle/>
          <a:p>
            <a:pPr algn="ctr"/>
            <a:r>
              <a:rPr sz="1800" b="1" i="0">
                <a:solidFill>
                  <a:srgbClr val="FFFFFF"/>
                </a:solidFill>
                <a:latin typeface="Ember Modern Display Standard"/>
              </a:rPr>
              <a:t>2</a:t>
            </a:r>
            <a:endParaRPr sz="1800"/>
          </a:p>
        </p:txBody>
      </p:sp>
      <p:sp>
        <p:nvSpPr>
          <p:cNvPr id="273" name="Fold 3"/>
          <p:cNvSpPr/>
          <p:nvPr/>
        </p:nvSpPr>
        <p:spPr>
          <a:xfrm>
            <a:off x="3977640" y="1956816"/>
            <a:ext cx="603504" cy="512064"/>
          </a:xfrm>
          <a:prstGeom prst="roundRect">
            <a:avLst>
              <a:gd name="adj" fmla="val 10714"/>
            </a:avLst>
          </a:prstGeom>
          <a:solidFill>
            <a:srgbClr val="161D26"/>
          </a:solidFill>
          <a:ln>
            <a:noFill/>
          </a:ln>
        </p:spPr>
        <p:txBody>
          <a:bodyPr rtlCol="0" anchor="ctr" lIns="0" tIns="0" rIns="0" bIns="0" wrap="square"/>
          <a:lstStyle/>
          <a:p>
            <a:pPr algn="ctr"/>
            <a:r>
              <a:rPr sz="1800" b="1" i="0">
                <a:solidFill>
                  <a:srgbClr val="FFFFFF"/>
                </a:solidFill>
                <a:latin typeface="Ember Modern Display Standard"/>
              </a:rPr>
              <a:t>3</a:t>
            </a:r>
            <a:endParaRPr sz="1800"/>
          </a:p>
        </p:txBody>
      </p:sp>
      <p:sp>
        <p:nvSpPr>
          <p:cNvPr id="274" name="Fold 4"/>
          <p:cNvSpPr/>
          <p:nvPr/>
        </p:nvSpPr>
        <p:spPr>
          <a:xfrm>
            <a:off x="4663440" y="1956816"/>
            <a:ext cx="603504" cy="512064"/>
          </a:xfrm>
          <a:prstGeom prst="roundRect">
            <a:avLst>
              <a:gd name="adj" fmla="val 10714"/>
            </a:avLst>
          </a:prstGeom>
          <a:solidFill>
            <a:srgbClr val="161D26"/>
          </a:solidFill>
          <a:ln>
            <a:noFill/>
          </a:ln>
        </p:spPr>
        <p:txBody>
          <a:bodyPr rtlCol="0" anchor="ctr" lIns="0" tIns="0" rIns="0" bIns="0" wrap="square"/>
          <a:lstStyle/>
          <a:p>
            <a:pPr algn="ctr"/>
            <a:r>
              <a:rPr sz="1800" b="1" i="0">
                <a:solidFill>
                  <a:srgbClr val="FFFFFF"/>
                </a:solidFill>
                <a:latin typeface="Ember Modern Display Standard"/>
              </a:rPr>
              <a:t>4</a:t>
            </a:r>
            <a:endParaRPr sz="1800"/>
          </a:p>
        </p:txBody>
      </p:sp>
      <p:sp>
        <p:nvSpPr>
          <p:cNvPr id="275" name="Fold 5"/>
          <p:cNvSpPr/>
          <p:nvPr/>
        </p:nvSpPr>
        <p:spPr>
          <a:xfrm>
            <a:off x="5349240" y="1956816"/>
            <a:ext cx="603504" cy="512064"/>
          </a:xfrm>
          <a:prstGeom prst="roundRect">
            <a:avLst>
              <a:gd name="adj" fmla="val 10714"/>
            </a:avLst>
          </a:prstGeom>
          <a:solidFill>
            <a:srgbClr val="161D26"/>
          </a:solidFill>
          <a:ln>
            <a:noFill/>
          </a:ln>
        </p:spPr>
        <p:txBody>
          <a:bodyPr rtlCol="0" anchor="ctr" lIns="0" tIns="0" rIns="0" bIns="0" wrap="square"/>
          <a:lstStyle/>
          <a:p>
            <a:pPr algn="ctr"/>
            <a:r>
              <a:rPr sz="1800" b="1" i="0">
                <a:solidFill>
                  <a:srgbClr val="FFFFFF"/>
                </a:solidFill>
                <a:latin typeface="Ember Modern Display Standard"/>
              </a:rPr>
              <a:t>5</a:t>
            </a:r>
            <a:endParaRPr sz="1800"/>
          </a:p>
        </p:txBody>
      </p:sp>
      <p:sp>
        <p:nvSpPr>
          <p:cNvPr id="276" name="Fold 6"/>
          <p:cNvSpPr/>
          <p:nvPr/>
        </p:nvSpPr>
        <p:spPr>
          <a:xfrm>
            <a:off x="6035040" y="1956816"/>
            <a:ext cx="603504" cy="512064"/>
          </a:xfrm>
          <a:prstGeom prst="roundRect">
            <a:avLst>
              <a:gd name="adj" fmla="val 10714"/>
            </a:avLst>
          </a:prstGeom>
          <a:solidFill>
            <a:srgbClr val="293440"/>
          </a:solidFill>
          <a:ln>
            <a:noFill/>
          </a:ln>
        </p:spPr>
        <p:txBody>
          <a:bodyPr rtlCol="0" anchor="ctr" lIns="0" tIns="0" rIns="0" bIns="0" wrap="square"/>
          <a:lstStyle/>
          <a:p>
            <a:pPr algn="ctr"/>
            <a:r>
              <a:rPr sz="1800" b="1" i="0">
                <a:solidFill>
                  <a:srgbClr val="FFFFFF"/>
                </a:solidFill>
                <a:latin typeface="Ember Modern Display Standard"/>
              </a:rPr>
              <a:t>6</a:t>
            </a:r>
            <a:endParaRPr sz="1800"/>
          </a:p>
        </p:txBody>
      </p:sp>
      <p:sp>
        <p:nvSpPr>
          <p:cNvPr id="277" name="Fold 7"/>
          <p:cNvSpPr/>
          <p:nvPr/>
        </p:nvSpPr>
        <p:spPr>
          <a:xfrm>
            <a:off x="6720840" y="1956816"/>
            <a:ext cx="603504" cy="512064"/>
          </a:xfrm>
          <a:prstGeom prst="roundRect">
            <a:avLst>
              <a:gd name="adj" fmla="val 10714"/>
            </a:avLst>
          </a:prstGeom>
          <a:solidFill>
            <a:srgbClr val="293440"/>
          </a:solidFill>
          <a:ln>
            <a:noFill/>
          </a:ln>
        </p:spPr>
        <p:txBody>
          <a:bodyPr rtlCol="0" anchor="ctr" lIns="0" tIns="0" rIns="0" bIns="0" wrap="square"/>
          <a:lstStyle/>
          <a:p>
            <a:pPr algn="ctr"/>
            <a:r>
              <a:rPr sz="1800" b="1" i="0">
                <a:solidFill>
                  <a:srgbClr val="FFFFFF"/>
                </a:solidFill>
                <a:latin typeface="Ember Modern Display Standard"/>
              </a:rPr>
              <a:t>7</a:t>
            </a:r>
            <a:endParaRPr sz="1800"/>
          </a:p>
        </p:txBody>
      </p:sp>
      <p:sp>
        <p:nvSpPr>
          <p:cNvPr id="278" name="Fold 8"/>
          <p:cNvSpPr/>
          <p:nvPr/>
        </p:nvSpPr>
        <p:spPr>
          <a:xfrm>
            <a:off x="7406640" y="1956816"/>
            <a:ext cx="603504" cy="512064"/>
          </a:xfrm>
          <a:prstGeom prst="roundRect">
            <a:avLst>
              <a:gd name="adj" fmla="val 10714"/>
            </a:avLst>
          </a:prstGeom>
          <a:solidFill>
            <a:srgbClr val="293440"/>
          </a:solidFill>
          <a:ln w="38100">
            <a:solidFill>
              <a:srgbClr val="FF6200"/>
            </a:solidFill>
          </a:ln>
        </p:spPr>
        <p:txBody>
          <a:bodyPr rtlCol="0" anchor="ctr" lIns="0" tIns="0" rIns="0" bIns="0" wrap="square"/>
          <a:lstStyle/>
          <a:p>
            <a:pPr algn="ctr"/>
            <a:r>
              <a:rPr sz="1800" b="1" i="0">
                <a:solidFill>
                  <a:srgbClr val="FFFFFF"/>
                </a:solidFill>
                <a:latin typeface="Ember Modern Display Standard"/>
              </a:rPr>
              <a:t>8</a:t>
            </a:r>
            <a:endParaRPr sz="1800"/>
          </a:p>
        </p:txBody>
      </p:sp>
      <p:sp>
        <p:nvSpPr>
          <p:cNvPr id="279" name="Fold 9"/>
          <p:cNvSpPr/>
          <p:nvPr/>
        </p:nvSpPr>
        <p:spPr>
          <a:xfrm>
            <a:off x="8092440" y="1956816"/>
            <a:ext cx="603504" cy="512064"/>
          </a:xfrm>
          <a:prstGeom prst="roundRect">
            <a:avLst>
              <a:gd name="adj" fmla="val 10714"/>
            </a:avLst>
          </a:prstGeom>
          <a:solidFill>
            <a:srgbClr val="293440"/>
          </a:solidFill>
          <a:ln w="38100">
            <a:solidFill>
              <a:srgbClr val="FF6200"/>
            </a:solidFill>
          </a:ln>
        </p:spPr>
        <p:txBody>
          <a:bodyPr rtlCol="0" anchor="ctr" lIns="0" tIns="0" rIns="0" bIns="0" wrap="square"/>
          <a:lstStyle/>
          <a:p>
            <a:pPr algn="ctr"/>
            <a:r>
              <a:rPr sz="1800" b="1" i="0">
                <a:solidFill>
                  <a:srgbClr val="FFFFFF"/>
                </a:solidFill>
                <a:latin typeface="Ember Modern Display Standard"/>
              </a:rPr>
              <a:t>9</a:t>
            </a:r>
            <a:endParaRPr sz="1800"/>
          </a:p>
        </p:txBody>
      </p:sp>
      <p:cxnSp>
        <p:nvCxnSpPr>
          <p:cNvPr id="280" name="Bracket 0-5"/>
          <p:cNvCxnSpPr/>
          <p:nvPr/>
        </p:nvCxnSpPr>
        <p:spPr>
          <a:xfrm>
            <a:off x="1920240" y="2560320"/>
            <a:ext cx="4032504" cy="0"/>
          </a:xfrm>
          <a:prstGeom prst="line">
            <a:avLst/>
          </a:prstGeom>
          <a:ln w="19050">
            <a:solidFill>
              <a:srgbClr val="161D26"/>
            </a:solidFill>
          </a:ln>
        </p:spPr>
        <p:style>
          <a:lnRef idx="2">
            <a:schemeClr val="accent1"/>
          </a:lnRef>
          <a:fillRef idx="0">
            <a:schemeClr val="accent1"/>
          </a:fillRef>
          <a:effectRef idx="1">
            <a:schemeClr val="accent1"/>
          </a:effectRef>
          <a:fontRef idx="minor">
            <a:schemeClr val="tx1"/>
          </a:fontRef>
        </p:style>
      </p:cxnSp>
      <p:sp>
        <p:nvSpPr>
          <p:cNvPr id="281" name="Bracket 0-5 label"/>
          <p:cNvSpPr txBox="1"/>
          <p:nvPr/>
        </p:nvSpPr>
        <p:spPr>
          <a:xfrm>
            <a:off x="1920240" y="2596896"/>
            <a:ext cx="4032504" cy="274320"/>
          </a:xfrm>
          <a:prstGeom prst="rect">
            <a:avLst/>
          </a:prstGeom>
          <a:noFill/>
        </p:spPr>
        <p:txBody>
          <a:bodyPr wrap="square" lIns="0" tIns="0" rIns="0" bIns="0" anchor="t">
            <a:spAutoFit/>
          </a:bodyPr>
          <a:lstStyle/>
          <a:p>
            <a:pPr algn="ctr"/>
            <a:r>
              <a:rPr sz="1400" b="0" i="0">
                <a:solidFill>
                  <a:srgbClr val="222222"/>
                </a:solidFill>
                <a:latin typeface="Ember Modern Display Standard"/>
              </a:rPr>
              <a:t>train ranker + readers</a:t>
            </a:r>
            <a:endParaRPr sz="1400"/>
          </a:p>
        </p:txBody>
      </p:sp>
      <p:cxnSp>
        <p:nvCxnSpPr>
          <p:cNvPr id="282" name="Bracket 6-9"/>
          <p:cNvCxnSpPr/>
          <p:nvPr/>
        </p:nvCxnSpPr>
        <p:spPr>
          <a:xfrm>
            <a:off x="6035040" y="2560320"/>
            <a:ext cx="2660904" cy="0"/>
          </a:xfrm>
          <a:prstGeom prst="line">
            <a:avLst/>
          </a:prstGeom>
          <a:ln w="19050">
            <a:solidFill>
              <a:srgbClr val="293440"/>
            </a:solidFill>
          </a:ln>
        </p:spPr>
        <p:style>
          <a:lnRef idx="2">
            <a:schemeClr val="accent1"/>
          </a:lnRef>
          <a:fillRef idx="0">
            <a:schemeClr val="accent1"/>
          </a:fillRef>
          <a:effectRef idx="1">
            <a:schemeClr val="accent1"/>
          </a:effectRef>
          <a:fontRef idx="minor">
            <a:schemeClr val="tx1"/>
          </a:fontRef>
        </p:style>
      </p:cxnSp>
      <p:sp>
        <p:nvSpPr>
          <p:cNvPr id="283" name="Bracket 6-9 label"/>
          <p:cNvSpPr txBox="1"/>
          <p:nvPr/>
        </p:nvSpPr>
        <p:spPr>
          <a:xfrm>
            <a:off x="5943600" y="2596896"/>
            <a:ext cx="2843784" cy="274320"/>
          </a:xfrm>
          <a:prstGeom prst="rect">
            <a:avLst/>
          </a:prstGeom>
          <a:noFill/>
        </p:spPr>
        <p:txBody>
          <a:bodyPr wrap="square" lIns="0" tIns="0" rIns="0" bIns="0" anchor="t">
            <a:spAutoFit/>
          </a:bodyPr>
          <a:lstStyle/>
          <a:p>
            <a:pPr algn="ctr"/>
            <a:r>
              <a:rPr sz="1400" b="0" i="0">
                <a:solidFill>
                  <a:srgbClr val="222222"/>
                </a:solidFill>
                <a:latin typeface="Ember Modern Display Standard"/>
              </a:rPr>
              <a:t>train decision models</a:t>
            </a:r>
            <a:endParaRPr sz="1400"/>
          </a:p>
        </p:txBody>
      </p:sp>
      <p:sp>
        <p:nvSpPr>
          <p:cNvPr id="284" name="Hidden tag"/>
          <p:cNvSpPr txBox="1"/>
          <p:nvPr/>
        </p:nvSpPr>
        <p:spPr>
          <a:xfrm>
            <a:off x="6035040" y="2889504"/>
            <a:ext cx="2697480" cy="274320"/>
          </a:xfrm>
          <a:prstGeom prst="rect">
            <a:avLst/>
          </a:prstGeom>
          <a:noFill/>
        </p:spPr>
        <p:txBody>
          <a:bodyPr wrap="square" lIns="0" tIns="0" rIns="0" bIns="0" anchor="t">
            <a:spAutoFit/>
          </a:bodyPr>
          <a:lstStyle/>
          <a:p>
            <a:pPr algn="r"/>
            <a:r>
              <a:rPr sz="1400" b="1" i="0">
                <a:solidFill>
                  <a:srgbClr val="C24E00"/>
                </a:solidFill>
                <a:latin typeface="Ember Modern Display Standard"/>
              </a:rPr>
              <a:t>orange folds: hidden test, in turn</a:t>
            </a:r>
            <a:endParaRPr sz="1400"/>
          </a:p>
        </p:txBody>
      </p:sp>
      <p:sp>
        <p:nvSpPr>
          <p:cNvPr id="285" name="Gate 1"/>
          <p:cNvSpPr/>
          <p:nvPr/>
        </p:nvSpPr>
        <p:spPr>
          <a:xfrm>
            <a:off x="411480" y="3401568"/>
            <a:ext cx="2743200" cy="658368"/>
          </a:xfrm>
          <a:prstGeom prst="roundRect">
            <a:avLst>
              <a:gd name="adj" fmla="val 13888"/>
            </a:avLst>
          </a:prstGeom>
          <a:solidFill>
            <a:srgbClr val="F3F4F6"/>
          </a:solidFill>
          <a:ln>
            <a:noFill/>
          </a:ln>
        </p:spPr>
        <p:txBody>
          <a:bodyPr rtlCol="0" anchor="ctr" wrap="square"/>
          <a:lstStyle/>
          <a:p>
            <a:pPr algn="ctr"/>
            <a:r>
              <a:rPr sz="1500" b="1" i="0">
                <a:solidFill>
                  <a:srgbClr val="C24E00"/>
                </a:solidFill>
                <a:latin typeface="Ember Modern Display Standard"/>
              </a:rPr>
              <a:t>1  </a:t>
            </a:r>
            <a:r>
              <a:rPr sz="1500" b="0" i="0">
                <a:solidFill>
                  <a:srgbClr val="222222"/>
                </a:solidFill>
                <a:latin typeface="Ember Modern Display Standard"/>
              </a:rPr>
              <a:t>Score it on a hidden fold</a:t>
            </a:r>
            <a:endParaRPr sz="1500"/>
          </a:p>
        </p:txBody>
      </p:sp>
      <p:cxnSp>
        <p:nvCxnSpPr>
          <p:cNvPr id="286" name="Gate arrow 1"/>
          <p:cNvCxnSpPr/>
          <p:nvPr/>
        </p:nvCxnSpPr>
        <p:spPr>
          <a:xfrm>
            <a:off x="3200400" y="3730752"/>
            <a:ext cx="320040" cy="0"/>
          </a:xfrm>
          <a:prstGeom prst="line">
            <a:avLst/>
          </a:prstGeom>
          <a:ln w="3175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7" name="Gate 2"/>
          <p:cNvSpPr/>
          <p:nvPr/>
        </p:nvSpPr>
        <p:spPr>
          <a:xfrm>
            <a:off x="3566160" y="3401568"/>
            <a:ext cx="2743200" cy="658368"/>
          </a:xfrm>
          <a:prstGeom prst="roundRect">
            <a:avLst>
              <a:gd name="adj" fmla="val 13888"/>
            </a:avLst>
          </a:prstGeom>
          <a:solidFill>
            <a:srgbClr val="F3F4F6"/>
          </a:solidFill>
          <a:ln>
            <a:noFill/>
          </a:ln>
        </p:spPr>
        <p:txBody>
          <a:bodyPr rtlCol="0" anchor="ctr" wrap="square"/>
          <a:lstStyle/>
          <a:p>
            <a:pPr algn="ctr"/>
            <a:r>
              <a:rPr sz="1500" b="1" i="0">
                <a:solidFill>
                  <a:srgbClr val="C24E00"/>
                </a:solidFill>
                <a:latin typeface="Ember Modern Display Standard"/>
              </a:rPr>
              <a:t>2  </a:t>
            </a:r>
            <a:r>
              <a:rPr sz="1500" b="0" i="0">
                <a:solidFill>
                  <a:srgbClr val="222222"/>
                </a:solidFill>
                <a:latin typeface="Ember Modern Display Standard"/>
              </a:rPr>
              <a:t>New readers: written checks</a:t>
            </a:r>
            <a:endParaRPr sz="1500"/>
          </a:p>
        </p:txBody>
      </p:sp>
      <p:cxnSp>
        <p:nvCxnSpPr>
          <p:cNvPr id="288" name="Gate arrow 2"/>
          <p:cNvCxnSpPr/>
          <p:nvPr/>
        </p:nvCxnSpPr>
        <p:spPr>
          <a:xfrm>
            <a:off x="6355080" y="3730752"/>
            <a:ext cx="320040" cy="0"/>
          </a:xfrm>
          <a:prstGeom prst="line">
            <a:avLst/>
          </a:prstGeom>
          <a:ln w="31750">
            <a:solidFill>
              <a:srgbClr val="FF6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9" name="Gate keep"/>
          <p:cNvSpPr/>
          <p:nvPr/>
        </p:nvSpPr>
        <p:spPr>
          <a:xfrm>
            <a:off x="6720840" y="3401568"/>
            <a:ext cx="2011680" cy="658368"/>
          </a:xfrm>
          <a:prstGeom prst="roundRect">
            <a:avLst>
              <a:gd name="adj" fmla="val 13888"/>
            </a:avLst>
          </a:prstGeom>
          <a:solidFill>
            <a:srgbClr val="FF6200"/>
          </a:solidFill>
          <a:ln>
            <a:noFill/>
          </a:ln>
        </p:spPr>
        <p:txBody>
          <a:bodyPr rtlCol="0" anchor="ctr" wrap="square"/>
          <a:lstStyle/>
          <a:p>
            <a:pPr algn="ctr"/>
            <a:r>
              <a:rPr sz="2000" b="1" i="0">
                <a:solidFill>
                  <a:srgbClr val="FFFFFF"/>
                </a:solidFill>
                <a:latin typeface="Segoe UI Symbol"/>
              </a:rPr>
              <a:t>✓  </a:t>
            </a:r>
            <a:r>
              <a:rPr sz="2000" b="1" i="0">
                <a:solidFill>
                  <a:srgbClr val="FFFFFF"/>
                </a:solidFill>
                <a:latin typeface="Ember Modern Display Standard"/>
              </a:rPr>
              <a:t>Keep or drop</a:t>
            </a:r>
            <a:endParaRPr sz="2000"/>
          </a:p>
        </p:txBody>
      </p:sp>
      <p:sp>
        <p:nvSpPr>
          <p:cNvPr id="290" name="Honest strip"/>
          <p:cNvSpPr/>
          <p:nvPr/>
        </p:nvSpPr>
        <p:spPr>
          <a:xfrm>
            <a:off x="411480" y="4261104"/>
            <a:ext cx="8321040" cy="475488"/>
          </a:xfrm>
          <a:prstGeom prst="roundRect">
            <a:avLst>
              <a:gd name="adj" fmla="val 11538"/>
            </a:avLst>
          </a:prstGeom>
          <a:solidFill>
            <a:srgbClr val="EEEEEE"/>
          </a:solidFill>
          <a:ln>
            <a:noFill/>
          </a:ln>
        </p:spPr>
        <p:txBody>
          <a:bodyPr rtlCol="0" anchor="ctr" lIns="201168" tIns="36576" rIns="128016" bIns="36576" wrap="square"/>
          <a:lstStyle/>
          <a:p>
            <a:pPr algn="l"/>
            <a:r>
              <a:rPr sz="1500" b="0" i="0">
                <a:solidFill>
                  <a:srgbClr val="222222"/>
                </a:solidFill>
                <a:latin typeface="Ember Modern Display Standard"/>
              </a:rPr>
              <a:t>Some later choices and the final pick also used public-leaderboard scores.</a:t>
            </a:r>
            <a:endParaRPr sz="1500"/>
          </a:p>
        </p:txBody>
      </p:sp>
      <p:sp>
        <p:nvSpPr>
          <p:cNvPr id="291" name="Honest strip accent"/>
          <p:cNvSpPr/>
          <p:nvPr/>
        </p:nvSpPr>
        <p:spPr>
          <a:xfrm>
            <a:off x="411480" y="4261104"/>
            <a:ext cx="64008" cy="475488"/>
          </a:xfrm>
          <a:prstGeom prst="rect">
            <a:avLst/>
          </a:prstGeom>
          <a:solidFill>
            <a:srgbClr val="FF6200"/>
          </a:solidFill>
          <a:ln>
            <a:noFill/>
          </a:ln>
        </p:spPr>
        <p:txBody>
          <a:bodyPr rtlCol="0" anchor="t" lIns="0" tIns="0" rIns="0" bIns="0" wrap="square"/>
          <a:lstStyle/>
          <a:p>
            <a:pPr algn="ct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Handling Edge</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Cases</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Ember Modern Display Standard"/>
              </a:rPr>
              <a:t>Businesses with no records, unseen countries and noisy spellings each get a cautious default.</a:t>
            </a:r>
            <a:endParaRPr sz="1600"/>
          </a:p>
        </p:txBody>
      </p:sp>
      <p:sp>
        <p:nvSpPr>
          <p:cNvPr id="268" name="Edge card 1"/>
          <p:cNvSpPr/>
          <p:nvPr/>
        </p:nvSpPr>
        <p:spPr>
          <a:xfrm>
            <a:off x="411480" y="1636776"/>
            <a:ext cx="2651760" cy="1920240"/>
          </a:xfrm>
          <a:prstGeom prst="roundRect">
            <a:avLst>
              <a:gd name="adj" fmla="val 4761"/>
            </a:avLst>
          </a:prstGeom>
          <a:solidFill>
            <a:srgbClr val="F3F4F6"/>
          </a:solidFill>
          <a:ln>
            <a:noFill/>
          </a:ln>
        </p:spPr>
        <p:txBody>
          <a:bodyPr rtlCol="0" anchor="t" lIns="73152" rIns="73152" wrap="square"/>
          <a:lstStyle/>
          <a:p>
            <a:pPr algn="ctr"/>
          </a:p>
        </p:txBody>
      </p:sp>
      <p:sp>
        <p:nvSpPr>
          <p:cNvPr id="269" name="Edge icon 1"/>
          <p:cNvSpPr/>
          <p:nvPr/>
        </p:nvSpPr>
        <p:spPr>
          <a:xfrm>
            <a:off x="1417320" y="1819656"/>
            <a:ext cx="640080" cy="640080"/>
          </a:xfrm>
          <a:prstGeom prst="ellipse">
            <a:avLst/>
          </a:prstGeom>
          <a:solidFill>
            <a:srgbClr val="161D26"/>
          </a:solidFill>
          <a:ln>
            <a:noFill/>
          </a:ln>
        </p:spPr>
        <p:txBody>
          <a:bodyPr rtlCol="0" anchor="ctr" lIns="0" tIns="0" rIns="0" bIns="0" wrap="square"/>
          <a:lstStyle/>
          <a:p>
            <a:pPr algn="ctr"/>
            <a:r>
              <a:rPr sz="2200" b="0" i="0">
                <a:solidFill>
                  <a:srgbClr val="FFFFFF"/>
                </a:solidFill>
                <a:latin typeface="Segoe UI Symbol"/>
              </a:rPr>
              <a:t>∅</a:t>
            </a:r>
            <a:endParaRPr sz="1200"/>
          </a:p>
        </p:txBody>
      </p:sp>
      <p:sp>
        <p:nvSpPr>
          <p:cNvPr id="270" name="Edge title 1"/>
          <p:cNvSpPr txBox="1"/>
          <p:nvPr/>
        </p:nvSpPr>
        <p:spPr>
          <a:xfrm>
            <a:off x="502920" y="2551176"/>
            <a:ext cx="2468880" cy="365760"/>
          </a:xfrm>
          <a:prstGeom prst="rect">
            <a:avLst/>
          </a:prstGeom>
          <a:noFill/>
        </p:spPr>
        <p:txBody>
          <a:bodyPr wrap="square" lIns="0" tIns="0" rIns="0" bIns="0" anchor="t">
            <a:spAutoFit/>
          </a:bodyPr>
          <a:lstStyle/>
          <a:p>
            <a:pPr algn="ctr"/>
            <a:r>
              <a:rPr sz="1900" b="1" i="0">
                <a:solidFill>
                  <a:srgbClr val="161D26"/>
                </a:solidFill>
                <a:latin typeface="Ember Modern Display Standard"/>
              </a:rPr>
              <a:t>No matching record</a:t>
            </a:r>
            <a:endParaRPr sz="1900"/>
          </a:p>
        </p:txBody>
      </p:sp>
      <p:sp>
        <p:nvSpPr>
          <p:cNvPr id="271" name="Edge line 1"/>
          <p:cNvSpPr txBox="1"/>
          <p:nvPr/>
        </p:nvSpPr>
        <p:spPr>
          <a:xfrm>
            <a:off x="548640" y="2935224"/>
            <a:ext cx="2377440" cy="566928"/>
          </a:xfrm>
          <a:prstGeom prst="rect">
            <a:avLst/>
          </a:prstGeom>
          <a:noFill/>
        </p:spPr>
        <p:txBody>
          <a:bodyPr wrap="square" lIns="0" tIns="0" rIns="0" bIns="0" anchor="t">
            <a:spAutoFit/>
          </a:bodyPr>
          <a:lstStyle/>
          <a:p>
            <a:pPr algn="ctr"/>
            <a:r>
              <a:rPr sz="1600" b="0" i="0">
                <a:solidFill>
                  <a:srgbClr val="222222"/>
                </a:solidFill>
                <a:latin typeface="Ember Modern Display Standard"/>
              </a:rPr>
              <a:t>Link only on a clear win.</a:t>
            </a:r>
            <a:endParaRPr sz="1600"/>
          </a:p>
        </p:txBody>
      </p:sp>
      <p:sp>
        <p:nvSpPr>
          <p:cNvPr id="272" name="Edge card 2"/>
          <p:cNvSpPr/>
          <p:nvPr/>
        </p:nvSpPr>
        <p:spPr>
          <a:xfrm>
            <a:off x="3246120" y="1636776"/>
            <a:ext cx="2651760" cy="1920240"/>
          </a:xfrm>
          <a:prstGeom prst="roundRect">
            <a:avLst>
              <a:gd name="adj" fmla="val 4761"/>
            </a:avLst>
          </a:prstGeom>
          <a:solidFill>
            <a:srgbClr val="F3F4F6"/>
          </a:solidFill>
          <a:ln>
            <a:noFill/>
          </a:ln>
        </p:spPr>
        <p:txBody>
          <a:bodyPr rtlCol="0" anchor="t" lIns="73152" rIns="73152" wrap="square"/>
          <a:lstStyle/>
          <a:p>
            <a:pPr algn="ctr"/>
          </a:p>
        </p:txBody>
      </p:sp>
      <p:sp>
        <p:nvSpPr>
          <p:cNvPr id="273" name="Edge icon 2"/>
          <p:cNvSpPr/>
          <p:nvPr/>
        </p:nvSpPr>
        <p:spPr>
          <a:xfrm>
            <a:off x="4251960" y="1819656"/>
            <a:ext cx="640080" cy="640080"/>
          </a:xfrm>
          <a:prstGeom prst="ellipse">
            <a:avLst/>
          </a:prstGeom>
          <a:solidFill>
            <a:srgbClr val="161D26"/>
          </a:solidFill>
          <a:ln>
            <a:noFill/>
          </a:ln>
        </p:spPr>
        <p:txBody>
          <a:bodyPr rtlCol="0" anchor="ctr" lIns="0" tIns="0" rIns="0" bIns="0" wrap="square"/>
          <a:lstStyle/>
          <a:p>
            <a:pPr algn="ctr"/>
            <a:r>
              <a:rPr sz="2200" b="0" i="0">
                <a:solidFill>
                  <a:srgbClr val="FFFFFF"/>
                </a:solidFill>
                <a:latin typeface="Segoe UI Symbol"/>
              </a:rPr>
              <a:t>🌐</a:t>
            </a:r>
            <a:endParaRPr sz="1200"/>
          </a:p>
        </p:txBody>
      </p:sp>
      <p:sp>
        <p:nvSpPr>
          <p:cNvPr id="274" name="Edge title 2"/>
          <p:cNvSpPr txBox="1"/>
          <p:nvPr/>
        </p:nvSpPr>
        <p:spPr>
          <a:xfrm>
            <a:off x="3337560" y="2551176"/>
            <a:ext cx="2468880" cy="365760"/>
          </a:xfrm>
          <a:prstGeom prst="rect">
            <a:avLst/>
          </a:prstGeom>
          <a:noFill/>
        </p:spPr>
        <p:txBody>
          <a:bodyPr wrap="square" lIns="0" tIns="0" rIns="0" bIns="0" anchor="t">
            <a:spAutoFit/>
          </a:bodyPr>
          <a:lstStyle/>
          <a:p>
            <a:pPr algn="ctr"/>
            <a:r>
              <a:rPr sz="1900" b="1" i="0">
                <a:solidFill>
                  <a:srgbClr val="161D26"/>
                </a:solidFill>
                <a:latin typeface="Ember Modern Display Standard"/>
              </a:rPr>
              <a:t>Unseen countries</a:t>
            </a:r>
            <a:endParaRPr sz="1900"/>
          </a:p>
        </p:txBody>
      </p:sp>
      <p:sp>
        <p:nvSpPr>
          <p:cNvPr id="275" name="Edge line 2"/>
          <p:cNvSpPr txBox="1"/>
          <p:nvPr/>
        </p:nvSpPr>
        <p:spPr>
          <a:xfrm>
            <a:off x="3383280" y="2935224"/>
            <a:ext cx="2377440" cy="566928"/>
          </a:xfrm>
          <a:prstGeom prst="rect">
            <a:avLst/>
          </a:prstGeom>
          <a:noFill/>
        </p:spPr>
        <p:txBody>
          <a:bodyPr wrap="square" lIns="0" tIns="0" rIns="0" bIns="0" anchor="t">
            <a:spAutoFit/>
          </a:bodyPr>
          <a:lstStyle/>
          <a:p>
            <a:pPr algn="ctr"/>
            <a:r>
              <a:rPr sz="1600" b="0" i="0">
                <a:solidFill>
                  <a:srgbClr val="222222"/>
                </a:solidFill>
                <a:latin typeface="Ember Modern Display Standard"/>
              </a:rPr>
              <a:t>Default route built like France. Untested.</a:t>
            </a:r>
            <a:endParaRPr sz="1600"/>
          </a:p>
        </p:txBody>
      </p:sp>
      <p:sp>
        <p:nvSpPr>
          <p:cNvPr id="276" name="Edge card 3"/>
          <p:cNvSpPr/>
          <p:nvPr/>
        </p:nvSpPr>
        <p:spPr>
          <a:xfrm>
            <a:off x="6080760" y="1636776"/>
            <a:ext cx="2651760" cy="1920240"/>
          </a:xfrm>
          <a:prstGeom prst="roundRect">
            <a:avLst>
              <a:gd name="adj" fmla="val 4761"/>
            </a:avLst>
          </a:prstGeom>
          <a:solidFill>
            <a:srgbClr val="F3F4F6"/>
          </a:solidFill>
          <a:ln>
            <a:noFill/>
          </a:ln>
        </p:spPr>
        <p:txBody>
          <a:bodyPr rtlCol="0" anchor="t" lIns="73152" rIns="73152" wrap="square"/>
          <a:lstStyle/>
          <a:p>
            <a:pPr algn="ctr"/>
          </a:p>
        </p:txBody>
      </p:sp>
      <p:sp>
        <p:nvSpPr>
          <p:cNvPr id="277" name="Edge icon 3"/>
          <p:cNvSpPr/>
          <p:nvPr/>
        </p:nvSpPr>
        <p:spPr>
          <a:xfrm>
            <a:off x="7086600" y="1819656"/>
            <a:ext cx="640080" cy="640080"/>
          </a:xfrm>
          <a:prstGeom prst="ellipse">
            <a:avLst/>
          </a:prstGeom>
          <a:solidFill>
            <a:srgbClr val="161D26"/>
          </a:solidFill>
          <a:ln>
            <a:noFill/>
          </a:ln>
        </p:spPr>
        <p:txBody>
          <a:bodyPr rtlCol="0" anchor="ctr" lIns="0" tIns="0" rIns="0" bIns="0" wrap="square"/>
          <a:lstStyle/>
          <a:p>
            <a:pPr algn="ctr"/>
            <a:r>
              <a:rPr sz="2000" b="0" i="0">
                <a:solidFill>
                  <a:srgbClr val="FFFFFF"/>
                </a:solidFill>
                <a:latin typeface="Ember Modern Display Standard"/>
              </a:rPr>
              <a:t>Aa</a:t>
            </a:r>
            <a:endParaRPr sz="1200"/>
          </a:p>
        </p:txBody>
      </p:sp>
      <p:sp>
        <p:nvSpPr>
          <p:cNvPr id="278" name="Edge title 3"/>
          <p:cNvSpPr txBox="1"/>
          <p:nvPr/>
        </p:nvSpPr>
        <p:spPr>
          <a:xfrm>
            <a:off x="6172200" y="2551176"/>
            <a:ext cx="2468880" cy="365760"/>
          </a:xfrm>
          <a:prstGeom prst="rect">
            <a:avLst/>
          </a:prstGeom>
          <a:noFill/>
        </p:spPr>
        <p:txBody>
          <a:bodyPr wrap="square" lIns="0" tIns="0" rIns="0" bIns="0" anchor="t">
            <a:spAutoFit/>
          </a:bodyPr>
          <a:lstStyle/>
          <a:p>
            <a:pPr algn="ctr"/>
            <a:r>
              <a:rPr sz="1900" b="1" i="0">
                <a:solidFill>
                  <a:srgbClr val="161D26"/>
                </a:solidFill>
                <a:latin typeface="Ember Modern Display Standard"/>
              </a:rPr>
              <a:t>Noisy spellings</a:t>
            </a:r>
            <a:endParaRPr sz="1900"/>
          </a:p>
        </p:txBody>
      </p:sp>
      <p:sp>
        <p:nvSpPr>
          <p:cNvPr id="279" name="Edge line 3"/>
          <p:cNvSpPr txBox="1"/>
          <p:nvPr/>
        </p:nvSpPr>
        <p:spPr>
          <a:xfrm>
            <a:off x="6217920" y="2935224"/>
            <a:ext cx="2377440" cy="566928"/>
          </a:xfrm>
          <a:prstGeom prst="rect">
            <a:avLst/>
          </a:prstGeom>
          <a:noFill/>
        </p:spPr>
        <p:txBody>
          <a:bodyPr wrap="square" lIns="0" tIns="0" rIns="0" bIns="0" anchor="t">
            <a:spAutoFit/>
          </a:bodyPr>
          <a:lstStyle/>
          <a:p>
            <a:pPr algn="ctr"/>
            <a:r>
              <a:rPr sz="1600" b="0" i="0">
                <a:solidFill>
                  <a:srgbClr val="222222"/>
                </a:solidFill>
                <a:latin typeface="Ember Modern Display Standard"/>
              </a:rPr>
              <a:t>Clean-up, letter pieces, sounds, second chances.</a:t>
            </a:r>
            <a:endParaRPr sz="1600"/>
          </a:p>
        </p:txBody>
      </p:sp>
      <p:sp>
        <p:nvSpPr>
          <p:cNvPr id="280" name="Big empty rows"/>
          <p:cNvSpPr/>
          <p:nvPr/>
        </p:nvSpPr>
        <p:spPr>
          <a:xfrm>
            <a:off x="411480" y="3749040"/>
            <a:ext cx="8321040" cy="1005840"/>
          </a:xfrm>
          <a:prstGeom prst="roundRect">
            <a:avLst>
              <a:gd name="adj" fmla="val 5454"/>
            </a:avLst>
          </a:prstGeom>
          <a:solidFill>
            <a:srgbClr val="EEEEEE"/>
          </a:solidFill>
          <a:ln>
            <a:noFill/>
          </a:ln>
        </p:spPr>
        <p:txBody>
          <a:bodyPr rtlCol="0" anchor="ctr" lIns="274320" tIns="0" bIns="0" wrap="square"/>
          <a:lstStyle/>
          <a:p>
            <a:pPr algn="l"/>
            <a:r>
              <a:rPr sz="4000" b="1" i="0">
                <a:solidFill>
                  <a:srgbClr val="FF6200"/>
                </a:solidFill>
                <a:latin typeface="Ember Modern Display Standard"/>
              </a:rPr>
              <a:t>100,087</a:t>
            </a:r>
            <a:r>
              <a:rPr sz="1700" b="0" i="0">
                <a:solidFill>
                  <a:srgbClr val="222222"/>
                </a:solidFill>
                <a:latin typeface="Ember Modern Display Standard"/>
              </a:rPr>
              <a:t>   businesses left with no link, on purpose</a:t>
            </a:r>
            <a:endParaRPr sz="1200"/>
          </a:p>
        </p:txBody>
      </p:sp>
      <p:sp>
        <p:nvSpPr>
          <p:cNvPr id="281" name="Big empty rows accent"/>
          <p:cNvSpPr/>
          <p:nvPr/>
        </p:nvSpPr>
        <p:spPr>
          <a:xfrm>
            <a:off x="411480" y="3749040"/>
            <a:ext cx="64008" cy="1005840"/>
          </a:xfrm>
          <a:prstGeom prst="rect">
            <a:avLst/>
          </a:prstGeom>
          <a:solidFill>
            <a:srgbClr val="FF6200"/>
          </a:solidFill>
          <a:ln>
            <a:noFill/>
          </a:ln>
        </p:spPr>
        <p:txBody>
          <a:bodyPr rtlCol="0" anchor="t" lIns="0" tIns="0" rIns="0" bIns="0" wrap="square"/>
          <a:lstStyle/>
          <a:p>
            <a:pPr algn="ct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Example: the</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US</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Ember Modern Display Standard"/>
              </a:rPr>
              <a:t>No address: the legal form and one word decide.</a:t>
            </a:r>
            <a:endParaRPr sz="1600"/>
          </a:p>
        </p:txBody>
      </p:sp>
      <p:sp>
        <p:nvSpPr>
          <p:cNvPr id="268" name="Record body"/>
          <p:cNvSpPr/>
          <p:nvPr/>
        </p:nvSpPr>
        <p:spPr>
          <a:xfrm>
            <a:off x="411480" y="1591056"/>
            <a:ext cx="8321040" cy="658368"/>
          </a:xfrm>
          <a:prstGeom prst="roundRect">
            <a:avLst>
              <a:gd name="adj" fmla="val 11111"/>
            </a:avLst>
          </a:prstGeom>
          <a:solidFill>
            <a:srgbClr val="FFFFFF"/>
          </a:solidFill>
          <a:ln w="12700">
            <a:solidFill>
              <a:srgbClr val="C9CDD3"/>
            </a:solidFill>
          </a:ln>
        </p:spPr>
        <p:txBody>
          <a:bodyPr rtlCol="0" anchor="ctr" lIns="1143000" tIns="27432" bIns="27432" wrap="square"/>
          <a:lstStyle/>
          <a:p>
            <a:pPr algn="l"/>
            <a:r>
              <a:rPr sz="1700" b="1" i="0">
                <a:solidFill>
                  <a:srgbClr val="222222"/>
                </a:solidFill>
                <a:latin typeface="Ember Modern Display Standard"/>
              </a:rPr>
              <a:t>Legacy Marketing Enterprises (Inc)</a:t>
            </a:r>
            <a:endParaRPr sz="1700"/>
          </a:p>
          <a:p>
            <a:pPr algn="l"/>
            <a:r>
              <a:rPr sz="1400" b="0" i="1">
                <a:solidFill>
                  <a:srgbClr val="5A6270"/>
                </a:solidFill>
                <a:latin typeface="Ember Modern Display Standard"/>
              </a:rPr>
              <a:t>(no address)</a:t>
            </a:r>
            <a:endParaRPr sz="1400"/>
          </a:p>
        </p:txBody>
      </p:sp>
      <p:sp>
        <p:nvSpPr>
          <p:cNvPr id="269" name="Record header"/>
          <p:cNvSpPr/>
          <p:nvPr/>
        </p:nvSpPr>
        <p:spPr>
          <a:xfrm>
            <a:off x="411480" y="1591056"/>
            <a:ext cx="1005840" cy="658368"/>
          </a:xfrm>
          <a:prstGeom prst="roundRect">
            <a:avLst>
              <a:gd name="adj" fmla="val 11111"/>
            </a:avLst>
          </a:prstGeom>
          <a:solidFill>
            <a:srgbClr val="161D26"/>
          </a:solidFill>
          <a:ln>
            <a:noFill/>
          </a:ln>
        </p:spPr>
        <p:txBody>
          <a:bodyPr rtlCol="0" anchor="ctr" lIns="36576" tIns="0" rIns="36576" bIns="0" wrap="square"/>
          <a:lstStyle/>
          <a:p>
            <a:pPr algn="ctr"/>
            <a:r>
              <a:rPr sz="1300" b="0" i="0">
                <a:solidFill>
                  <a:srgbClr val="FFFFFF"/>
                </a:solidFill>
                <a:latin typeface="Segoe UI Symbol"/>
              </a:rPr>
              <a:t>📄 </a:t>
            </a:r>
            <a:r>
              <a:rPr sz="1600" b="1" i="0">
                <a:solidFill>
                  <a:srgbClr val="FFFFFF"/>
                </a:solidFill>
                <a:latin typeface="Ember Modern Display Standard"/>
              </a:rPr>
              <a:t>US</a:t>
            </a:r>
            <a:endParaRPr sz="1600"/>
          </a:p>
        </p:txBody>
      </p:sp>
      <p:sp>
        <p:nvSpPr>
          <p:cNvPr id="270" name="Step label 1"/>
          <p:cNvSpPr txBox="1"/>
          <p:nvPr/>
        </p:nvSpPr>
        <p:spPr>
          <a:xfrm>
            <a:off x="301752" y="2926080"/>
            <a:ext cx="1693469" cy="274320"/>
          </a:xfrm>
          <a:prstGeom prst="rect">
            <a:avLst/>
          </a:prstGeom>
          <a:noFill/>
        </p:spPr>
        <p:txBody>
          <a:bodyPr wrap="square" lIns="0" tIns="0" rIns="0" bIns="0" anchor="t">
            <a:spAutoFit/>
          </a:bodyPr>
          <a:lstStyle/>
          <a:p>
            <a:pPr algn="ctr"/>
            <a:r>
              <a:rPr sz="1400" b="1" i="0">
                <a:solidFill>
                  <a:srgbClr val="5A6270"/>
                </a:solidFill>
                <a:latin typeface="Ember Modern Display Standard"/>
              </a:rPr>
              <a:t>1  Find</a:t>
            </a:r>
            <a:endParaRPr sz="1400"/>
          </a:p>
        </p:txBody>
      </p:sp>
      <p:sp>
        <p:nvSpPr>
          <p:cNvPr id="271" name="Step 1"/>
          <p:cNvSpPr/>
          <p:nvPr/>
        </p:nvSpPr>
        <p:spPr>
          <a:xfrm>
            <a:off x="411480"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Ember Modern Display Standard"/>
              </a:rPr>
              <a:t>Similar names found; no address to help</a:t>
            </a:r>
            <a:endParaRPr sz="1500"/>
          </a:p>
        </p:txBody>
      </p:sp>
      <p:cxnSp>
        <p:nvCxnSpPr>
          <p:cNvPr id="272" name="Step arrow 1"/>
          <p:cNvCxnSpPr/>
          <p:nvPr/>
        </p:nvCxnSpPr>
        <p:spPr>
          <a:xfrm>
            <a:off x="1912925" y="3831336"/>
            <a:ext cx="182880" cy="0"/>
          </a:xfrm>
          <a:prstGeom prst="line">
            <a:avLst/>
          </a:prstGeom>
          <a:ln w="2540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3" name="Step label 2"/>
          <p:cNvSpPr txBox="1"/>
          <p:nvPr/>
        </p:nvSpPr>
        <p:spPr>
          <a:xfrm>
            <a:off x="2013509" y="2926080"/>
            <a:ext cx="1693469" cy="274320"/>
          </a:xfrm>
          <a:prstGeom prst="rect">
            <a:avLst/>
          </a:prstGeom>
          <a:noFill/>
        </p:spPr>
        <p:txBody>
          <a:bodyPr wrap="square" lIns="0" tIns="0" rIns="0" bIns="0" anchor="t">
            <a:spAutoFit/>
          </a:bodyPr>
          <a:lstStyle/>
          <a:p>
            <a:pPr algn="ctr"/>
            <a:r>
              <a:rPr sz="1400" b="1" i="0">
                <a:solidFill>
                  <a:srgbClr val="5A6270"/>
                </a:solidFill>
                <a:latin typeface="Ember Modern Display Standard"/>
              </a:rPr>
              <a:t>2  Shortlist</a:t>
            </a:r>
            <a:endParaRPr sz="1400"/>
          </a:p>
        </p:txBody>
      </p:sp>
      <p:sp>
        <p:nvSpPr>
          <p:cNvPr id="274" name="Step 2"/>
          <p:cNvSpPr/>
          <p:nvPr/>
        </p:nvSpPr>
        <p:spPr>
          <a:xfrm>
            <a:off x="2123237"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Ember Modern Display Standard"/>
              </a:rPr>
              <a:t>Top 4 kept: Inc, LLC, PC, Industries</a:t>
            </a:r>
            <a:endParaRPr sz="1500"/>
          </a:p>
        </p:txBody>
      </p:sp>
      <p:cxnSp>
        <p:nvCxnSpPr>
          <p:cNvPr id="275" name="Step arrow 2"/>
          <p:cNvCxnSpPr/>
          <p:nvPr/>
        </p:nvCxnSpPr>
        <p:spPr>
          <a:xfrm>
            <a:off x="3624682" y="3831336"/>
            <a:ext cx="182880" cy="0"/>
          </a:xfrm>
          <a:prstGeom prst="line">
            <a:avLst/>
          </a:prstGeom>
          <a:ln w="2540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6" name="Step label 3"/>
          <p:cNvSpPr txBox="1"/>
          <p:nvPr/>
        </p:nvSpPr>
        <p:spPr>
          <a:xfrm>
            <a:off x="3725266" y="2926080"/>
            <a:ext cx="1693469" cy="274320"/>
          </a:xfrm>
          <a:prstGeom prst="rect">
            <a:avLst/>
          </a:prstGeom>
          <a:noFill/>
        </p:spPr>
        <p:txBody>
          <a:bodyPr wrap="square" lIns="0" tIns="0" rIns="0" bIns="0" anchor="t">
            <a:spAutoFit/>
          </a:bodyPr>
          <a:lstStyle/>
          <a:p>
            <a:pPr algn="ctr"/>
            <a:r>
              <a:rPr sz="1400" b="1" i="0">
                <a:solidFill>
                  <a:srgbClr val="5A6270"/>
                </a:solidFill>
                <a:latin typeface="Ember Modern Display Standard"/>
              </a:rPr>
              <a:t>3  What changed</a:t>
            </a:r>
            <a:endParaRPr sz="1400"/>
          </a:p>
        </p:txBody>
      </p:sp>
      <p:sp>
        <p:nvSpPr>
          <p:cNvPr id="277" name="Step 3"/>
          <p:cNvSpPr/>
          <p:nvPr/>
        </p:nvSpPr>
        <p:spPr>
          <a:xfrm>
            <a:off x="3834994"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Ember Modern Display Standard"/>
              </a:rPr>
              <a:t>LLC, PC: legal form; Industries: one word</a:t>
            </a:r>
            <a:endParaRPr sz="1500"/>
          </a:p>
        </p:txBody>
      </p:sp>
      <p:cxnSp>
        <p:nvCxnSpPr>
          <p:cNvPr id="278" name="Step arrow 3"/>
          <p:cNvCxnSpPr/>
          <p:nvPr/>
        </p:nvCxnSpPr>
        <p:spPr>
          <a:xfrm>
            <a:off x="5336438" y="3831336"/>
            <a:ext cx="182880" cy="0"/>
          </a:xfrm>
          <a:prstGeom prst="line">
            <a:avLst/>
          </a:prstGeom>
          <a:ln w="2540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9" name="Step label 4"/>
          <p:cNvSpPr txBox="1"/>
          <p:nvPr/>
        </p:nvSpPr>
        <p:spPr>
          <a:xfrm>
            <a:off x="5437022" y="2926080"/>
            <a:ext cx="1693469" cy="274320"/>
          </a:xfrm>
          <a:prstGeom prst="rect">
            <a:avLst/>
          </a:prstGeom>
          <a:noFill/>
        </p:spPr>
        <p:txBody>
          <a:bodyPr wrap="square" lIns="0" tIns="0" rIns="0" bIns="0" anchor="t">
            <a:spAutoFit/>
          </a:bodyPr>
          <a:lstStyle/>
          <a:p>
            <a:pPr algn="ctr"/>
            <a:r>
              <a:rPr sz="1400" b="1" i="0">
                <a:solidFill>
                  <a:srgbClr val="5A6270"/>
                </a:solidFill>
                <a:latin typeface="Ember Modern Display Standard"/>
              </a:rPr>
              <a:t>4  Read &amp; score</a:t>
            </a:r>
            <a:endParaRPr sz="1400"/>
          </a:p>
        </p:txBody>
      </p:sp>
      <p:sp>
        <p:nvSpPr>
          <p:cNvPr id="280" name="Step 4"/>
          <p:cNvSpPr/>
          <p:nvPr/>
        </p:nvSpPr>
        <p:spPr>
          <a:xfrm>
            <a:off x="5546750"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Ember Modern Display Standard"/>
              </a:rPr>
              <a:t>Inc scores highest; the others far lower</a:t>
            </a:r>
            <a:endParaRPr sz="1500"/>
          </a:p>
        </p:txBody>
      </p:sp>
      <p:cxnSp>
        <p:nvCxnSpPr>
          <p:cNvPr id="281" name="Step arrow 4"/>
          <p:cNvCxnSpPr/>
          <p:nvPr/>
        </p:nvCxnSpPr>
        <p:spPr>
          <a:xfrm>
            <a:off x="7048195" y="3831336"/>
            <a:ext cx="182880" cy="0"/>
          </a:xfrm>
          <a:prstGeom prst="line">
            <a:avLst/>
          </a:prstGeom>
          <a:ln w="2540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2" name="Step label 5"/>
          <p:cNvSpPr txBox="1"/>
          <p:nvPr/>
        </p:nvSpPr>
        <p:spPr>
          <a:xfrm>
            <a:off x="7148779" y="2926080"/>
            <a:ext cx="1693469" cy="274320"/>
          </a:xfrm>
          <a:prstGeom prst="rect">
            <a:avLst/>
          </a:prstGeom>
          <a:noFill/>
        </p:spPr>
        <p:txBody>
          <a:bodyPr wrap="square" lIns="0" tIns="0" rIns="0" bIns="0" anchor="t">
            <a:spAutoFit/>
          </a:bodyPr>
          <a:lstStyle/>
          <a:p>
            <a:pPr algn="ctr"/>
            <a:r>
              <a:rPr sz="1400" b="1" i="0">
                <a:solidFill>
                  <a:srgbClr val="5A6270"/>
                </a:solidFill>
                <a:latin typeface="Ember Modern Display Standard"/>
              </a:rPr>
              <a:t>5  Decide</a:t>
            </a:r>
            <a:endParaRPr sz="1400"/>
          </a:p>
        </p:txBody>
      </p:sp>
      <p:sp>
        <p:nvSpPr>
          <p:cNvPr id="283" name="Step 5"/>
          <p:cNvSpPr/>
          <p:nvPr/>
        </p:nvSpPr>
        <p:spPr>
          <a:xfrm>
            <a:off x="7258507" y="3200400"/>
            <a:ext cx="1474013" cy="1261872"/>
          </a:xfrm>
          <a:prstGeom prst="roundRect">
            <a:avLst>
              <a:gd name="adj" fmla="val 7246"/>
            </a:avLst>
          </a:prstGeom>
          <a:solidFill>
            <a:srgbClr val="FF6200"/>
          </a:solidFill>
          <a:ln>
            <a:noFill/>
          </a:ln>
        </p:spPr>
        <p:txBody>
          <a:bodyPr rtlCol="0" anchor="ctr" lIns="73152" rIns="73152" wrap="square"/>
          <a:lstStyle/>
          <a:p>
            <a:pPr algn="ctr"/>
            <a:r>
              <a:rPr sz="1500" b="1" i="0">
                <a:solidFill>
                  <a:srgbClr val="FFFFFF"/>
                </a:solidFill>
                <a:latin typeface="Ember Modern Display Standard"/>
              </a:rPr>
              <a:t>Confident and clear winner → linked</a:t>
            </a:r>
            <a:endParaRPr sz="1500"/>
          </a:p>
        </p:txBody>
      </p:sp>
      <p:sp>
        <p:nvSpPr>
          <p:cNvPr id="284" name="Big number"/>
          <p:cNvSpPr txBox="1"/>
          <p:nvPr/>
        </p:nvSpPr>
        <p:spPr>
          <a:xfrm>
            <a:off x="5095037" y="2340864"/>
            <a:ext cx="2377440" cy="566928"/>
          </a:xfrm>
          <a:prstGeom prst="rect">
            <a:avLst/>
          </a:prstGeom>
          <a:noFill/>
        </p:spPr>
        <p:txBody>
          <a:bodyPr wrap="square" lIns="0" tIns="0" rIns="0" bIns="0" anchor="b">
            <a:spAutoFit/>
          </a:bodyPr>
          <a:lstStyle/>
          <a:p>
            <a:pPr algn="ctr"/>
            <a:r>
              <a:rPr sz="4000" b="1" i="0">
                <a:solidFill>
                  <a:srgbClr val="FF6200"/>
                </a:solidFill>
                <a:latin typeface="Ember Modern Display Standard"/>
              </a:rPr>
              <a:t>0.965</a:t>
            </a:r>
            <a:endParaRPr sz="4000"/>
          </a:p>
        </p:txBody>
      </p:sp>
      <p:sp>
        <p:nvSpPr>
          <p:cNvPr id="285" name="Big number label"/>
          <p:cNvSpPr txBox="1"/>
          <p:nvPr/>
        </p:nvSpPr>
        <p:spPr>
          <a:xfrm>
            <a:off x="2694737" y="2340864"/>
            <a:ext cx="2880360" cy="512064"/>
          </a:xfrm>
          <a:prstGeom prst="rect">
            <a:avLst/>
          </a:prstGeom>
          <a:noFill/>
        </p:spPr>
        <p:txBody>
          <a:bodyPr wrap="square" lIns="0" tIns="0" rIns="0" bIns="0" anchor="b">
            <a:spAutoFit/>
          </a:bodyPr>
          <a:lstStyle/>
          <a:p>
            <a:pPr algn="r"/>
            <a:r>
              <a:rPr sz="1400" b="0" i="0">
                <a:solidFill>
                  <a:srgbClr val="5A6270"/>
                </a:solidFill>
                <a:latin typeface="Ember Modern Display Standard"/>
              </a:rPr>
              <a:t>decision model score, Inc  →</a:t>
            </a:r>
            <a:endParaRPr sz="1400"/>
          </a:p>
        </p:txBody>
      </p:sp>
      <p:sp>
        <p:nvSpPr>
          <p:cNvPr id="286" name="Outcome line"/>
          <p:cNvSpPr txBox="1"/>
          <p:nvPr/>
        </p:nvSpPr>
        <p:spPr>
          <a:xfrm>
            <a:off x="411480" y="4553712"/>
            <a:ext cx="8321040" cy="329184"/>
          </a:xfrm>
          <a:prstGeom prst="rect">
            <a:avLst/>
          </a:prstGeom>
          <a:noFill/>
        </p:spPr>
        <p:txBody>
          <a:bodyPr wrap="square" lIns="0" tIns="0" rIns="0" bIns="0" anchor="t">
            <a:spAutoFit/>
          </a:bodyPr>
          <a:lstStyle/>
          <a:p>
            <a:pPr algn="l"/>
            <a:r>
              <a:rPr sz="1600" b="0" i="0">
                <a:solidFill>
                  <a:srgbClr val="FF6200"/>
                </a:solidFill>
                <a:latin typeface="Segoe UI Symbol"/>
              </a:rPr>
              <a:t>🔗  </a:t>
            </a:r>
            <a:r>
              <a:rPr sz="1600" b="1" i="0">
                <a:solidFill>
                  <a:srgbClr val="C24E00"/>
                </a:solidFill>
                <a:latin typeface="Ember Modern Display Standard"/>
              </a:rPr>
              <a:t>Linked to Legacy Marketing Enterprises Inc, Windsor, CT</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Example:</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India</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Ember Modern Display Standard"/>
              </a:rPr>
              <a:t>A Devanagari name is found by its second-chance search.</a:t>
            </a:r>
            <a:endParaRPr sz="1600"/>
          </a:p>
        </p:txBody>
      </p:sp>
      <p:sp>
        <p:nvSpPr>
          <p:cNvPr id="268" name="Record body"/>
          <p:cNvSpPr/>
          <p:nvPr/>
        </p:nvSpPr>
        <p:spPr>
          <a:xfrm>
            <a:off x="411480" y="1591056"/>
            <a:ext cx="8321040" cy="658368"/>
          </a:xfrm>
          <a:prstGeom prst="roundRect">
            <a:avLst>
              <a:gd name="adj" fmla="val 11111"/>
            </a:avLst>
          </a:prstGeom>
          <a:solidFill>
            <a:srgbClr val="FFFFFF"/>
          </a:solidFill>
          <a:ln w="12700">
            <a:solidFill>
              <a:srgbClr val="C9CDD3"/>
            </a:solidFill>
          </a:ln>
        </p:spPr>
        <p:txBody>
          <a:bodyPr rtlCol="0" anchor="ctr" lIns="1143000" tIns="27432" bIns="27432" wrap="square"/>
          <a:lstStyle/>
          <a:p>
            <a:pPr algn="l"/>
            <a:r>
              <a:rPr sz="1700" b="1" i="0">
                <a:solidFill>
                  <a:srgbClr val="222222"/>
                </a:solidFill>
                <a:latin typeface="Nirmala UI"/>
                <a:ea typeface="Nirmala UI"/>
                <a:cs typeface="Nirmala UI"/>
              </a:rPr>
              <a:t>विजय एंटरप्राइजेज प्राइवेट लिमिटेड</a:t>
            </a:r>
            <a:endParaRPr sz="1700"/>
          </a:p>
          <a:p>
            <a:pPr algn="l"/>
            <a:r>
              <a:rPr sz="1400" b="0" i="0">
                <a:solidFill>
                  <a:srgbClr val="222222"/>
                </a:solidFill>
                <a:latin typeface="Ember Modern Display Standard"/>
              </a:rPr>
              <a:t>24/11, Mumbai, </a:t>
            </a:r>
            <a:r>
              <a:rPr sz="1400" b="0" i="0">
                <a:solidFill>
                  <a:srgbClr val="222222"/>
                </a:solidFill>
                <a:latin typeface="Nirmala UI"/>
                <a:ea typeface="Nirmala UI"/>
                <a:cs typeface="Nirmala UI"/>
              </a:rPr>
              <a:t>महाराष्ट्र</a:t>
            </a:r>
            <a:endParaRPr sz="1400"/>
          </a:p>
        </p:txBody>
      </p:sp>
      <p:sp>
        <p:nvSpPr>
          <p:cNvPr id="269" name="Record header"/>
          <p:cNvSpPr/>
          <p:nvPr/>
        </p:nvSpPr>
        <p:spPr>
          <a:xfrm>
            <a:off x="411480" y="1591056"/>
            <a:ext cx="1005840" cy="658368"/>
          </a:xfrm>
          <a:prstGeom prst="roundRect">
            <a:avLst>
              <a:gd name="adj" fmla="val 11111"/>
            </a:avLst>
          </a:prstGeom>
          <a:solidFill>
            <a:srgbClr val="161D26"/>
          </a:solidFill>
          <a:ln>
            <a:noFill/>
          </a:ln>
        </p:spPr>
        <p:txBody>
          <a:bodyPr rtlCol="0" anchor="ctr" lIns="36576" tIns="0" rIns="36576" bIns="0" wrap="square"/>
          <a:lstStyle/>
          <a:p>
            <a:pPr algn="ctr"/>
            <a:r>
              <a:rPr sz="1300" b="0" i="0">
                <a:solidFill>
                  <a:srgbClr val="FFFFFF"/>
                </a:solidFill>
                <a:latin typeface="Segoe UI Symbol"/>
              </a:rPr>
              <a:t>📄 </a:t>
            </a:r>
            <a:r>
              <a:rPr sz="1600" b="1" i="0">
                <a:solidFill>
                  <a:srgbClr val="FFFFFF"/>
                </a:solidFill>
                <a:latin typeface="Ember Modern Display Standard"/>
              </a:rPr>
              <a:t>India</a:t>
            </a:r>
            <a:endParaRPr sz="1600"/>
          </a:p>
        </p:txBody>
      </p:sp>
      <p:sp>
        <p:nvSpPr>
          <p:cNvPr id="270" name="Latin reading"/>
          <p:cNvSpPr txBox="1"/>
          <p:nvPr/>
        </p:nvSpPr>
        <p:spPr>
          <a:xfrm>
            <a:off x="4983480" y="1591056"/>
            <a:ext cx="3657600" cy="658368"/>
          </a:xfrm>
          <a:prstGeom prst="rect">
            <a:avLst/>
          </a:prstGeom>
          <a:noFill/>
        </p:spPr>
        <p:txBody>
          <a:bodyPr wrap="square" lIns="0" tIns="0" rIns="0" bIns="0" anchor="ctr">
            <a:spAutoFit/>
          </a:bodyPr>
          <a:lstStyle/>
          <a:p>
            <a:pPr algn="r"/>
            <a:r>
              <a:rPr sz="1400" b="0" i="1">
                <a:solidFill>
                  <a:srgbClr val="5A6270"/>
                </a:solidFill>
                <a:latin typeface="Ember Modern Display Standard"/>
              </a:rPr>
              <a:t>(Vijay Enterprises Private Limited)</a:t>
            </a:r>
            <a:endParaRPr sz="1400"/>
          </a:p>
        </p:txBody>
      </p:sp>
      <p:sp>
        <p:nvSpPr>
          <p:cNvPr id="271" name="Step label 1"/>
          <p:cNvSpPr txBox="1"/>
          <p:nvPr/>
        </p:nvSpPr>
        <p:spPr>
          <a:xfrm>
            <a:off x="301752" y="2926080"/>
            <a:ext cx="1693469" cy="274320"/>
          </a:xfrm>
          <a:prstGeom prst="rect">
            <a:avLst/>
          </a:prstGeom>
          <a:noFill/>
        </p:spPr>
        <p:txBody>
          <a:bodyPr wrap="square" lIns="0" tIns="0" rIns="0" bIns="0" anchor="t">
            <a:spAutoFit/>
          </a:bodyPr>
          <a:lstStyle/>
          <a:p>
            <a:pPr algn="ctr"/>
            <a:r>
              <a:rPr sz="1400" b="1" i="0">
                <a:solidFill>
                  <a:srgbClr val="5A6270"/>
                </a:solidFill>
                <a:latin typeface="Ember Modern Display Standard"/>
              </a:rPr>
              <a:t>1  Find</a:t>
            </a:r>
            <a:endParaRPr sz="1400"/>
          </a:p>
        </p:txBody>
      </p:sp>
      <p:sp>
        <p:nvSpPr>
          <p:cNvPr id="272" name="Step 1"/>
          <p:cNvSpPr/>
          <p:nvPr/>
        </p:nvSpPr>
        <p:spPr>
          <a:xfrm>
            <a:off x="411480"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Ember Modern Display Standard"/>
              </a:rPr>
              <a:t>Same-name businesses found, but in other places</a:t>
            </a:r>
            <a:endParaRPr sz="1500"/>
          </a:p>
        </p:txBody>
      </p:sp>
      <p:cxnSp>
        <p:nvCxnSpPr>
          <p:cNvPr id="273" name="Step arrow 1"/>
          <p:cNvCxnSpPr/>
          <p:nvPr/>
        </p:nvCxnSpPr>
        <p:spPr>
          <a:xfrm>
            <a:off x="1912925" y="3831336"/>
            <a:ext cx="182880" cy="0"/>
          </a:xfrm>
          <a:prstGeom prst="line">
            <a:avLst/>
          </a:prstGeom>
          <a:ln w="2540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4" name="Step label 2"/>
          <p:cNvSpPr txBox="1"/>
          <p:nvPr/>
        </p:nvSpPr>
        <p:spPr>
          <a:xfrm>
            <a:off x="2013509" y="2926080"/>
            <a:ext cx="1693469" cy="274320"/>
          </a:xfrm>
          <a:prstGeom prst="rect">
            <a:avLst/>
          </a:prstGeom>
          <a:noFill/>
        </p:spPr>
        <p:txBody>
          <a:bodyPr wrap="square" lIns="0" tIns="0" rIns="0" bIns="0" anchor="t">
            <a:spAutoFit/>
          </a:bodyPr>
          <a:lstStyle/>
          <a:p>
            <a:pPr algn="ctr"/>
            <a:r>
              <a:rPr sz="1400" b="1" i="0">
                <a:solidFill>
                  <a:srgbClr val="5A6270"/>
                </a:solidFill>
                <a:latin typeface="Ember Modern Display Standard"/>
              </a:rPr>
              <a:t>2  Shortlist &amp; score</a:t>
            </a:r>
            <a:endParaRPr sz="1400"/>
          </a:p>
        </p:txBody>
      </p:sp>
      <p:sp>
        <p:nvSpPr>
          <p:cNvPr id="275" name="Step 2"/>
          <p:cNvSpPr/>
          <p:nvPr/>
        </p:nvSpPr>
        <p:spPr>
          <a:xfrm>
            <a:off x="2123237"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Ember Modern Display Standard"/>
              </a:rPr>
              <a:t>All 3 score near zero</a:t>
            </a:r>
            <a:endParaRPr sz="1500"/>
          </a:p>
        </p:txBody>
      </p:sp>
      <p:cxnSp>
        <p:nvCxnSpPr>
          <p:cNvPr id="276" name="Step arrow 2"/>
          <p:cNvCxnSpPr/>
          <p:nvPr/>
        </p:nvCxnSpPr>
        <p:spPr>
          <a:xfrm>
            <a:off x="3624682" y="3831336"/>
            <a:ext cx="182880" cy="0"/>
          </a:xfrm>
          <a:prstGeom prst="line">
            <a:avLst/>
          </a:prstGeom>
          <a:ln w="2540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7" name="Step label 3"/>
          <p:cNvSpPr txBox="1"/>
          <p:nvPr/>
        </p:nvSpPr>
        <p:spPr>
          <a:xfrm>
            <a:off x="3725266" y="2926080"/>
            <a:ext cx="1693469" cy="274320"/>
          </a:xfrm>
          <a:prstGeom prst="rect">
            <a:avLst/>
          </a:prstGeom>
          <a:noFill/>
        </p:spPr>
        <p:txBody>
          <a:bodyPr wrap="square" lIns="0" tIns="0" rIns="0" bIns="0" anchor="t">
            <a:spAutoFit/>
          </a:bodyPr>
          <a:lstStyle/>
          <a:p>
            <a:pPr algn="ctr"/>
            <a:r>
              <a:rPr sz="1400" b="1" i="0">
                <a:solidFill>
                  <a:srgbClr val="5A6270"/>
                </a:solidFill>
                <a:latin typeface="Ember Modern Display Standard"/>
              </a:rPr>
              <a:t>3  Decide</a:t>
            </a:r>
            <a:endParaRPr sz="1400"/>
          </a:p>
        </p:txBody>
      </p:sp>
      <p:sp>
        <p:nvSpPr>
          <p:cNvPr id="278" name="Step 3"/>
          <p:cNvSpPr/>
          <p:nvPr/>
        </p:nvSpPr>
        <p:spPr>
          <a:xfrm>
            <a:off x="3834994"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Ember Modern Display Standard"/>
              </a:rPr>
              <a:t>Not confident → left unlinked</a:t>
            </a:r>
            <a:endParaRPr sz="1500"/>
          </a:p>
        </p:txBody>
      </p:sp>
      <p:cxnSp>
        <p:nvCxnSpPr>
          <p:cNvPr id="279" name="Step arrow 3"/>
          <p:cNvCxnSpPr/>
          <p:nvPr/>
        </p:nvCxnSpPr>
        <p:spPr>
          <a:xfrm>
            <a:off x="5336438" y="3831336"/>
            <a:ext cx="182880" cy="0"/>
          </a:xfrm>
          <a:prstGeom prst="line">
            <a:avLst/>
          </a:prstGeom>
          <a:ln w="2540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0" name="Step label 4"/>
          <p:cNvSpPr txBox="1"/>
          <p:nvPr/>
        </p:nvSpPr>
        <p:spPr>
          <a:xfrm>
            <a:off x="5437022" y="2926080"/>
            <a:ext cx="1693469" cy="274320"/>
          </a:xfrm>
          <a:prstGeom prst="rect">
            <a:avLst/>
          </a:prstGeom>
          <a:noFill/>
        </p:spPr>
        <p:txBody>
          <a:bodyPr wrap="square" lIns="0" tIns="0" rIns="0" bIns="0" anchor="t">
            <a:spAutoFit/>
          </a:bodyPr>
          <a:lstStyle/>
          <a:p>
            <a:pPr algn="ctr"/>
            <a:r>
              <a:rPr sz="1400" b="1" i="0">
                <a:solidFill>
                  <a:srgbClr val="5A6270"/>
                </a:solidFill>
                <a:latin typeface="Ember Modern Display Standard"/>
              </a:rPr>
              <a:t>4  Second chance</a:t>
            </a:r>
            <a:endParaRPr sz="1400"/>
          </a:p>
        </p:txBody>
      </p:sp>
      <p:sp>
        <p:nvSpPr>
          <p:cNvPr id="281" name="Step 4"/>
          <p:cNvSpPr/>
          <p:nvPr/>
        </p:nvSpPr>
        <p:spPr>
          <a:xfrm>
            <a:off x="5546750"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Ember Modern Display Standard"/>
              </a:rPr>
              <a:t>Read as ‘vijay enterprises’, searched in Maharashtra</a:t>
            </a:r>
            <a:endParaRPr sz="1500"/>
          </a:p>
        </p:txBody>
      </p:sp>
      <p:cxnSp>
        <p:nvCxnSpPr>
          <p:cNvPr id="282" name="Step arrow 4"/>
          <p:cNvCxnSpPr/>
          <p:nvPr/>
        </p:nvCxnSpPr>
        <p:spPr>
          <a:xfrm>
            <a:off x="7048195" y="3831336"/>
            <a:ext cx="182880" cy="0"/>
          </a:xfrm>
          <a:prstGeom prst="line">
            <a:avLst/>
          </a:prstGeom>
          <a:ln w="2540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3" name="Step label 5"/>
          <p:cNvSpPr txBox="1"/>
          <p:nvPr/>
        </p:nvSpPr>
        <p:spPr>
          <a:xfrm>
            <a:off x="7148779" y="2926080"/>
            <a:ext cx="1693469" cy="274320"/>
          </a:xfrm>
          <a:prstGeom prst="rect">
            <a:avLst/>
          </a:prstGeom>
          <a:noFill/>
        </p:spPr>
        <p:txBody>
          <a:bodyPr wrap="square" lIns="0" tIns="0" rIns="0" bIns="0" anchor="t">
            <a:spAutoFit/>
          </a:bodyPr>
          <a:lstStyle/>
          <a:p>
            <a:pPr algn="ctr"/>
            <a:r>
              <a:rPr sz="1400" b="1" i="0">
                <a:solidFill>
                  <a:srgbClr val="5A6270"/>
                </a:solidFill>
                <a:latin typeface="Ember Modern Display Standard"/>
              </a:rPr>
              <a:t>5  Confirm</a:t>
            </a:r>
            <a:endParaRPr sz="1400"/>
          </a:p>
        </p:txBody>
      </p:sp>
      <p:sp>
        <p:nvSpPr>
          <p:cNvPr id="284" name="Step 5"/>
          <p:cNvSpPr/>
          <p:nvPr/>
        </p:nvSpPr>
        <p:spPr>
          <a:xfrm>
            <a:off x="7258507" y="3200400"/>
            <a:ext cx="1474013" cy="1261872"/>
          </a:xfrm>
          <a:prstGeom prst="roundRect">
            <a:avLst>
              <a:gd name="adj" fmla="val 7246"/>
            </a:avLst>
          </a:prstGeom>
          <a:solidFill>
            <a:srgbClr val="FF6200"/>
          </a:solidFill>
          <a:ln>
            <a:noFill/>
          </a:ln>
        </p:spPr>
        <p:txBody>
          <a:bodyPr rtlCol="0" anchor="ctr" lIns="73152" rIns="73152" wrap="square"/>
          <a:lstStyle/>
          <a:p>
            <a:pPr algn="ctr"/>
            <a:r>
              <a:rPr sz="1500" b="1" i="0">
                <a:solidFill>
                  <a:srgbClr val="FFFFFF"/>
                </a:solidFill>
                <a:latin typeface="Ember Modern Display Standard"/>
              </a:rPr>
              <a:t>Only one with house no. 24/11 → linked</a:t>
            </a:r>
            <a:endParaRPr sz="1500"/>
          </a:p>
        </p:txBody>
      </p:sp>
      <p:sp>
        <p:nvSpPr>
          <p:cNvPr id="285" name="Big number"/>
          <p:cNvSpPr txBox="1"/>
          <p:nvPr/>
        </p:nvSpPr>
        <p:spPr>
          <a:xfrm>
            <a:off x="6355080" y="2340864"/>
            <a:ext cx="2377440" cy="566928"/>
          </a:xfrm>
          <a:prstGeom prst="rect">
            <a:avLst/>
          </a:prstGeom>
          <a:noFill/>
        </p:spPr>
        <p:txBody>
          <a:bodyPr wrap="square" lIns="0" tIns="0" rIns="0" bIns="0" anchor="b">
            <a:spAutoFit/>
          </a:bodyPr>
          <a:lstStyle/>
          <a:p>
            <a:pPr algn="r"/>
            <a:r>
              <a:rPr sz="4000" b="1" i="0">
                <a:solidFill>
                  <a:srgbClr val="FF6200"/>
                </a:solidFill>
                <a:latin typeface="Ember Modern Display Standard"/>
              </a:rPr>
              <a:t>0.99994</a:t>
            </a:r>
            <a:endParaRPr sz="4000"/>
          </a:p>
        </p:txBody>
      </p:sp>
      <p:sp>
        <p:nvSpPr>
          <p:cNvPr id="286" name="Big number label"/>
          <p:cNvSpPr txBox="1"/>
          <p:nvPr/>
        </p:nvSpPr>
        <p:spPr>
          <a:xfrm>
            <a:off x="4032504" y="2340864"/>
            <a:ext cx="2880360" cy="512064"/>
          </a:xfrm>
          <a:prstGeom prst="rect">
            <a:avLst/>
          </a:prstGeom>
          <a:noFill/>
        </p:spPr>
        <p:txBody>
          <a:bodyPr wrap="square" lIns="0" tIns="0" rIns="0" bIns="0" anchor="b">
            <a:spAutoFit/>
          </a:bodyPr>
          <a:lstStyle/>
          <a:p>
            <a:pPr algn="r"/>
            <a:r>
              <a:rPr sz="1400" b="0" i="0">
                <a:solidFill>
                  <a:srgbClr val="5A6270"/>
                </a:solidFill>
                <a:latin typeface="Ember Modern Display Standard"/>
              </a:rPr>
              <a:t>second-chance model score  →</a:t>
            </a:r>
            <a:endParaRPr sz="1400"/>
          </a:p>
        </p:txBody>
      </p:sp>
      <p:sp>
        <p:nvSpPr>
          <p:cNvPr id="287" name="Outcome line"/>
          <p:cNvSpPr txBox="1"/>
          <p:nvPr/>
        </p:nvSpPr>
        <p:spPr>
          <a:xfrm>
            <a:off x="411480" y="4553712"/>
            <a:ext cx="8321040" cy="329184"/>
          </a:xfrm>
          <a:prstGeom prst="rect">
            <a:avLst/>
          </a:prstGeom>
          <a:noFill/>
        </p:spPr>
        <p:txBody>
          <a:bodyPr wrap="square" lIns="0" tIns="0" rIns="0" bIns="0" anchor="t">
            <a:spAutoFit/>
          </a:bodyPr>
          <a:lstStyle/>
          <a:p>
            <a:pPr algn="l"/>
            <a:r>
              <a:rPr sz="1600" b="0" i="0">
                <a:solidFill>
                  <a:srgbClr val="FF6200"/>
                </a:solidFill>
                <a:latin typeface="Segoe UI Symbol"/>
              </a:rPr>
              <a:t>🔗  </a:t>
            </a:r>
            <a:r>
              <a:rPr sz="1600" b="1" i="0">
                <a:solidFill>
                  <a:srgbClr val="C24E00"/>
                </a:solidFill>
                <a:latin typeface="Ember Modern Display Standard"/>
              </a:rPr>
              <a:t>Linked to Vijay Enterprises Private Limited, Ghatkopar, Mumbai</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Example:</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France</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Ember Modern Display Standard"/>
              </a:rPr>
              <a:t>A confident link is vetoed, because abstaining is cheaper than a wrong link.</a:t>
            </a:r>
            <a:endParaRPr sz="1600"/>
          </a:p>
        </p:txBody>
      </p:sp>
      <p:sp>
        <p:nvSpPr>
          <p:cNvPr id="268" name="Record body"/>
          <p:cNvSpPr/>
          <p:nvPr/>
        </p:nvSpPr>
        <p:spPr>
          <a:xfrm>
            <a:off x="411480" y="1591056"/>
            <a:ext cx="8321040" cy="658368"/>
          </a:xfrm>
          <a:prstGeom prst="roundRect">
            <a:avLst>
              <a:gd name="adj" fmla="val 11111"/>
            </a:avLst>
          </a:prstGeom>
          <a:solidFill>
            <a:srgbClr val="FFFFFF"/>
          </a:solidFill>
          <a:ln w="12700">
            <a:solidFill>
              <a:srgbClr val="C9CDD3"/>
            </a:solidFill>
          </a:ln>
        </p:spPr>
        <p:txBody>
          <a:bodyPr rtlCol="0" anchor="ctr" lIns="1143000" tIns="27432" bIns="27432" wrap="square"/>
          <a:lstStyle/>
          <a:p>
            <a:pPr algn="l"/>
            <a:r>
              <a:rPr sz="1700" b="1" i="0">
                <a:solidFill>
                  <a:srgbClr val="222222"/>
                </a:solidFill>
                <a:latin typeface="Ember Modern Display Standard"/>
              </a:rPr>
              <a:t>TQ COMITE SARL</a:t>
            </a:r>
            <a:endParaRPr sz="1700"/>
          </a:p>
          <a:p>
            <a:pPr algn="l"/>
            <a:r>
              <a:rPr sz="1400" b="0" i="0">
                <a:solidFill>
                  <a:srgbClr val="222222"/>
                </a:solidFill>
                <a:latin typeface="Ember Modern Display Standard"/>
              </a:rPr>
              <a:t>2 R SUZANNE LENGLEN, NANTES</a:t>
            </a:r>
            <a:endParaRPr sz="1400"/>
          </a:p>
        </p:txBody>
      </p:sp>
      <p:sp>
        <p:nvSpPr>
          <p:cNvPr id="269" name="Record header"/>
          <p:cNvSpPr/>
          <p:nvPr/>
        </p:nvSpPr>
        <p:spPr>
          <a:xfrm>
            <a:off x="411480" y="1591056"/>
            <a:ext cx="1005840" cy="658368"/>
          </a:xfrm>
          <a:prstGeom prst="roundRect">
            <a:avLst>
              <a:gd name="adj" fmla="val 11111"/>
            </a:avLst>
          </a:prstGeom>
          <a:solidFill>
            <a:srgbClr val="161D26"/>
          </a:solidFill>
          <a:ln>
            <a:noFill/>
          </a:ln>
        </p:spPr>
        <p:txBody>
          <a:bodyPr rtlCol="0" anchor="ctr" lIns="36576" tIns="0" rIns="36576" bIns="0" wrap="square"/>
          <a:lstStyle/>
          <a:p>
            <a:pPr algn="ctr"/>
            <a:r>
              <a:rPr sz="1300" b="0" i="0">
                <a:solidFill>
                  <a:srgbClr val="FFFFFF"/>
                </a:solidFill>
                <a:latin typeface="Segoe UI Symbol"/>
              </a:rPr>
              <a:t>📄 </a:t>
            </a:r>
            <a:r>
              <a:rPr sz="1600" b="1" i="0">
                <a:solidFill>
                  <a:srgbClr val="FFFFFF"/>
                </a:solidFill>
                <a:latin typeface="Ember Modern Display Standard"/>
              </a:rPr>
              <a:t>France</a:t>
            </a:r>
            <a:endParaRPr sz="1600"/>
          </a:p>
        </p:txBody>
      </p:sp>
      <p:sp>
        <p:nvSpPr>
          <p:cNvPr id="270" name="Step label 1"/>
          <p:cNvSpPr txBox="1"/>
          <p:nvPr/>
        </p:nvSpPr>
        <p:spPr>
          <a:xfrm>
            <a:off x="301752" y="2926080"/>
            <a:ext cx="1693469" cy="274320"/>
          </a:xfrm>
          <a:prstGeom prst="rect">
            <a:avLst/>
          </a:prstGeom>
          <a:noFill/>
        </p:spPr>
        <p:txBody>
          <a:bodyPr wrap="square" lIns="0" tIns="0" rIns="0" bIns="0" anchor="t">
            <a:spAutoFit/>
          </a:bodyPr>
          <a:lstStyle/>
          <a:p>
            <a:pPr algn="ctr"/>
            <a:r>
              <a:rPr sz="1400" b="1" i="0">
                <a:solidFill>
                  <a:srgbClr val="5A6270"/>
                </a:solidFill>
                <a:latin typeface="Ember Modern Display Standard"/>
              </a:rPr>
              <a:t>1  Find &amp; shortlist</a:t>
            </a:r>
            <a:endParaRPr sz="1400"/>
          </a:p>
        </p:txBody>
      </p:sp>
      <p:sp>
        <p:nvSpPr>
          <p:cNvPr id="271" name="Step 1"/>
          <p:cNvSpPr/>
          <p:nvPr/>
        </p:nvSpPr>
        <p:spPr>
          <a:xfrm>
            <a:off x="411480"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Ember Modern Display Standard"/>
              </a:rPr>
              <a:t>2 kept: same address, or same name</a:t>
            </a:r>
            <a:endParaRPr sz="1500"/>
          </a:p>
        </p:txBody>
      </p:sp>
      <p:cxnSp>
        <p:nvCxnSpPr>
          <p:cNvPr id="272" name="Step arrow 1"/>
          <p:cNvCxnSpPr/>
          <p:nvPr/>
        </p:nvCxnSpPr>
        <p:spPr>
          <a:xfrm>
            <a:off x="1912925" y="3831336"/>
            <a:ext cx="182880" cy="0"/>
          </a:xfrm>
          <a:prstGeom prst="line">
            <a:avLst/>
          </a:prstGeom>
          <a:ln w="2540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3" name="Step label 2"/>
          <p:cNvSpPr txBox="1"/>
          <p:nvPr/>
        </p:nvSpPr>
        <p:spPr>
          <a:xfrm>
            <a:off x="2013509" y="2926080"/>
            <a:ext cx="1693469" cy="274320"/>
          </a:xfrm>
          <a:prstGeom prst="rect">
            <a:avLst/>
          </a:prstGeom>
          <a:noFill/>
        </p:spPr>
        <p:txBody>
          <a:bodyPr wrap="square" lIns="0" tIns="0" rIns="0" bIns="0" anchor="t">
            <a:spAutoFit/>
          </a:bodyPr>
          <a:lstStyle/>
          <a:p>
            <a:pPr algn="ctr"/>
            <a:r>
              <a:rPr sz="1400" b="1" i="0">
                <a:solidFill>
                  <a:srgbClr val="5A6270"/>
                </a:solidFill>
                <a:latin typeface="Ember Modern Display Standard"/>
              </a:rPr>
              <a:t>2  French readers</a:t>
            </a:r>
            <a:endParaRPr sz="1400"/>
          </a:p>
        </p:txBody>
      </p:sp>
      <p:sp>
        <p:nvSpPr>
          <p:cNvPr id="274" name="Step 2"/>
          <p:cNvSpPr/>
          <p:nvPr/>
        </p:nvSpPr>
        <p:spPr>
          <a:xfrm>
            <a:off x="2123237"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Ember Modern Display Standard"/>
              </a:rPr>
              <a:t>French readers reject the same name in Pessac</a:t>
            </a:r>
            <a:endParaRPr sz="1500"/>
          </a:p>
        </p:txBody>
      </p:sp>
      <p:cxnSp>
        <p:nvCxnSpPr>
          <p:cNvPr id="275" name="Step arrow 2"/>
          <p:cNvCxnSpPr/>
          <p:nvPr/>
        </p:nvCxnSpPr>
        <p:spPr>
          <a:xfrm>
            <a:off x="3624682" y="3831336"/>
            <a:ext cx="182880" cy="0"/>
          </a:xfrm>
          <a:prstGeom prst="line">
            <a:avLst/>
          </a:prstGeom>
          <a:ln w="2540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6" name="Step label 3"/>
          <p:cNvSpPr txBox="1"/>
          <p:nvPr/>
        </p:nvSpPr>
        <p:spPr>
          <a:xfrm>
            <a:off x="3725266" y="2926080"/>
            <a:ext cx="1693469" cy="274320"/>
          </a:xfrm>
          <a:prstGeom prst="rect">
            <a:avLst/>
          </a:prstGeom>
          <a:noFill/>
        </p:spPr>
        <p:txBody>
          <a:bodyPr wrap="square" lIns="0" tIns="0" rIns="0" bIns="0" anchor="t">
            <a:spAutoFit/>
          </a:bodyPr>
          <a:lstStyle/>
          <a:p>
            <a:pPr algn="ctr"/>
            <a:r>
              <a:rPr sz="1400" b="1" i="0">
                <a:solidFill>
                  <a:srgbClr val="5A6270"/>
                </a:solidFill>
                <a:latin typeface="Ember Modern Display Standard"/>
              </a:rPr>
              <a:t>3  Decide</a:t>
            </a:r>
            <a:endParaRPr sz="1400"/>
          </a:p>
        </p:txBody>
      </p:sp>
      <p:sp>
        <p:nvSpPr>
          <p:cNvPr id="277" name="Step 3"/>
          <p:cNvSpPr/>
          <p:nvPr/>
        </p:nvSpPr>
        <p:spPr>
          <a:xfrm>
            <a:off x="3834994"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Ember Modern Display Standard"/>
              </a:rPr>
              <a:t>Confident and clear winner: TQ Parents, Nantes</a:t>
            </a:r>
            <a:endParaRPr sz="1500"/>
          </a:p>
        </p:txBody>
      </p:sp>
      <p:cxnSp>
        <p:nvCxnSpPr>
          <p:cNvPr id="278" name="Step arrow 3"/>
          <p:cNvCxnSpPr/>
          <p:nvPr/>
        </p:nvCxnSpPr>
        <p:spPr>
          <a:xfrm>
            <a:off x="5336438" y="3831336"/>
            <a:ext cx="182880" cy="0"/>
          </a:xfrm>
          <a:prstGeom prst="line">
            <a:avLst/>
          </a:prstGeom>
          <a:ln w="2540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9" name="Step label 4"/>
          <p:cNvSpPr txBox="1"/>
          <p:nvPr/>
        </p:nvSpPr>
        <p:spPr>
          <a:xfrm>
            <a:off x="5437022" y="2926080"/>
            <a:ext cx="1693469" cy="274320"/>
          </a:xfrm>
          <a:prstGeom prst="rect">
            <a:avLst/>
          </a:prstGeom>
          <a:noFill/>
        </p:spPr>
        <p:txBody>
          <a:bodyPr wrap="square" lIns="0" tIns="0" rIns="0" bIns="0" anchor="t">
            <a:spAutoFit/>
          </a:bodyPr>
          <a:lstStyle/>
          <a:p>
            <a:pPr algn="ctr"/>
            <a:r>
              <a:rPr sz="1400" b="1" i="0">
                <a:solidFill>
                  <a:srgbClr val="5A6270"/>
                </a:solidFill>
                <a:latin typeface="Ember Modern Display Standard"/>
              </a:rPr>
              <a:t>4  France rule check</a:t>
            </a:r>
            <a:endParaRPr sz="1400"/>
          </a:p>
        </p:txBody>
      </p:sp>
      <p:sp>
        <p:nvSpPr>
          <p:cNvPr id="280" name="Step 4"/>
          <p:cNvSpPr/>
          <p:nvPr/>
        </p:nvSpPr>
        <p:spPr>
          <a:xfrm>
            <a:off x="5546750"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Ember Modern Display Standard"/>
              </a:rPr>
              <a:t>'Parents' became 'Comite' at the same address</a:t>
            </a:r>
            <a:endParaRPr sz="1500"/>
          </a:p>
        </p:txBody>
      </p:sp>
      <p:cxnSp>
        <p:nvCxnSpPr>
          <p:cNvPr id="281" name="Step arrow 4"/>
          <p:cNvCxnSpPr/>
          <p:nvPr/>
        </p:nvCxnSpPr>
        <p:spPr>
          <a:xfrm>
            <a:off x="7048195" y="3831336"/>
            <a:ext cx="182880" cy="0"/>
          </a:xfrm>
          <a:prstGeom prst="line">
            <a:avLst/>
          </a:prstGeom>
          <a:ln w="2540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2" name="Step label 5"/>
          <p:cNvSpPr txBox="1"/>
          <p:nvPr/>
        </p:nvSpPr>
        <p:spPr>
          <a:xfrm>
            <a:off x="7148779" y="2926080"/>
            <a:ext cx="1693469" cy="274320"/>
          </a:xfrm>
          <a:prstGeom prst="rect">
            <a:avLst/>
          </a:prstGeom>
          <a:noFill/>
        </p:spPr>
        <p:txBody>
          <a:bodyPr wrap="square" lIns="0" tIns="0" rIns="0" bIns="0" anchor="t">
            <a:spAutoFit/>
          </a:bodyPr>
          <a:lstStyle/>
          <a:p>
            <a:pPr algn="ctr"/>
            <a:r>
              <a:rPr sz="1400" b="1" i="0">
                <a:solidFill>
                  <a:srgbClr val="5A6270"/>
                </a:solidFill>
                <a:latin typeface="Ember Modern Display Standard"/>
              </a:rPr>
              <a:t>5  Veto</a:t>
            </a:r>
            <a:endParaRPr sz="1400"/>
          </a:p>
        </p:txBody>
      </p:sp>
      <p:sp>
        <p:nvSpPr>
          <p:cNvPr id="283" name="Step 5"/>
          <p:cNvSpPr/>
          <p:nvPr/>
        </p:nvSpPr>
        <p:spPr>
          <a:xfrm>
            <a:off x="7258507" y="3200400"/>
            <a:ext cx="1474013" cy="1261872"/>
          </a:xfrm>
          <a:prstGeom prst="roundRect">
            <a:avLst>
              <a:gd name="adj" fmla="val 7246"/>
            </a:avLst>
          </a:prstGeom>
          <a:solidFill>
            <a:srgbClr val="FF6200"/>
          </a:solidFill>
          <a:ln>
            <a:noFill/>
          </a:ln>
        </p:spPr>
        <p:txBody>
          <a:bodyPr rtlCol="0" anchor="ctr" lIns="73152" rIns="73152" wrap="square"/>
          <a:lstStyle/>
          <a:p>
            <a:pPr algn="ctr"/>
            <a:r>
              <a:rPr sz="1500" b="1" i="0">
                <a:solidFill>
                  <a:srgbClr val="FFFFFF"/>
                </a:solidFill>
                <a:latin typeface="Ember Modern Display Standard"/>
              </a:rPr>
              <a:t>Rule vetoes the link → left unlinked</a:t>
            </a:r>
            <a:endParaRPr sz="1500"/>
          </a:p>
        </p:txBody>
      </p:sp>
      <p:sp>
        <p:nvSpPr>
          <p:cNvPr id="284" name="Big number"/>
          <p:cNvSpPr txBox="1"/>
          <p:nvPr/>
        </p:nvSpPr>
        <p:spPr>
          <a:xfrm>
            <a:off x="2834640" y="2340864"/>
            <a:ext cx="3474720" cy="566928"/>
          </a:xfrm>
          <a:prstGeom prst="rect">
            <a:avLst/>
          </a:prstGeom>
          <a:noFill/>
        </p:spPr>
        <p:txBody>
          <a:bodyPr wrap="square" lIns="0" tIns="0" rIns="0" bIns="0" anchor="b">
            <a:spAutoFit/>
          </a:bodyPr>
          <a:lstStyle/>
          <a:p>
            <a:pPr algn="ctr"/>
            <a:r>
              <a:rPr sz="4000" b="1" i="0">
                <a:solidFill>
                  <a:srgbClr val="FF6200"/>
                </a:solidFill>
                <a:latin typeface="Ember Modern Display Standard"/>
              </a:rPr>
              <a:t>0.9998 → veto</a:t>
            </a:r>
            <a:endParaRPr sz="4000"/>
          </a:p>
        </p:txBody>
      </p:sp>
      <p:sp>
        <p:nvSpPr>
          <p:cNvPr id="285" name="Outcome line"/>
          <p:cNvSpPr txBox="1"/>
          <p:nvPr/>
        </p:nvSpPr>
        <p:spPr>
          <a:xfrm>
            <a:off x="411480" y="4553712"/>
            <a:ext cx="8321040" cy="329184"/>
          </a:xfrm>
          <a:prstGeom prst="rect">
            <a:avLst/>
          </a:prstGeom>
          <a:noFill/>
        </p:spPr>
        <p:txBody>
          <a:bodyPr wrap="square" lIns="0" tIns="0" rIns="0" bIns="0" anchor="t">
            <a:spAutoFit/>
          </a:bodyPr>
          <a:lstStyle/>
          <a:p>
            <a:pPr algn="l"/>
            <a:r>
              <a:rPr sz="1600" b="0" i="0">
                <a:solidFill>
                  <a:srgbClr val="FF6200"/>
                </a:solidFill>
                <a:latin typeface="Segoe UI Symbol"/>
              </a:rPr>
              <a:t>✗  </a:t>
            </a:r>
            <a:r>
              <a:rPr sz="1600" b="1" i="0">
                <a:solidFill>
                  <a:srgbClr val="C24E00"/>
                </a:solidFill>
                <a:latin typeface="Ember Modern Display Standard"/>
              </a:rPr>
              <a:t>Left unlinked; both candidates stay in the candidate file</a:t>
            </a:r>
            <a:endParaRPr sz="16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Results and</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Learnings</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Ember Modern Display Standard"/>
              </a:rPr>
              <a:t>0.9913 on the public leaderboard, with hidden-fold scores in the same range, and honest limits.</a:t>
            </a:r>
            <a:endParaRPr sz="1600"/>
          </a:p>
        </p:txBody>
      </p:sp>
      <p:sp>
        <p:nvSpPr>
          <p:cNvPr id="268" name="Big score"/>
          <p:cNvSpPr txBox="1"/>
          <p:nvPr/>
        </p:nvSpPr>
        <p:spPr>
          <a:xfrm>
            <a:off x="411480" y="1545336"/>
            <a:ext cx="4023360" cy="777240"/>
          </a:xfrm>
          <a:prstGeom prst="rect">
            <a:avLst/>
          </a:prstGeom>
          <a:noFill/>
        </p:spPr>
        <p:txBody>
          <a:bodyPr wrap="square" lIns="0" tIns="0" rIns="0" bIns="0" anchor="ctr">
            <a:spAutoFit/>
          </a:bodyPr>
          <a:lstStyle/>
          <a:p>
            <a:pPr algn="l">
              <a:lnSpc>
                <a:spcPct val="90000"/>
              </a:lnSpc>
            </a:pPr>
            <a:r>
              <a:rPr sz="4400" b="1" i="0">
                <a:solidFill>
                  <a:srgbClr val="FF6200"/>
                </a:solidFill>
                <a:latin typeface="Ember Modern Display Standard"/>
              </a:rPr>
              <a:t>0.9913</a:t>
            </a:r>
            <a:endParaRPr sz="4400"/>
          </a:p>
          <a:p>
            <a:pPr algn="l"/>
            <a:r>
              <a:rPr sz="1400" b="0" i="0">
                <a:solidFill>
                  <a:srgbClr val="222222"/>
                </a:solidFill>
                <a:latin typeface="Ember Modern Display Standard"/>
              </a:rPr>
              <a:t>public F0.5, final file</a:t>
            </a:r>
            <a:endParaRPr sz="1400"/>
          </a:p>
        </p:txBody>
      </p:sp>
      <p:cxnSp>
        <p:nvCxnSpPr>
          <p:cNvPr id="269" name="Chart base"/>
          <p:cNvCxnSpPr/>
          <p:nvPr/>
        </p:nvCxnSpPr>
        <p:spPr>
          <a:xfrm>
            <a:off x="548640" y="3310128"/>
            <a:ext cx="4023360" cy="0"/>
          </a:xfrm>
          <a:prstGeom prst="line">
            <a:avLst/>
          </a:prstGeom>
          <a:ln w="12700">
            <a:solidFill>
              <a:srgbClr val="C9CDD3"/>
            </a:solidFill>
          </a:ln>
        </p:spPr>
        <p:style>
          <a:lnRef idx="2">
            <a:schemeClr val="accent1"/>
          </a:lnRef>
          <a:fillRef idx="0">
            <a:schemeClr val="accent1"/>
          </a:fillRef>
          <a:effectRef idx="1">
            <a:schemeClr val="accent1"/>
          </a:effectRef>
          <a:fontRef idx="minor">
            <a:schemeClr val="tx1"/>
          </a:fontRef>
        </p:style>
      </p:cxnSp>
      <p:cxnSp>
        <p:nvCxnSpPr>
          <p:cNvPr id="270" name="Step h0"/>
          <p:cNvCxnSpPr/>
          <p:nvPr/>
        </p:nvCxnSpPr>
        <p:spPr>
          <a:xfrm>
            <a:off x="941832" y="3143290"/>
            <a:ext cx="1024128" cy="0"/>
          </a:xfrm>
          <a:prstGeom prst="line">
            <a:avLst/>
          </a:prstGeom>
          <a:ln w="25400">
            <a:solidFill>
              <a:srgbClr val="161D26"/>
            </a:solidFill>
          </a:ln>
        </p:spPr>
        <p:style>
          <a:lnRef idx="2">
            <a:schemeClr val="accent1"/>
          </a:lnRef>
          <a:fillRef idx="0">
            <a:schemeClr val="accent1"/>
          </a:fillRef>
          <a:effectRef idx="1">
            <a:schemeClr val="accent1"/>
          </a:effectRef>
          <a:fontRef idx="minor">
            <a:schemeClr val="tx1"/>
          </a:fontRef>
        </p:style>
      </p:cxnSp>
      <p:cxnSp>
        <p:nvCxnSpPr>
          <p:cNvPr id="271" name="Step v0"/>
          <p:cNvCxnSpPr/>
          <p:nvPr/>
        </p:nvCxnSpPr>
        <p:spPr>
          <a:xfrm flipV="1">
            <a:off x="1965960" y="2772822"/>
            <a:ext cx="0" cy="370468"/>
          </a:xfrm>
          <a:prstGeom prst="line">
            <a:avLst/>
          </a:prstGeom>
          <a:ln w="25400">
            <a:solidFill>
              <a:srgbClr val="161D26"/>
            </a:solidFill>
          </a:ln>
        </p:spPr>
        <p:style>
          <a:lnRef idx="2">
            <a:schemeClr val="accent1"/>
          </a:lnRef>
          <a:fillRef idx="0">
            <a:schemeClr val="accent1"/>
          </a:fillRef>
          <a:effectRef idx="1">
            <a:schemeClr val="accent1"/>
          </a:effectRef>
          <a:fontRef idx="minor">
            <a:schemeClr val="tx1"/>
          </a:fontRef>
        </p:style>
      </p:cxnSp>
      <p:sp>
        <p:nvSpPr>
          <p:cNvPr id="272" name="Point 1"/>
          <p:cNvSpPr/>
          <p:nvPr/>
        </p:nvSpPr>
        <p:spPr>
          <a:xfrm>
            <a:off x="877824" y="3079282"/>
            <a:ext cx="128016" cy="128016"/>
          </a:xfrm>
          <a:prstGeom prst="ellipse">
            <a:avLst/>
          </a:prstGeom>
          <a:solidFill>
            <a:srgbClr val="161D26"/>
          </a:solidFill>
          <a:ln>
            <a:noFill/>
          </a:ln>
        </p:spPr>
        <p:txBody>
          <a:bodyPr rtlCol="0" anchor="t" lIns="0" tIns="0" rIns="0" bIns="0" wrap="square"/>
          <a:lstStyle/>
          <a:p>
            <a:pPr algn="ctr"/>
          </a:p>
        </p:txBody>
      </p:sp>
      <p:sp>
        <p:nvSpPr>
          <p:cNvPr id="273" name="Point value 1"/>
          <p:cNvSpPr txBox="1"/>
          <p:nvPr/>
        </p:nvSpPr>
        <p:spPr>
          <a:xfrm>
            <a:off x="438912" y="2814106"/>
            <a:ext cx="1005840" cy="256032"/>
          </a:xfrm>
          <a:prstGeom prst="rect">
            <a:avLst/>
          </a:prstGeom>
          <a:noFill/>
        </p:spPr>
        <p:txBody>
          <a:bodyPr wrap="square" lIns="0" tIns="0" rIns="0" bIns="0" anchor="t">
            <a:spAutoFit/>
          </a:bodyPr>
          <a:lstStyle/>
          <a:p>
            <a:pPr algn="ctr"/>
            <a:r>
              <a:rPr sz="1400" b="1" i="0">
                <a:solidFill>
                  <a:srgbClr val="222222"/>
                </a:solidFill>
                <a:latin typeface="Ember Modern Display Standard"/>
              </a:rPr>
              <a:t>0.9682</a:t>
            </a:r>
            <a:endParaRPr sz="1400"/>
          </a:p>
        </p:txBody>
      </p:sp>
      <p:sp>
        <p:nvSpPr>
          <p:cNvPr id="274" name="Point label 1"/>
          <p:cNvSpPr txBox="1"/>
          <p:nvPr/>
        </p:nvSpPr>
        <p:spPr>
          <a:xfrm>
            <a:off x="438912" y="3355848"/>
            <a:ext cx="1005840" cy="457200"/>
          </a:xfrm>
          <a:prstGeom prst="rect">
            <a:avLst/>
          </a:prstGeom>
          <a:noFill/>
        </p:spPr>
        <p:txBody>
          <a:bodyPr wrap="square" lIns="0" tIns="0" rIns="0" bIns="0" anchor="t">
            <a:spAutoFit/>
          </a:bodyPr>
          <a:lstStyle/>
          <a:p>
            <a:pPr algn="ctr">
              <a:lnSpc>
                <a:spcPct val="90000"/>
              </a:lnSpc>
            </a:pPr>
            <a:r>
              <a:rPr sz="1400" b="0" i="0">
                <a:solidFill>
                  <a:srgbClr val="5A6270"/>
                </a:solidFill>
                <a:latin typeface="Ember Modern Display Standard"/>
              </a:rPr>
              <a:t>first baseline</a:t>
            </a:r>
            <a:endParaRPr sz="1400"/>
          </a:p>
        </p:txBody>
      </p:sp>
      <p:cxnSp>
        <p:nvCxnSpPr>
          <p:cNvPr id="275" name="Step h1"/>
          <p:cNvCxnSpPr/>
          <p:nvPr/>
        </p:nvCxnSpPr>
        <p:spPr>
          <a:xfrm>
            <a:off x="1965960" y="2772822"/>
            <a:ext cx="1024128" cy="0"/>
          </a:xfrm>
          <a:prstGeom prst="line">
            <a:avLst/>
          </a:prstGeom>
          <a:ln w="25400">
            <a:solidFill>
              <a:srgbClr val="161D26"/>
            </a:solidFill>
          </a:ln>
        </p:spPr>
        <p:style>
          <a:lnRef idx="2">
            <a:schemeClr val="accent1"/>
          </a:lnRef>
          <a:fillRef idx="0">
            <a:schemeClr val="accent1"/>
          </a:fillRef>
          <a:effectRef idx="1">
            <a:schemeClr val="accent1"/>
          </a:effectRef>
          <a:fontRef idx="minor">
            <a:schemeClr val="tx1"/>
          </a:fontRef>
        </p:style>
      </p:cxnSp>
      <p:cxnSp>
        <p:nvCxnSpPr>
          <p:cNvPr id="276" name="Step v1"/>
          <p:cNvCxnSpPr/>
          <p:nvPr/>
        </p:nvCxnSpPr>
        <p:spPr>
          <a:xfrm flipV="1">
            <a:off x="2990088" y="2566405"/>
            <a:ext cx="0" cy="206417"/>
          </a:xfrm>
          <a:prstGeom prst="line">
            <a:avLst/>
          </a:prstGeom>
          <a:ln w="25400">
            <a:solidFill>
              <a:srgbClr val="161D26"/>
            </a:solidFill>
          </a:ln>
        </p:spPr>
        <p:style>
          <a:lnRef idx="2">
            <a:schemeClr val="accent1"/>
          </a:lnRef>
          <a:fillRef idx="0">
            <a:schemeClr val="accent1"/>
          </a:fillRef>
          <a:effectRef idx="1">
            <a:schemeClr val="accent1"/>
          </a:effectRef>
          <a:fontRef idx="minor">
            <a:schemeClr val="tx1"/>
          </a:fontRef>
        </p:style>
      </p:cxnSp>
      <p:sp>
        <p:nvSpPr>
          <p:cNvPr id="277" name="Point 2"/>
          <p:cNvSpPr/>
          <p:nvPr/>
        </p:nvSpPr>
        <p:spPr>
          <a:xfrm>
            <a:off x="1901952" y="2708814"/>
            <a:ext cx="128016" cy="128016"/>
          </a:xfrm>
          <a:prstGeom prst="ellipse">
            <a:avLst/>
          </a:prstGeom>
          <a:solidFill>
            <a:srgbClr val="161D26"/>
          </a:solidFill>
          <a:ln>
            <a:noFill/>
          </a:ln>
        </p:spPr>
        <p:txBody>
          <a:bodyPr rtlCol="0" anchor="t" lIns="0" tIns="0" rIns="0" bIns="0" wrap="square"/>
          <a:lstStyle/>
          <a:p>
            <a:pPr algn="ctr"/>
          </a:p>
        </p:txBody>
      </p:sp>
      <p:sp>
        <p:nvSpPr>
          <p:cNvPr id="278" name="Point value 2"/>
          <p:cNvSpPr txBox="1"/>
          <p:nvPr/>
        </p:nvSpPr>
        <p:spPr>
          <a:xfrm>
            <a:off x="1463040" y="2443638"/>
            <a:ext cx="1005840" cy="256032"/>
          </a:xfrm>
          <a:prstGeom prst="rect">
            <a:avLst/>
          </a:prstGeom>
          <a:noFill/>
        </p:spPr>
        <p:txBody>
          <a:bodyPr wrap="square" lIns="0" tIns="0" rIns="0" bIns="0" anchor="t">
            <a:spAutoFit/>
          </a:bodyPr>
          <a:lstStyle/>
          <a:p>
            <a:pPr algn="ctr"/>
            <a:r>
              <a:rPr sz="1400" b="1" i="0">
                <a:solidFill>
                  <a:srgbClr val="222222"/>
                </a:solidFill>
                <a:latin typeface="Ember Modern Display Standard"/>
              </a:rPr>
              <a:t>0.9826</a:t>
            </a:r>
            <a:endParaRPr sz="1400"/>
          </a:p>
        </p:txBody>
      </p:sp>
      <p:sp>
        <p:nvSpPr>
          <p:cNvPr id="279" name="Point label 2"/>
          <p:cNvSpPr txBox="1"/>
          <p:nvPr/>
        </p:nvSpPr>
        <p:spPr>
          <a:xfrm>
            <a:off x="1463040" y="3355848"/>
            <a:ext cx="1005840" cy="457200"/>
          </a:xfrm>
          <a:prstGeom prst="rect">
            <a:avLst/>
          </a:prstGeom>
          <a:noFill/>
        </p:spPr>
        <p:txBody>
          <a:bodyPr wrap="square" lIns="0" tIns="0" rIns="0" bIns="0" anchor="t">
            <a:spAutoFit/>
          </a:bodyPr>
          <a:lstStyle/>
          <a:p>
            <a:pPr algn="ctr">
              <a:lnSpc>
                <a:spcPct val="90000"/>
              </a:lnSpc>
            </a:pPr>
            <a:r>
              <a:rPr sz="1400" b="0" i="0">
                <a:solidFill>
                  <a:srgbClr val="5A6270"/>
                </a:solidFill>
                <a:latin typeface="Ember Modern Display Standard"/>
              </a:rPr>
              <a:t>first decision model</a:t>
            </a:r>
            <a:endParaRPr sz="1400"/>
          </a:p>
        </p:txBody>
      </p:sp>
      <p:cxnSp>
        <p:nvCxnSpPr>
          <p:cNvPr id="280" name="Step h2"/>
          <p:cNvCxnSpPr/>
          <p:nvPr/>
        </p:nvCxnSpPr>
        <p:spPr>
          <a:xfrm>
            <a:off x="2990088" y="2566405"/>
            <a:ext cx="1024128" cy="0"/>
          </a:xfrm>
          <a:prstGeom prst="line">
            <a:avLst/>
          </a:prstGeom>
          <a:ln w="25400">
            <a:solidFill>
              <a:srgbClr val="161D26"/>
            </a:solidFill>
          </a:ln>
        </p:spPr>
        <p:style>
          <a:lnRef idx="2">
            <a:schemeClr val="accent1"/>
          </a:lnRef>
          <a:fillRef idx="0">
            <a:schemeClr val="accent1"/>
          </a:fillRef>
          <a:effectRef idx="1">
            <a:schemeClr val="accent1"/>
          </a:effectRef>
          <a:fontRef idx="minor">
            <a:schemeClr val="tx1"/>
          </a:fontRef>
        </p:style>
      </p:cxnSp>
      <p:cxnSp>
        <p:nvCxnSpPr>
          <p:cNvPr id="281" name="Step v2"/>
          <p:cNvCxnSpPr/>
          <p:nvPr/>
        </p:nvCxnSpPr>
        <p:spPr>
          <a:xfrm flipV="1">
            <a:off x="4014216" y="2547196"/>
            <a:ext cx="0" cy="19209"/>
          </a:xfrm>
          <a:prstGeom prst="line">
            <a:avLst/>
          </a:prstGeom>
          <a:ln w="25400">
            <a:solidFill>
              <a:srgbClr val="161D26"/>
            </a:solidFill>
          </a:ln>
        </p:spPr>
        <p:style>
          <a:lnRef idx="2">
            <a:schemeClr val="accent1"/>
          </a:lnRef>
          <a:fillRef idx="0">
            <a:schemeClr val="accent1"/>
          </a:fillRef>
          <a:effectRef idx="1">
            <a:schemeClr val="accent1"/>
          </a:effectRef>
          <a:fontRef idx="minor">
            <a:schemeClr val="tx1"/>
          </a:fontRef>
        </p:style>
      </p:cxnSp>
      <p:sp>
        <p:nvSpPr>
          <p:cNvPr id="282" name="Point 3"/>
          <p:cNvSpPr/>
          <p:nvPr/>
        </p:nvSpPr>
        <p:spPr>
          <a:xfrm>
            <a:off x="2926080" y="2502397"/>
            <a:ext cx="128016" cy="128016"/>
          </a:xfrm>
          <a:prstGeom prst="ellipse">
            <a:avLst/>
          </a:prstGeom>
          <a:solidFill>
            <a:srgbClr val="161D26"/>
          </a:solidFill>
          <a:ln>
            <a:noFill/>
          </a:ln>
        </p:spPr>
        <p:txBody>
          <a:bodyPr rtlCol="0" anchor="t" lIns="0" tIns="0" rIns="0" bIns="0" wrap="square"/>
          <a:lstStyle/>
          <a:p>
            <a:pPr algn="ctr"/>
          </a:p>
        </p:txBody>
      </p:sp>
      <p:sp>
        <p:nvSpPr>
          <p:cNvPr id="283" name="Point value 3"/>
          <p:cNvSpPr txBox="1"/>
          <p:nvPr/>
        </p:nvSpPr>
        <p:spPr>
          <a:xfrm>
            <a:off x="2487168" y="2237221"/>
            <a:ext cx="1005840" cy="256032"/>
          </a:xfrm>
          <a:prstGeom prst="rect">
            <a:avLst/>
          </a:prstGeom>
          <a:noFill/>
        </p:spPr>
        <p:txBody>
          <a:bodyPr wrap="square" lIns="0" tIns="0" rIns="0" bIns="0" anchor="t">
            <a:spAutoFit/>
          </a:bodyPr>
          <a:lstStyle/>
          <a:p>
            <a:pPr algn="ctr"/>
            <a:r>
              <a:rPr sz="1400" b="1" i="0">
                <a:solidFill>
                  <a:srgbClr val="222222"/>
                </a:solidFill>
                <a:latin typeface="Ember Modern Display Standard"/>
              </a:rPr>
              <a:t>0.9906</a:t>
            </a:r>
            <a:endParaRPr sz="1400"/>
          </a:p>
        </p:txBody>
      </p:sp>
      <p:sp>
        <p:nvSpPr>
          <p:cNvPr id="284" name="Point label 3"/>
          <p:cNvSpPr txBox="1"/>
          <p:nvPr/>
        </p:nvSpPr>
        <p:spPr>
          <a:xfrm>
            <a:off x="2487168" y="3355848"/>
            <a:ext cx="1005840" cy="457200"/>
          </a:xfrm>
          <a:prstGeom prst="rect">
            <a:avLst/>
          </a:prstGeom>
          <a:noFill/>
        </p:spPr>
        <p:txBody>
          <a:bodyPr wrap="square" lIns="0" tIns="0" rIns="0" bIns="0" anchor="t">
            <a:spAutoFit/>
          </a:bodyPr>
          <a:lstStyle/>
          <a:p>
            <a:pPr algn="ctr">
              <a:lnSpc>
                <a:spcPct val="90000"/>
              </a:lnSpc>
            </a:pPr>
            <a:r>
              <a:rPr sz="1400" b="0" i="0">
                <a:solidFill>
                  <a:srgbClr val="5A6270"/>
                </a:solidFill>
                <a:latin typeface="Ember Modern Display Standard"/>
              </a:rPr>
              <a:t>France adapted</a:t>
            </a:r>
            <a:endParaRPr sz="1400"/>
          </a:p>
        </p:txBody>
      </p:sp>
      <p:sp>
        <p:nvSpPr>
          <p:cNvPr id="285" name="Point 4"/>
          <p:cNvSpPr/>
          <p:nvPr/>
        </p:nvSpPr>
        <p:spPr>
          <a:xfrm>
            <a:off x="3950208" y="2483188"/>
            <a:ext cx="128016" cy="128016"/>
          </a:xfrm>
          <a:prstGeom prst="ellipse">
            <a:avLst/>
          </a:prstGeom>
          <a:solidFill>
            <a:srgbClr val="FF6200"/>
          </a:solidFill>
          <a:ln>
            <a:noFill/>
          </a:ln>
        </p:spPr>
        <p:txBody>
          <a:bodyPr rtlCol="0" anchor="t" lIns="0" tIns="0" rIns="0" bIns="0" wrap="square"/>
          <a:lstStyle/>
          <a:p>
            <a:pPr algn="ctr"/>
          </a:p>
        </p:txBody>
      </p:sp>
      <p:sp>
        <p:nvSpPr>
          <p:cNvPr id="286" name="Point label 4"/>
          <p:cNvSpPr txBox="1"/>
          <p:nvPr/>
        </p:nvSpPr>
        <p:spPr>
          <a:xfrm>
            <a:off x="3511296" y="3355848"/>
            <a:ext cx="1005840" cy="457200"/>
          </a:xfrm>
          <a:prstGeom prst="rect">
            <a:avLst/>
          </a:prstGeom>
          <a:noFill/>
        </p:spPr>
        <p:txBody>
          <a:bodyPr wrap="square" lIns="0" tIns="0" rIns="0" bIns="0" anchor="t">
            <a:spAutoFit/>
          </a:bodyPr>
          <a:lstStyle/>
          <a:p>
            <a:pPr algn="ctr">
              <a:lnSpc>
                <a:spcPct val="90000"/>
              </a:lnSpc>
            </a:pPr>
            <a:r>
              <a:rPr sz="1400" b="0" i="0">
                <a:solidFill>
                  <a:srgbClr val="C24E00"/>
                </a:solidFill>
                <a:latin typeface="Ember Modern Display Standard"/>
              </a:rPr>
              <a:t>final</a:t>
            </a:r>
            <a:endParaRPr sz="1400"/>
          </a:p>
        </p:txBody>
      </p:sp>
      <p:sp>
        <p:nvSpPr>
          <p:cNvPr id="287" name="Folds panel"/>
          <p:cNvSpPr/>
          <p:nvPr/>
        </p:nvSpPr>
        <p:spPr>
          <a:xfrm>
            <a:off x="4709160" y="1591056"/>
            <a:ext cx="4023360" cy="1207008"/>
          </a:xfrm>
          <a:prstGeom prst="roundRect">
            <a:avLst>
              <a:gd name="adj" fmla="val 6060"/>
            </a:avLst>
          </a:prstGeom>
          <a:solidFill>
            <a:srgbClr val="F3F4F6"/>
          </a:solidFill>
          <a:ln>
            <a:noFill/>
          </a:ln>
        </p:spPr>
        <p:txBody>
          <a:bodyPr rtlCol="0" anchor="ctr" lIns="164592" tIns="36576" bIns="36576" wrap="square"/>
          <a:lstStyle/>
          <a:p>
            <a:pPr algn="l">
              <a:spcAft>
                <a:spcPts val="300"/>
              </a:spcAft>
            </a:pPr>
            <a:r>
              <a:rPr sz="1500" b="1" i="0">
                <a:solidFill>
                  <a:srgbClr val="222222"/>
                </a:solidFill>
                <a:latin typeface="Ember Modern Display Standard"/>
              </a:rPr>
              <a:t>Hidden-fold F0.5 </a:t>
            </a:r>
            <a:r>
              <a:rPr sz="1500" b="0" i="0">
                <a:solidFill>
                  <a:srgbClr val="5A6270"/>
                </a:solidFill>
                <a:latin typeface="Ember Modern Display Standard"/>
              </a:rPr>
              <a:t>(fold 9 / fold 8)</a:t>
            </a:r>
            <a:endParaRPr sz="1500"/>
          </a:p>
          <a:p>
            <a:pPr algn="l">
              <a:spcAft>
                <a:spcPts val="100"/>
              </a:spcAft>
            </a:pPr>
            <a:r>
              <a:rPr sz="1500" b="1" i="0">
                <a:solidFill>
                  <a:srgbClr val="222222"/>
                </a:solidFill>
                <a:latin typeface="Ember Modern Display Standard"/>
              </a:rPr>
              <a:t>US      </a:t>
            </a:r>
            <a:r>
              <a:rPr sz="1500" b="0" i="0">
                <a:solidFill>
                  <a:srgbClr val="222222"/>
                </a:solidFill>
                <a:latin typeface="Ember Modern Display Standard"/>
              </a:rPr>
              <a:t>0.9912 / 0.9915</a:t>
            </a:r>
            <a:endParaRPr sz="1500"/>
          </a:p>
          <a:p>
            <a:pPr algn="l">
              <a:spcAft>
                <a:spcPts val="100"/>
              </a:spcAft>
            </a:pPr>
            <a:r>
              <a:rPr sz="1500" b="1" i="0">
                <a:solidFill>
                  <a:srgbClr val="222222"/>
                </a:solidFill>
                <a:latin typeface="Ember Modern Display Standard"/>
              </a:rPr>
              <a:t>India  </a:t>
            </a:r>
            <a:r>
              <a:rPr sz="1500" b="0" i="0">
                <a:solidFill>
                  <a:srgbClr val="222222"/>
                </a:solidFill>
                <a:latin typeface="Ember Modern Display Standard"/>
              </a:rPr>
              <a:t>0.9900 / 0.9903</a:t>
            </a:r>
            <a:endParaRPr sz="1500"/>
          </a:p>
          <a:p>
            <a:pPr algn="l"/>
            <a:r>
              <a:rPr sz="1500" b="1" i="0">
                <a:solidFill>
                  <a:srgbClr val="222222"/>
                </a:solidFill>
                <a:latin typeface="Ember Modern Display Standard"/>
              </a:rPr>
              <a:t>France  </a:t>
            </a:r>
            <a:r>
              <a:rPr sz="1500" b="0" i="0">
                <a:solidFill>
                  <a:srgbClr val="5A6270"/>
                </a:solidFill>
                <a:latin typeface="Ember Modern Display Standard"/>
              </a:rPr>
              <a:t>no labels, so no fold score</a:t>
            </a:r>
            <a:endParaRPr sz="1500"/>
          </a:p>
        </p:txBody>
      </p:sp>
      <p:sp>
        <p:nvSpPr>
          <p:cNvPr id="288" name="Worked next"/>
          <p:cNvSpPr txBox="1"/>
          <p:nvPr/>
        </p:nvSpPr>
        <p:spPr>
          <a:xfrm>
            <a:off x="4709160" y="2889504"/>
            <a:ext cx="4023360" cy="777240"/>
          </a:xfrm>
          <a:prstGeom prst="rect">
            <a:avLst/>
          </a:prstGeom>
          <a:noFill/>
        </p:spPr>
        <p:txBody>
          <a:bodyPr wrap="square" lIns="0" tIns="0" rIns="0" bIns="0" anchor="t">
            <a:spAutoFit/>
          </a:bodyPr>
          <a:lstStyle/>
          <a:p>
            <a:pPr algn="l">
              <a:spcAft>
                <a:spcPts val="600"/>
              </a:spcAft>
            </a:pPr>
            <a:r>
              <a:rPr sz="1500" b="1" i="0">
                <a:solidFill>
                  <a:srgbClr val="FF6200"/>
                </a:solidFill>
                <a:latin typeface="Segoe UI Symbol"/>
              </a:rPr>
              <a:t>✓  </a:t>
            </a:r>
            <a:r>
              <a:rPr sz="1500" b="1" i="0">
                <a:solidFill>
                  <a:srgbClr val="222222"/>
                </a:solidFill>
                <a:latin typeface="Ember Modern Display Standard"/>
              </a:rPr>
              <a:t>Worked: </a:t>
            </a:r>
            <a:r>
              <a:rPr sz="1500" b="0" i="0">
                <a:solidFill>
                  <a:srgbClr val="222222"/>
                </a:solidFill>
                <a:latin typeface="Ember Modern Display Standard"/>
              </a:rPr>
              <a:t>describing exactly what changed</a:t>
            </a:r>
            <a:endParaRPr sz="1500"/>
          </a:p>
          <a:p>
            <a:pPr algn="l"/>
            <a:r>
              <a:rPr sz="1500" b="1" i="0">
                <a:solidFill>
                  <a:srgbClr val="FF6200"/>
                </a:solidFill>
                <a:latin typeface="Segoe UI Symbol"/>
              </a:rPr>
              <a:t>→  </a:t>
            </a:r>
            <a:r>
              <a:rPr sz="1500" b="1" i="0">
                <a:solidFill>
                  <a:srgbClr val="222222"/>
                </a:solidFill>
                <a:latin typeface="Ember Modern Display Standard"/>
              </a:rPr>
              <a:t>Next: </a:t>
            </a:r>
            <a:r>
              <a:rPr sz="1500" b="0" i="0">
                <a:solidFill>
                  <a:srgbClr val="222222"/>
                </a:solidFill>
                <a:latin typeface="Ember Modern Display Standard"/>
              </a:rPr>
              <a:t>untouched check fold, small French label set</a:t>
            </a:r>
            <a:endParaRPr sz="1500"/>
          </a:p>
        </p:txBody>
      </p:sp>
      <p:sp>
        <p:nvSpPr>
          <p:cNvPr id="289" name="Limits box"/>
          <p:cNvSpPr/>
          <p:nvPr/>
        </p:nvSpPr>
        <p:spPr>
          <a:xfrm>
            <a:off x="411480" y="3840480"/>
            <a:ext cx="8321040" cy="1005840"/>
          </a:xfrm>
          <a:prstGeom prst="roundRect">
            <a:avLst>
              <a:gd name="adj" fmla="val 5454"/>
            </a:avLst>
          </a:prstGeom>
          <a:solidFill>
            <a:srgbClr val="EEEEEE"/>
          </a:solidFill>
          <a:ln>
            <a:noFill/>
          </a:ln>
        </p:spPr>
        <p:txBody>
          <a:bodyPr rtlCol="0" anchor="ctr" lIns="201168" tIns="36576" rIns="128016" bIns="36576" wrap="square"/>
          <a:lstStyle/>
          <a:p>
            <a:pPr algn="l"/>
            <a:r>
              <a:rPr sz="1400" b="1" i="0">
                <a:solidFill>
                  <a:srgbClr val="C24E00"/>
                </a:solidFill>
                <a:latin typeface="Ember Modern Display Standard"/>
              </a:rPr>
              <a:t>Limits  </a:t>
            </a:r>
            <a:r>
              <a:rPr sz="1400" b="0" i="0">
                <a:solidFill>
                  <a:srgbClr val="222222"/>
                </a:solidFill>
                <a:latin typeface="Ember Modern Display Standard"/>
              </a:rPr>
              <a:t>We never had a fully untouched test of the final file: the hidden folds also helped set our thresholds. France relied on self-training and on rules designed after looking at unlabelled test records, and we kept the French E5 reader although it failed 2 of its 4 written checks. The public leaderboard helped us pick the final file.</a:t>
            </a:r>
            <a:endParaRPr sz="1400"/>
          </a:p>
        </p:txBody>
      </p:sp>
      <p:sp>
        <p:nvSpPr>
          <p:cNvPr id="290" name="Limits accent"/>
          <p:cNvSpPr/>
          <p:nvPr/>
        </p:nvSpPr>
        <p:spPr>
          <a:xfrm>
            <a:off x="411480" y="3840480"/>
            <a:ext cx="64008" cy="1005840"/>
          </a:xfrm>
          <a:prstGeom prst="rect">
            <a:avLst/>
          </a:prstGeom>
          <a:solidFill>
            <a:srgbClr val="FF6200"/>
          </a:solidFill>
          <a:ln>
            <a:noFill/>
          </a:ln>
        </p:spPr>
        <p:txBody>
          <a:bodyPr rtlCol="0" anchor="t" lIns="0" tIns="0" rIns="0" bIns="0" wrap="square"/>
          <a:lstStyle/>
          <a:p>
            <a:pPr algn="ct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61D26"/>
        </a:solidFill>
        <a:effectLst/>
      </p:bgPr>
    </p:bg>
    <p:spTree>
      <p:nvGrpSpPr>
        <p:cNvPr id="1" name="Shape 124">
          <a:extLst>
            <a:ext uri="{FF2B5EF4-FFF2-40B4-BE49-F238E27FC236}">
              <a16:creationId xmlns:a16="http://schemas.microsoft.com/office/drawing/2014/main" id="{73DD50EC-CAFF-8F02-F010-6694E0B1FB8B}"/>
            </a:ext>
          </a:extLst>
        </p:cNvPr>
        <p:cNvGrpSpPr/>
        <p:nvPr/>
      </p:nvGrpSpPr>
      <p:grpSpPr>
        <a:xfrm>
          <a:off x="0" y="0"/>
          <a:ext cx="0" cy="0"/>
          <a:chOff x="0" y="0"/>
          <a:chExt cx="0" cy="0"/>
        </a:xfrm>
      </p:grpSpPr>
      <p:sp>
        <p:nvSpPr>
          <p:cNvPr id="125" name="Google Shape;125;p36">
            <a:extLst>
              <a:ext uri="{FF2B5EF4-FFF2-40B4-BE49-F238E27FC236}">
                <a16:creationId xmlns:a16="http://schemas.microsoft.com/office/drawing/2014/main" id="{FB03AD22-4ED4-FE94-6FE7-8417ED8F816B}"/>
              </a:ext>
            </a:extLst>
          </p:cNvPr>
          <p:cNvSpPr>
            <a:spLocks noGrp="1" noRot="1" noMove="1" noResize="1" noEditPoints="1" noAdjustHandles="1" noChangeArrowheads="1" noChangeShapeType="1"/>
          </p:cNvSpPr>
          <p:nvPr/>
        </p:nvSpPr>
        <p:spPr>
          <a:xfrm>
            <a:off x="487675" y="403650"/>
            <a:ext cx="8181300" cy="4153800"/>
          </a:xfrm>
          <a:prstGeom prst="roundRect">
            <a:avLst>
              <a:gd name="adj" fmla="val 2303"/>
            </a:avLst>
          </a:prstGeom>
          <a:solidFill>
            <a:srgbClr val="2934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 name="Picture 1" descr="Amazon logo">
            <a:extLst>
              <a:ext uri="{FF2B5EF4-FFF2-40B4-BE49-F238E27FC236}">
                <a16:creationId xmlns:a16="http://schemas.microsoft.com/office/drawing/2014/main" id="{7EBF125C-021C-FEB9-9139-9A3274BE5891}"/>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tretch>
            <a:fillRect/>
          </a:stretch>
        </p:blipFill>
        <p:spPr>
          <a:xfrm>
            <a:off x="4294907" y="4731974"/>
            <a:ext cx="554186" cy="185801"/>
          </a:xfrm>
          <a:prstGeom prst="rect">
            <a:avLst/>
          </a:prstGeom>
        </p:spPr>
      </p:pic>
      <p:sp>
        <p:nvSpPr>
          <p:cNvPr id="126" name="Closing title"/>
          <p:cNvSpPr txBox="1"/>
          <p:nvPr/>
        </p:nvSpPr>
        <p:spPr>
          <a:xfrm>
            <a:off x="914400" y="1463040"/>
            <a:ext cx="7315200" cy="1737360"/>
          </a:xfrm>
          <a:prstGeom prst="rect">
            <a:avLst/>
          </a:prstGeom>
          <a:noFill/>
        </p:spPr>
        <p:txBody>
          <a:bodyPr wrap="square" lIns="0" tIns="0" rIns="0" bIns="0" anchor="t">
            <a:spAutoFit/>
          </a:bodyPr>
          <a:lstStyle/>
          <a:p>
            <a:pPr algn="ctr">
              <a:lnSpc>
                <a:spcPct val="90000"/>
              </a:lnSpc>
            </a:pPr>
            <a:r>
              <a:rPr sz="4800" b="1" i="0">
                <a:solidFill>
                  <a:srgbClr val="EEEEEE"/>
                </a:solidFill>
                <a:latin typeface="Ember Modern Display Standard"/>
              </a:rPr>
              <a:t>Thank you</a:t>
            </a:r>
            <a:endParaRPr sz="4800"/>
          </a:p>
          <a:p>
            <a:pPr algn="ctr">
              <a:lnSpc>
                <a:spcPct val="90000"/>
              </a:lnSpc>
            </a:pPr>
            <a:r>
              <a:rPr sz="4800" b="1" i="0">
                <a:solidFill>
                  <a:srgbClr val="FF6200"/>
                </a:solidFill>
                <a:latin typeface="Ember Modern Display Standard"/>
              </a:rPr>
              <a:t>Questions</a:t>
            </a:r>
            <a:endParaRPr sz="4800"/>
          </a:p>
        </p:txBody>
      </p:sp>
      <p:sp>
        <p:nvSpPr>
          <p:cNvPr id="127" name="Closing team"/>
          <p:cNvSpPr txBox="1"/>
          <p:nvPr/>
        </p:nvSpPr>
        <p:spPr>
          <a:xfrm>
            <a:off x="914400" y="3090672"/>
            <a:ext cx="7315200" cy="365760"/>
          </a:xfrm>
          <a:prstGeom prst="rect">
            <a:avLst/>
          </a:prstGeom>
          <a:noFill/>
        </p:spPr>
        <p:txBody>
          <a:bodyPr wrap="square" lIns="0" tIns="0" rIns="0" bIns="0" anchor="t">
            <a:spAutoFit/>
          </a:bodyPr>
          <a:lstStyle/>
          <a:p>
            <a:pPr algn="ctr"/>
            <a:r>
              <a:rPr sz="1600" b="0" i="0">
                <a:solidFill>
                  <a:srgbClr val="C9CDD3"/>
                </a:solidFill>
                <a:latin typeface="Ember Modern Display Standard"/>
              </a:rPr>
              <a:t>Team Androids</a:t>
            </a:r>
            <a:endParaRPr sz="1600"/>
          </a:p>
        </p:txBody>
      </p:sp>
      <p:sp>
        <p:nvSpPr>
          <p:cNvPr id="128" name="Closing line"/>
          <p:cNvSpPr txBox="1"/>
          <p:nvPr/>
        </p:nvSpPr>
        <p:spPr>
          <a:xfrm>
            <a:off x="914400" y="3493008"/>
            <a:ext cx="7315200" cy="310896"/>
          </a:xfrm>
          <a:prstGeom prst="rect">
            <a:avLst/>
          </a:prstGeom>
          <a:noFill/>
        </p:spPr>
        <p:txBody>
          <a:bodyPr wrap="square" lIns="0" tIns="0" rIns="0" bIns="0" anchor="t">
            <a:spAutoFit/>
          </a:bodyPr>
          <a:lstStyle/>
          <a:p>
            <a:pPr algn="ctr"/>
            <a:r>
              <a:rPr sz="1500" b="0" i="0">
                <a:solidFill>
                  <a:srgbClr val="FF6200"/>
                </a:solidFill>
                <a:latin typeface="Ember Modern Display Standard"/>
              </a:rPr>
              <a:t>6.7 trillion possible pairs → 12.3 million candidates  ·  public F0.5 0.9913</a:t>
            </a:r>
            <a:endParaRPr sz="1500"/>
          </a:p>
        </p:txBody>
      </p:sp>
    </p:spTree>
    <p:extLst>
      <p:ext uri="{BB962C8B-B14F-4D97-AF65-F5344CB8AC3E}">
        <p14:creationId xmlns:p14="http://schemas.microsoft.com/office/powerpoint/2010/main" val="3227969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Full Pipeline</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Architecture</a:t>
            </a:r>
            <a:br>
              <a:rPr lang="en" sz="1100" dirty="0">
                <a:solidFill>
                  <a:srgbClr val="222222"/>
                </a:solidFill>
                <a:highlight>
                  <a:srgbClr val="FFFFFF"/>
                </a:highlight>
                <a:latin typeface="Ember Modern Display Standard" panose="020B0503020204020204" pitchFamily="34" charset="0"/>
                <a:ea typeface="Special Gothic"/>
                <a:cs typeface="Special Gothic"/>
                <a:sym typeface="Special Gothic"/>
              </a:rPr>
            </a:br>
            <a:br>
              <a:rPr lang="en" sz="1100" dirty="0">
                <a:solidFill>
                  <a:schemeClr val="accent2"/>
                </a:solidFill>
                <a:highlight>
                  <a:srgbClr val="FFFFFF"/>
                </a:highlight>
                <a:latin typeface="Ember Modern Display Standard" panose="020B0503020204020204" pitchFamily="34" charset="0"/>
                <a:ea typeface="Special Gothic"/>
                <a:cs typeface="Special Gothic"/>
                <a:sym typeface="Special Gothic"/>
              </a:rPr>
            </a:br>
            <a:r>
              <a:rPr lang="en" sz="1400" dirty="0">
                <a:solidFill>
                  <a:schemeClr val="accent2"/>
                </a:solidFill>
                <a:latin typeface="Ember Modern Display Standard" panose="020B0503020204020204" pitchFamily="34" charset="0"/>
              </a:rPr>
              <a:t>Backup  ·  the complete diagram</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pic>
        <p:nvPicPr>
          <p:cNvPr id="267" name="Architecture diagram, full detail" descr="Full pipeline in five zones: Find, Filter and shortlist, Read, Decide, Second chances and France, then the output files and the organisers' validator"/>
          <p:cNvPicPr>
            <a:picLocks noChangeAspect="1"/>
          </p:cNvPicPr>
          <p:nvPr/>
        </p:nvPicPr>
        <p:blipFill>
          <a:blip r:embed="rId2"/>
          <a:stretch>
            <a:fillRect/>
          </a:stretch>
        </p:blipFill>
        <p:spPr>
          <a:xfrm>
            <a:off x="807194" y="1243584"/>
            <a:ext cx="7529611" cy="363931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Funnel in</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Numbers</a:t>
            </a:r>
            <a:br>
              <a:rPr lang="en" sz="1100" dirty="0">
                <a:solidFill>
                  <a:srgbClr val="222222"/>
                </a:solidFill>
                <a:highlight>
                  <a:srgbClr val="FFFFFF"/>
                </a:highlight>
                <a:latin typeface="Ember Modern Display Standard" panose="020B0503020204020204" pitchFamily="34" charset="0"/>
                <a:ea typeface="Special Gothic"/>
                <a:cs typeface="Special Gothic"/>
                <a:sym typeface="Special Gothic"/>
              </a:rPr>
            </a:br>
            <a:br>
              <a:rPr lang="en" sz="1100" dirty="0">
                <a:solidFill>
                  <a:schemeClr val="accent2"/>
                </a:solidFill>
                <a:highlight>
                  <a:srgbClr val="FFFFFF"/>
                </a:highlight>
                <a:latin typeface="Ember Modern Display Standard" panose="020B0503020204020204" pitchFamily="34" charset="0"/>
                <a:ea typeface="Special Gothic"/>
                <a:cs typeface="Special Gothic"/>
                <a:sym typeface="Special Gothic"/>
              </a:rPr>
            </a:br>
            <a:r>
              <a:rPr lang="en" sz="1400" dirty="0">
                <a:solidFill>
                  <a:schemeClr val="accent2"/>
                </a:solidFill>
                <a:latin typeface="Ember Modern Display Standard" panose="020B0503020204020204" pitchFamily="34" charset="0"/>
              </a:rPr>
              <a:t>Backup  ·  every step of the search, per business</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Funnel table r0c0"/>
          <p:cNvSpPr txBox="1"/>
          <p:nvPr/>
        </p:nvSpPr>
        <p:spPr>
          <a:xfrm>
            <a:off x="548640" y="1371600"/>
            <a:ext cx="4206240" cy="365760"/>
          </a:xfrm>
          <a:prstGeom prst="rect">
            <a:avLst/>
          </a:prstGeom>
          <a:noFill/>
        </p:spPr>
        <p:txBody>
          <a:bodyPr wrap="square" lIns="45720" tIns="0" rIns="45720" bIns="0" anchor="ctr">
            <a:spAutoFit/>
          </a:bodyPr>
          <a:lstStyle/>
          <a:p>
            <a:pPr algn="l"/>
            <a:r>
              <a:rPr sz="1400" b="1" i="0">
                <a:solidFill>
                  <a:srgbClr val="161D26"/>
                </a:solidFill>
                <a:latin typeface="Ember Modern Display Standard"/>
              </a:rPr>
              <a:t>Step</a:t>
            </a:r>
            <a:endParaRPr sz="1400"/>
          </a:p>
        </p:txBody>
      </p:sp>
      <p:sp>
        <p:nvSpPr>
          <p:cNvPr id="268" name="Funnel table r0c1"/>
          <p:cNvSpPr txBox="1"/>
          <p:nvPr/>
        </p:nvSpPr>
        <p:spPr>
          <a:xfrm>
            <a:off x="4754880" y="1371600"/>
            <a:ext cx="2103120" cy="365760"/>
          </a:xfrm>
          <a:prstGeom prst="rect">
            <a:avLst/>
          </a:prstGeom>
          <a:noFill/>
        </p:spPr>
        <p:txBody>
          <a:bodyPr wrap="square" lIns="45720" tIns="0" rIns="45720" bIns="0" anchor="ctr">
            <a:spAutoFit/>
          </a:bodyPr>
          <a:lstStyle/>
          <a:p>
            <a:pPr algn="r"/>
            <a:r>
              <a:rPr sz="1400" b="1" i="0">
                <a:solidFill>
                  <a:srgbClr val="161D26"/>
                </a:solidFill>
                <a:latin typeface="Ember Modern Display Standard"/>
              </a:rPr>
              <a:t>Pairs</a:t>
            </a:r>
            <a:endParaRPr sz="1400"/>
          </a:p>
        </p:txBody>
      </p:sp>
      <p:sp>
        <p:nvSpPr>
          <p:cNvPr id="269" name="Funnel table r0c2"/>
          <p:cNvSpPr txBox="1"/>
          <p:nvPr/>
        </p:nvSpPr>
        <p:spPr>
          <a:xfrm>
            <a:off x="6858000" y="1371600"/>
            <a:ext cx="1737360" cy="365760"/>
          </a:xfrm>
          <a:prstGeom prst="rect">
            <a:avLst/>
          </a:prstGeom>
          <a:noFill/>
        </p:spPr>
        <p:txBody>
          <a:bodyPr wrap="square" lIns="45720" tIns="0" rIns="45720" bIns="0" anchor="ctr">
            <a:spAutoFit/>
          </a:bodyPr>
          <a:lstStyle/>
          <a:p>
            <a:pPr algn="r"/>
            <a:r>
              <a:rPr sz="1400" b="1" i="0">
                <a:solidFill>
                  <a:srgbClr val="161D26"/>
                </a:solidFill>
                <a:latin typeface="Ember Modern Display Standard"/>
              </a:rPr>
              <a:t>Per business</a:t>
            </a:r>
            <a:endParaRPr sz="1400"/>
          </a:p>
        </p:txBody>
      </p:sp>
      <p:cxnSp>
        <p:nvCxnSpPr>
          <p:cNvPr id="270" name="Funnel table rule 0"/>
          <p:cNvCxnSpPr/>
          <p:nvPr/>
        </p:nvCxnSpPr>
        <p:spPr>
          <a:xfrm>
            <a:off x="548640" y="1737360"/>
            <a:ext cx="8046720" cy="0"/>
          </a:xfrm>
          <a:prstGeom prst="line">
            <a:avLst/>
          </a:prstGeom>
          <a:ln w="12700">
            <a:solidFill>
              <a:srgbClr val="293440"/>
            </a:solidFill>
          </a:ln>
        </p:spPr>
        <p:style>
          <a:lnRef idx="2">
            <a:schemeClr val="accent1"/>
          </a:lnRef>
          <a:fillRef idx="0">
            <a:schemeClr val="accent1"/>
          </a:fillRef>
          <a:effectRef idx="1">
            <a:schemeClr val="accent1"/>
          </a:effectRef>
          <a:fontRef idx="minor">
            <a:schemeClr val="tx1"/>
          </a:fontRef>
        </p:style>
      </p:cxnSp>
      <p:sp>
        <p:nvSpPr>
          <p:cNvPr id="271" name="Funnel table r1c0"/>
          <p:cNvSpPr txBox="1"/>
          <p:nvPr/>
        </p:nvSpPr>
        <p:spPr>
          <a:xfrm>
            <a:off x="548640" y="1737360"/>
            <a:ext cx="4206240" cy="365760"/>
          </a:xfrm>
          <a:prstGeom prst="rect">
            <a:avLst/>
          </a:prstGeom>
          <a:noFill/>
        </p:spPr>
        <p:txBody>
          <a:bodyPr wrap="square" lIns="45720" tIns="0" rIns="45720" bIns="0" anchor="ctr">
            <a:spAutoFit/>
          </a:bodyPr>
          <a:lstStyle/>
          <a:p>
            <a:pPr algn="l"/>
            <a:r>
              <a:rPr sz="1400" b="0" i="0">
                <a:solidFill>
                  <a:srgbClr val="222222"/>
                </a:solidFill>
                <a:latin typeface="Ember Modern Display Standard"/>
              </a:rPr>
              <a:t>All same-country pairs</a:t>
            </a:r>
            <a:endParaRPr sz="1400"/>
          </a:p>
        </p:txBody>
      </p:sp>
      <p:sp>
        <p:nvSpPr>
          <p:cNvPr id="272" name="Funnel table r1c1"/>
          <p:cNvSpPr txBox="1"/>
          <p:nvPr/>
        </p:nvSpPr>
        <p:spPr>
          <a:xfrm>
            <a:off x="4754880" y="1737360"/>
            <a:ext cx="2103120" cy="365760"/>
          </a:xfrm>
          <a:prstGeom prst="rect">
            <a:avLst/>
          </a:prstGeom>
          <a:noFill/>
        </p:spPr>
        <p:txBody>
          <a:bodyPr wrap="square" lIns="45720" tIns="0" rIns="45720" bIns="0" anchor="ctr">
            <a:spAutoFit/>
          </a:bodyPr>
          <a:lstStyle/>
          <a:p>
            <a:pPr algn="r"/>
            <a:r>
              <a:rPr sz="1400" b="0" i="0">
                <a:solidFill>
                  <a:srgbClr val="222222"/>
                </a:solidFill>
                <a:latin typeface="Ember Modern Display Standard"/>
              </a:rPr>
              <a:t>6,724,569,566,212</a:t>
            </a:r>
            <a:endParaRPr sz="1400"/>
          </a:p>
        </p:txBody>
      </p:sp>
      <p:sp>
        <p:nvSpPr>
          <p:cNvPr id="273" name="Funnel table r1c2"/>
          <p:cNvSpPr txBox="1"/>
          <p:nvPr/>
        </p:nvSpPr>
        <p:spPr>
          <a:xfrm>
            <a:off x="6858000" y="1737360"/>
            <a:ext cx="1737360" cy="365760"/>
          </a:xfrm>
          <a:prstGeom prst="rect">
            <a:avLst/>
          </a:prstGeom>
          <a:noFill/>
        </p:spPr>
        <p:txBody>
          <a:bodyPr wrap="square" lIns="45720" tIns="0" rIns="45720" bIns="0" anchor="ctr">
            <a:spAutoFit/>
          </a:bodyPr>
          <a:lstStyle/>
          <a:p>
            <a:pPr algn="r"/>
            <a:r>
              <a:rPr sz="1400" b="0" i="0">
                <a:solidFill>
                  <a:srgbClr val="222222"/>
                </a:solidFill>
                <a:latin typeface="Ember Modern Display Standard"/>
              </a:rPr>
              <a:t>-</a:t>
            </a:r>
            <a:endParaRPr sz="1400"/>
          </a:p>
        </p:txBody>
      </p:sp>
      <p:cxnSp>
        <p:nvCxnSpPr>
          <p:cNvPr id="274" name="Funnel table rule 1"/>
          <p:cNvCxnSpPr/>
          <p:nvPr/>
        </p:nvCxnSpPr>
        <p:spPr>
          <a:xfrm>
            <a:off x="548640" y="2103120"/>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75" name="Funnel table r2c0"/>
          <p:cNvSpPr txBox="1"/>
          <p:nvPr/>
        </p:nvSpPr>
        <p:spPr>
          <a:xfrm>
            <a:off x="548640" y="2103120"/>
            <a:ext cx="4206240" cy="365760"/>
          </a:xfrm>
          <a:prstGeom prst="rect">
            <a:avLst/>
          </a:prstGeom>
          <a:noFill/>
        </p:spPr>
        <p:txBody>
          <a:bodyPr wrap="square" lIns="45720" tIns="0" rIns="45720" bIns="0" anchor="ctr">
            <a:spAutoFit/>
          </a:bodyPr>
          <a:lstStyle/>
          <a:p>
            <a:pPr algn="l"/>
            <a:r>
              <a:rPr sz="1400" b="0" i="0">
                <a:solidFill>
                  <a:srgbClr val="222222"/>
                </a:solidFill>
                <a:latin typeface="Ember Modern Display Standard"/>
              </a:rPr>
              <a:t>Index lookup (blocking study, 25 Sep)</a:t>
            </a:r>
            <a:endParaRPr sz="1400"/>
          </a:p>
        </p:txBody>
      </p:sp>
      <p:sp>
        <p:nvSpPr>
          <p:cNvPr id="276" name="Funnel table r2c1"/>
          <p:cNvSpPr txBox="1"/>
          <p:nvPr/>
        </p:nvSpPr>
        <p:spPr>
          <a:xfrm>
            <a:off x="4754880" y="2103120"/>
            <a:ext cx="2103120" cy="365760"/>
          </a:xfrm>
          <a:prstGeom prst="rect">
            <a:avLst/>
          </a:prstGeom>
          <a:noFill/>
        </p:spPr>
        <p:txBody>
          <a:bodyPr wrap="square" lIns="45720" tIns="0" rIns="45720" bIns="0" anchor="ctr">
            <a:spAutoFit/>
          </a:bodyPr>
          <a:lstStyle/>
          <a:p>
            <a:pPr algn="r"/>
            <a:r>
              <a:rPr sz="1400" b="0" i="0">
                <a:solidFill>
                  <a:srgbClr val="222222"/>
                </a:solidFill>
                <a:latin typeface="Ember Modern Display Standard"/>
              </a:rPr>
              <a:t>-</a:t>
            </a:r>
            <a:endParaRPr sz="1400"/>
          </a:p>
        </p:txBody>
      </p:sp>
      <p:sp>
        <p:nvSpPr>
          <p:cNvPr id="277" name="Funnel table r2c2"/>
          <p:cNvSpPr txBox="1"/>
          <p:nvPr/>
        </p:nvSpPr>
        <p:spPr>
          <a:xfrm>
            <a:off x="6858000" y="2103120"/>
            <a:ext cx="1737360" cy="365760"/>
          </a:xfrm>
          <a:prstGeom prst="rect">
            <a:avLst/>
          </a:prstGeom>
          <a:noFill/>
        </p:spPr>
        <p:txBody>
          <a:bodyPr wrap="square" lIns="45720" tIns="0" rIns="45720" bIns="0" anchor="ctr">
            <a:spAutoFit/>
          </a:bodyPr>
          <a:lstStyle/>
          <a:p>
            <a:pPr algn="r"/>
            <a:r>
              <a:rPr sz="1400" b="0" i="0">
                <a:solidFill>
                  <a:srgbClr val="222222"/>
                </a:solidFill>
                <a:latin typeface="Ember Modern Display Standard"/>
              </a:rPr>
              <a:t>130.1</a:t>
            </a:r>
            <a:endParaRPr sz="1400"/>
          </a:p>
        </p:txBody>
      </p:sp>
      <p:cxnSp>
        <p:nvCxnSpPr>
          <p:cNvPr id="278" name="Funnel table rule 2"/>
          <p:cNvCxnSpPr/>
          <p:nvPr/>
        </p:nvCxnSpPr>
        <p:spPr>
          <a:xfrm>
            <a:off x="548640" y="2468880"/>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79" name="Funnel table r3c0"/>
          <p:cNvSpPr txBox="1"/>
          <p:nvPr/>
        </p:nvSpPr>
        <p:spPr>
          <a:xfrm>
            <a:off x="548640" y="2468880"/>
            <a:ext cx="4206240" cy="365760"/>
          </a:xfrm>
          <a:prstGeom prst="rect">
            <a:avLst/>
          </a:prstGeom>
          <a:noFill/>
        </p:spPr>
        <p:txBody>
          <a:bodyPr wrap="square" lIns="45720" tIns="0" rIns="45720" bIns="0" anchor="ctr">
            <a:spAutoFit/>
          </a:bodyPr>
          <a:lstStyle/>
          <a:p>
            <a:pPr algn="l"/>
            <a:r>
              <a:rPr sz="1400" b="0" i="0">
                <a:solidFill>
                  <a:srgbClr val="222222"/>
                </a:solidFill>
                <a:latin typeface="Ember Modern Display Standard"/>
              </a:rPr>
              <a:t>Quick rule-based filter</a:t>
            </a:r>
            <a:endParaRPr sz="1400"/>
          </a:p>
        </p:txBody>
      </p:sp>
      <p:sp>
        <p:nvSpPr>
          <p:cNvPr id="280" name="Funnel table r3c1"/>
          <p:cNvSpPr txBox="1"/>
          <p:nvPr/>
        </p:nvSpPr>
        <p:spPr>
          <a:xfrm>
            <a:off x="4754880" y="2468880"/>
            <a:ext cx="2103120" cy="365760"/>
          </a:xfrm>
          <a:prstGeom prst="rect">
            <a:avLst/>
          </a:prstGeom>
          <a:noFill/>
        </p:spPr>
        <p:txBody>
          <a:bodyPr wrap="square" lIns="45720" tIns="0" rIns="45720" bIns="0" anchor="ctr">
            <a:spAutoFit/>
          </a:bodyPr>
          <a:lstStyle/>
          <a:p>
            <a:pPr algn="r"/>
            <a:r>
              <a:rPr sz="1400" b="0" i="0">
                <a:solidFill>
                  <a:srgbClr val="222222"/>
                </a:solidFill>
                <a:latin typeface="Ember Modern Display Standard"/>
              </a:rPr>
              <a:t>37,614,782</a:t>
            </a:r>
            <a:endParaRPr sz="1400"/>
          </a:p>
        </p:txBody>
      </p:sp>
      <p:sp>
        <p:nvSpPr>
          <p:cNvPr id="281" name="Funnel table r3c2"/>
          <p:cNvSpPr txBox="1"/>
          <p:nvPr/>
        </p:nvSpPr>
        <p:spPr>
          <a:xfrm>
            <a:off x="6858000" y="2468880"/>
            <a:ext cx="1737360" cy="365760"/>
          </a:xfrm>
          <a:prstGeom prst="rect">
            <a:avLst/>
          </a:prstGeom>
          <a:noFill/>
        </p:spPr>
        <p:txBody>
          <a:bodyPr wrap="square" lIns="45720" tIns="0" rIns="45720" bIns="0" anchor="ctr">
            <a:spAutoFit/>
          </a:bodyPr>
          <a:lstStyle/>
          <a:p>
            <a:pPr algn="r"/>
            <a:r>
              <a:rPr sz="1400" b="0" i="0">
                <a:solidFill>
                  <a:srgbClr val="222222"/>
                </a:solidFill>
                <a:latin typeface="Ember Modern Display Standard"/>
              </a:rPr>
              <a:t>21.71</a:t>
            </a:r>
            <a:endParaRPr sz="1400"/>
          </a:p>
        </p:txBody>
      </p:sp>
      <p:cxnSp>
        <p:nvCxnSpPr>
          <p:cNvPr id="282" name="Funnel table rule 3"/>
          <p:cNvCxnSpPr/>
          <p:nvPr/>
        </p:nvCxnSpPr>
        <p:spPr>
          <a:xfrm>
            <a:off x="548640" y="2834640"/>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83" name="Funnel table r4c0"/>
          <p:cNvSpPr txBox="1"/>
          <p:nvPr/>
        </p:nvSpPr>
        <p:spPr>
          <a:xfrm>
            <a:off x="548640" y="2834640"/>
            <a:ext cx="4206240" cy="365760"/>
          </a:xfrm>
          <a:prstGeom prst="rect">
            <a:avLst/>
          </a:prstGeom>
          <a:noFill/>
        </p:spPr>
        <p:txBody>
          <a:bodyPr wrap="square" lIns="45720" tIns="0" rIns="45720" bIns="0" anchor="ctr">
            <a:spAutoFit/>
          </a:bodyPr>
          <a:lstStyle/>
          <a:p>
            <a:pPr algn="l"/>
            <a:r>
              <a:rPr sz="1400" b="0" i="0">
                <a:solidFill>
                  <a:srgbClr val="222222"/>
                </a:solidFill>
                <a:latin typeface="Ember Modern Display Standard"/>
              </a:rPr>
              <a:t>Shortlist (top 4 per record)</a:t>
            </a:r>
            <a:endParaRPr sz="1400"/>
          </a:p>
        </p:txBody>
      </p:sp>
      <p:sp>
        <p:nvSpPr>
          <p:cNvPr id="284" name="Funnel table r4c1"/>
          <p:cNvSpPr txBox="1"/>
          <p:nvPr/>
        </p:nvSpPr>
        <p:spPr>
          <a:xfrm>
            <a:off x="4754880" y="2834640"/>
            <a:ext cx="2103120" cy="365760"/>
          </a:xfrm>
          <a:prstGeom prst="rect">
            <a:avLst/>
          </a:prstGeom>
          <a:noFill/>
        </p:spPr>
        <p:txBody>
          <a:bodyPr wrap="square" lIns="45720" tIns="0" rIns="45720" bIns="0" anchor="ctr">
            <a:spAutoFit/>
          </a:bodyPr>
          <a:lstStyle/>
          <a:p>
            <a:pPr algn="r"/>
            <a:r>
              <a:rPr sz="1400" b="0" i="0">
                <a:solidFill>
                  <a:srgbClr val="222222"/>
                </a:solidFill>
                <a:latin typeface="Ember Modern Display Standard"/>
              </a:rPr>
              <a:t>11,687,317</a:t>
            </a:r>
            <a:endParaRPr sz="1400"/>
          </a:p>
        </p:txBody>
      </p:sp>
      <p:sp>
        <p:nvSpPr>
          <p:cNvPr id="285" name="Funnel table r4c2"/>
          <p:cNvSpPr txBox="1"/>
          <p:nvPr/>
        </p:nvSpPr>
        <p:spPr>
          <a:xfrm>
            <a:off x="6858000" y="2834640"/>
            <a:ext cx="1737360" cy="365760"/>
          </a:xfrm>
          <a:prstGeom prst="rect">
            <a:avLst/>
          </a:prstGeom>
          <a:noFill/>
        </p:spPr>
        <p:txBody>
          <a:bodyPr wrap="square" lIns="45720" tIns="0" rIns="45720" bIns="0" anchor="ctr">
            <a:spAutoFit/>
          </a:bodyPr>
          <a:lstStyle/>
          <a:p>
            <a:pPr algn="r"/>
            <a:r>
              <a:rPr sz="1400" b="0" i="0">
                <a:solidFill>
                  <a:srgbClr val="222222"/>
                </a:solidFill>
                <a:latin typeface="Ember Modern Display Standard"/>
              </a:rPr>
              <a:t>6.75 (derived)</a:t>
            </a:r>
            <a:endParaRPr sz="1400"/>
          </a:p>
        </p:txBody>
      </p:sp>
      <p:cxnSp>
        <p:nvCxnSpPr>
          <p:cNvPr id="286" name="Funnel table rule 4"/>
          <p:cNvCxnSpPr/>
          <p:nvPr/>
        </p:nvCxnSpPr>
        <p:spPr>
          <a:xfrm>
            <a:off x="548640" y="3200400"/>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87" name="Funnel table r5c0"/>
          <p:cNvSpPr txBox="1"/>
          <p:nvPr/>
        </p:nvSpPr>
        <p:spPr>
          <a:xfrm>
            <a:off x="548640" y="3200400"/>
            <a:ext cx="4206240" cy="365760"/>
          </a:xfrm>
          <a:prstGeom prst="rect">
            <a:avLst/>
          </a:prstGeom>
          <a:noFill/>
        </p:spPr>
        <p:txBody>
          <a:bodyPr wrap="square" lIns="45720" tIns="0" rIns="45720" bIns="0" anchor="ctr">
            <a:spAutoFit/>
          </a:bodyPr>
          <a:lstStyle/>
          <a:p>
            <a:pPr algn="l"/>
            <a:r>
              <a:rPr sz="1400" b="0" i="0">
                <a:solidFill>
                  <a:srgbClr val="222222"/>
                </a:solidFill>
                <a:latin typeface="Ember Modern Display Standard"/>
              </a:rPr>
              <a:t>Candidate file (+ second-chance searches)</a:t>
            </a:r>
            <a:endParaRPr sz="1400"/>
          </a:p>
        </p:txBody>
      </p:sp>
      <p:sp>
        <p:nvSpPr>
          <p:cNvPr id="288" name="Funnel table r5c1"/>
          <p:cNvSpPr txBox="1"/>
          <p:nvPr/>
        </p:nvSpPr>
        <p:spPr>
          <a:xfrm>
            <a:off x="4754880" y="3200400"/>
            <a:ext cx="2103120" cy="365760"/>
          </a:xfrm>
          <a:prstGeom prst="rect">
            <a:avLst/>
          </a:prstGeom>
          <a:noFill/>
        </p:spPr>
        <p:txBody>
          <a:bodyPr wrap="square" lIns="45720" tIns="0" rIns="45720" bIns="0" anchor="ctr">
            <a:spAutoFit/>
          </a:bodyPr>
          <a:lstStyle/>
          <a:p>
            <a:pPr algn="r"/>
            <a:r>
              <a:rPr sz="1400" b="1" i="0">
                <a:solidFill>
                  <a:srgbClr val="222222"/>
                </a:solidFill>
                <a:latin typeface="Ember Modern Display Standard"/>
              </a:rPr>
              <a:t>12,293,019</a:t>
            </a:r>
            <a:endParaRPr sz="1400"/>
          </a:p>
        </p:txBody>
      </p:sp>
      <p:sp>
        <p:nvSpPr>
          <p:cNvPr id="289" name="Funnel table r5c2"/>
          <p:cNvSpPr txBox="1"/>
          <p:nvPr/>
        </p:nvSpPr>
        <p:spPr>
          <a:xfrm>
            <a:off x="6858000" y="3200400"/>
            <a:ext cx="1737360" cy="365760"/>
          </a:xfrm>
          <a:prstGeom prst="rect">
            <a:avLst/>
          </a:prstGeom>
          <a:noFill/>
        </p:spPr>
        <p:txBody>
          <a:bodyPr wrap="square" lIns="45720" tIns="0" rIns="45720" bIns="0" anchor="ctr">
            <a:spAutoFit/>
          </a:bodyPr>
          <a:lstStyle/>
          <a:p>
            <a:pPr algn="r"/>
            <a:r>
              <a:rPr sz="1400" b="1" i="0">
                <a:solidFill>
                  <a:srgbClr val="C24E00"/>
                </a:solidFill>
                <a:latin typeface="Ember Modern Display Standard"/>
              </a:rPr>
              <a:t>7.10</a:t>
            </a:r>
            <a:endParaRPr sz="1400"/>
          </a:p>
        </p:txBody>
      </p:sp>
      <p:cxnSp>
        <p:nvCxnSpPr>
          <p:cNvPr id="290" name="Funnel table rule 5"/>
          <p:cNvCxnSpPr/>
          <p:nvPr/>
        </p:nvCxnSpPr>
        <p:spPr>
          <a:xfrm>
            <a:off x="548640" y="3566160"/>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91" name="Funnel notes"/>
          <p:cNvSpPr txBox="1"/>
          <p:nvPr/>
        </p:nvSpPr>
        <p:spPr>
          <a:xfrm>
            <a:off x="548640" y="3657600"/>
            <a:ext cx="8046720" cy="1188720"/>
          </a:xfrm>
          <a:prstGeom prst="rect">
            <a:avLst/>
          </a:prstGeom>
          <a:noFill/>
        </p:spPr>
        <p:txBody>
          <a:bodyPr wrap="square" lIns="0" tIns="0" rIns="0" bIns="0" anchor="t">
            <a:spAutoFit/>
          </a:bodyPr>
          <a:lstStyle/>
          <a:p>
            <a:pPr algn="l">
              <a:spcAft>
                <a:spcPts val="600"/>
              </a:spcAft>
            </a:pPr>
            <a:r>
              <a:rPr sz="1400" b="0" i="0">
                <a:solidFill>
                  <a:srgbClr val="222222"/>
                </a:solidFill>
                <a:latin typeface="Ember Modern Display Standard"/>
              </a:rPr>
              <a:t>Filter cost: true business kept for 99.974 % of held-out records; fold-9 F0.5 0.990117 → 0.990086.</a:t>
            </a:r>
            <a:endParaRPr sz="1400"/>
          </a:p>
          <a:p>
            <a:pPr algn="l">
              <a:spcAft>
                <a:spcPts val="600"/>
              </a:spcAft>
            </a:pPr>
            <a:r>
              <a:rPr sz="1400" b="0" i="0">
                <a:solidFill>
                  <a:srgbClr val="222222"/>
                </a:solidFill>
                <a:latin typeface="Ember Modern Display Standard"/>
              </a:rPr>
              <a:t>Recall on train fold 9: index 99.37 % US / 98.51 % India; shortlist at least 98.87 % / 98.06 %.</a:t>
            </a:r>
            <a:endParaRPr sz="1400"/>
          </a:p>
          <a:p>
            <a:pPr algn="l"/>
            <a:r>
              <a:rPr sz="1400" b="0" i="0">
                <a:solidFill>
                  <a:srgbClr val="222222"/>
                </a:solidFill>
                <a:latin typeface="Ember Modern Display Standard"/>
              </a:rPr>
              <a:t>Per record: 1.23 candidates; 1.17 reach the readers (derived).</a:t>
            </a:r>
            <a:endParaRPr sz="1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Held-Out</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Scores</a:t>
            </a:r>
            <a:br>
              <a:rPr lang="en" sz="1100" dirty="0">
                <a:solidFill>
                  <a:srgbClr val="222222"/>
                </a:solidFill>
                <a:highlight>
                  <a:srgbClr val="FFFFFF"/>
                </a:highlight>
                <a:latin typeface="Ember Modern Display Standard" panose="020B0503020204020204" pitchFamily="34" charset="0"/>
                <a:ea typeface="Special Gothic"/>
                <a:cs typeface="Special Gothic"/>
                <a:sym typeface="Special Gothic"/>
              </a:rPr>
            </a:br>
            <a:br>
              <a:rPr lang="en" sz="1100" dirty="0">
                <a:solidFill>
                  <a:schemeClr val="accent2"/>
                </a:solidFill>
                <a:highlight>
                  <a:srgbClr val="FFFFFF"/>
                </a:highlight>
                <a:latin typeface="Ember Modern Display Standard" panose="020B0503020204020204" pitchFamily="34" charset="0"/>
                <a:ea typeface="Special Gothic"/>
                <a:cs typeface="Special Gothic"/>
                <a:sym typeface="Special Gothic"/>
              </a:rPr>
            </a:br>
            <a:r>
              <a:rPr lang="en" sz="1400" dirty="0">
                <a:solidFill>
                  <a:schemeClr val="accent2"/>
                </a:solidFill>
                <a:latin typeface="Ember Modern Display Standard" panose="020B0503020204020204" pitchFamily="34" charset="0"/>
              </a:rPr>
              <a:t>Backup  ·  F0.5 on hidden folds, without records touching the scored fold</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Held-out table r0c0"/>
          <p:cNvSpPr txBox="1"/>
          <p:nvPr/>
        </p:nvSpPr>
        <p:spPr>
          <a:xfrm>
            <a:off x="548640" y="1371600"/>
            <a:ext cx="4937760" cy="347472"/>
          </a:xfrm>
          <a:prstGeom prst="rect">
            <a:avLst/>
          </a:prstGeom>
          <a:noFill/>
        </p:spPr>
        <p:txBody>
          <a:bodyPr wrap="square" lIns="45720" tIns="0" rIns="45720" bIns="0" anchor="ctr">
            <a:spAutoFit/>
          </a:bodyPr>
          <a:lstStyle/>
          <a:p>
            <a:pPr algn="l"/>
            <a:r>
              <a:rPr sz="1300" b="1" i="0">
                <a:solidFill>
                  <a:srgbClr val="161D26"/>
                </a:solidFill>
                <a:latin typeface="Ember Modern Display Standard"/>
              </a:rPr>
              <a:t>Decision model, as measured</a:t>
            </a:r>
            <a:endParaRPr sz="1300"/>
          </a:p>
        </p:txBody>
      </p:sp>
      <p:sp>
        <p:nvSpPr>
          <p:cNvPr id="268" name="Held-out table r0c1"/>
          <p:cNvSpPr txBox="1"/>
          <p:nvPr/>
        </p:nvSpPr>
        <p:spPr>
          <a:xfrm>
            <a:off x="5486400" y="1371600"/>
            <a:ext cx="1600200" cy="347472"/>
          </a:xfrm>
          <a:prstGeom prst="rect">
            <a:avLst/>
          </a:prstGeom>
          <a:noFill/>
        </p:spPr>
        <p:txBody>
          <a:bodyPr wrap="square" lIns="45720" tIns="0" rIns="45720" bIns="0" anchor="ctr">
            <a:spAutoFit/>
          </a:bodyPr>
          <a:lstStyle/>
          <a:p>
            <a:pPr algn="r"/>
            <a:r>
              <a:rPr sz="1300" b="1" i="0">
                <a:solidFill>
                  <a:srgbClr val="161D26"/>
                </a:solidFill>
                <a:latin typeface="Ember Modern Display Standard"/>
              </a:rPr>
              <a:t>Fold 9</a:t>
            </a:r>
            <a:endParaRPr sz="1300"/>
          </a:p>
        </p:txBody>
      </p:sp>
      <p:sp>
        <p:nvSpPr>
          <p:cNvPr id="269" name="Held-out table r0c2"/>
          <p:cNvSpPr txBox="1"/>
          <p:nvPr/>
        </p:nvSpPr>
        <p:spPr>
          <a:xfrm>
            <a:off x="7086600" y="1371600"/>
            <a:ext cx="1600200" cy="347472"/>
          </a:xfrm>
          <a:prstGeom prst="rect">
            <a:avLst/>
          </a:prstGeom>
          <a:noFill/>
        </p:spPr>
        <p:txBody>
          <a:bodyPr wrap="square" lIns="45720" tIns="0" rIns="45720" bIns="0" anchor="ctr">
            <a:spAutoFit/>
          </a:bodyPr>
          <a:lstStyle/>
          <a:p>
            <a:pPr algn="r"/>
            <a:r>
              <a:rPr sz="1300" b="1" i="0">
                <a:solidFill>
                  <a:srgbClr val="161D26"/>
                </a:solidFill>
                <a:latin typeface="Ember Modern Display Standard"/>
              </a:rPr>
              <a:t>Fold 8</a:t>
            </a:r>
            <a:endParaRPr sz="1300"/>
          </a:p>
        </p:txBody>
      </p:sp>
      <p:cxnSp>
        <p:nvCxnSpPr>
          <p:cNvPr id="270" name="Held-out table rule 0"/>
          <p:cNvCxnSpPr/>
          <p:nvPr/>
        </p:nvCxnSpPr>
        <p:spPr>
          <a:xfrm>
            <a:off x="548640" y="1719072"/>
            <a:ext cx="8138160" cy="0"/>
          </a:xfrm>
          <a:prstGeom prst="line">
            <a:avLst/>
          </a:prstGeom>
          <a:ln w="12700">
            <a:solidFill>
              <a:srgbClr val="293440"/>
            </a:solidFill>
          </a:ln>
        </p:spPr>
        <p:style>
          <a:lnRef idx="2">
            <a:schemeClr val="accent1"/>
          </a:lnRef>
          <a:fillRef idx="0">
            <a:schemeClr val="accent1"/>
          </a:fillRef>
          <a:effectRef idx="1">
            <a:schemeClr val="accent1"/>
          </a:effectRef>
          <a:fontRef idx="minor">
            <a:schemeClr val="tx1"/>
          </a:fontRef>
        </p:style>
      </p:cxnSp>
      <p:sp>
        <p:nvSpPr>
          <p:cNvPr id="271" name="Held-out table r1c0"/>
          <p:cNvSpPr txBox="1"/>
          <p:nvPr/>
        </p:nvSpPr>
        <p:spPr>
          <a:xfrm>
            <a:off x="548640" y="1719072"/>
            <a:ext cx="4937760" cy="566928"/>
          </a:xfrm>
          <a:prstGeom prst="rect">
            <a:avLst/>
          </a:prstGeom>
          <a:noFill/>
        </p:spPr>
        <p:txBody>
          <a:bodyPr wrap="square" lIns="45720" tIns="0" rIns="45720" bIns="0" anchor="ctr">
            <a:spAutoFit/>
          </a:bodyPr>
          <a:lstStyle/>
          <a:p>
            <a:pPr algn="l"/>
            <a:r>
              <a:rPr sz="1300" b="0" i="0">
                <a:solidFill>
                  <a:srgbClr val="222222"/>
                </a:solidFill>
                <a:latin typeface="Ember Modern Display Standard"/>
              </a:rPr>
              <a:t>India: final recipe with 3 of its 5 seeds, consistency check</a:t>
            </a:r>
            <a:endParaRPr sz="1300"/>
          </a:p>
        </p:txBody>
      </p:sp>
      <p:sp>
        <p:nvSpPr>
          <p:cNvPr id="272" name="Held-out table r1c1"/>
          <p:cNvSpPr txBox="1"/>
          <p:nvPr/>
        </p:nvSpPr>
        <p:spPr>
          <a:xfrm>
            <a:off x="5486400" y="1719072"/>
            <a:ext cx="1600200" cy="566928"/>
          </a:xfrm>
          <a:prstGeom prst="rect">
            <a:avLst/>
          </a:prstGeom>
          <a:noFill/>
        </p:spPr>
        <p:txBody>
          <a:bodyPr wrap="square" lIns="45720" tIns="0" rIns="45720" bIns="0" anchor="ctr">
            <a:spAutoFit/>
          </a:bodyPr>
          <a:lstStyle/>
          <a:p>
            <a:pPr algn="r"/>
            <a:r>
              <a:rPr sz="1300" b="0" i="0">
                <a:solidFill>
                  <a:srgbClr val="222222"/>
                </a:solidFill>
                <a:latin typeface="Ember Modern Display Standard"/>
              </a:rPr>
              <a:t>0.990046</a:t>
            </a:r>
            <a:endParaRPr sz="1300"/>
          </a:p>
        </p:txBody>
      </p:sp>
      <p:sp>
        <p:nvSpPr>
          <p:cNvPr id="273" name="Held-out table r1c2"/>
          <p:cNvSpPr txBox="1"/>
          <p:nvPr/>
        </p:nvSpPr>
        <p:spPr>
          <a:xfrm>
            <a:off x="7086600" y="1719072"/>
            <a:ext cx="1600200" cy="566928"/>
          </a:xfrm>
          <a:prstGeom prst="rect">
            <a:avLst/>
          </a:prstGeom>
          <a:noFill/>
        </p:spPr>
        <p:txBody>
          <a:bodyPr wrap="square" lIns="45720" tIns="0" rIns="45720" bIns="0" anchor="ctr">
            <a:spAutoFit/>
          </a:bodyPr>
          <a:lstStyle/>
          <a:p>
            <a:pPr algn="r"/>
            <a:r>
              <a:rPr sz="1300" b="0" i="0">
                <a:solidFill>
                  <a:srgbClr val="222222"/>
                </a:solidFill>
                <a:latin typeface="Ember Modern Display Standard"/>
              </a:rPr>
              <a:t>0.990298</a:t>
            </a:r>
            <a:endParaRPr sz="1300"/>
          </a:p>
        </p:txBody>
      </p:sp>
      <p:cxnSp>
        <p:nvCxnSpPr>
          <p:cNvPr id="274" name="Held-out table rule 1"/>
          <p:cNvCxnSpPr/>
          <p:nvPr/>
        </p:nvCxnSpPr>
        <p:spPr>
          <a:xfrm>
            <a:off x="548640" y="2286000"/>
            <a:ext cx="813816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75" name="Held-out table r2c0"/>
          <p:cNvSpPr txBox="1"/>
          <p:nvPr/>
        </p:nvSpPr>
        <p:spPr>
          <a:xfrm>
            <a:off x="548640" y="2286000"/>
            <a:ext cx="4937760" cy="566928"/>
          </a:xfrm>
          <a:prstGeom prst="rect">
            <a:avLst/>
          </a:prstGeom>
          <a:noFill/>
        </p:spPr>
        <p:txBody>
          <a:bodyPr wrap="square" lIns="45720" tIns="0" rIns="45720" bIns="0" anchor="ctr">
            <a:spAutoFit/>
          </a:bodyPr>
          <a:lstStyle/>
          <a:p>
            <a:pPr algn="l"/>
            <a:r>
              <a:rPr sz="1300" b="0" i="0">
                <a:solidFill>
                  <a:srgbClr val="222222"/>
                </a:solidFill>
                <a:latin typeface="Ember Modern Display Standard"/>
              </a:rPr>
              <a:t>US: the same 3-seed model, consistency check (the final US model trains on US rows only and adds 6 features)</a:t>
            </a:r>
            <a:endParaRPr sz="1300"/>
          </a:p>
        </p:txBody>
      </p:sp>
      <p:sp>
        <p:nvSpPr>
          <p:cNvPr id="276" name="Held-out table r2c1"/>
          <p:cNvSpPr txBox="1"/>
          <p:nvPr/>
        </p:nvSpPr>
        <p:spPr>
          <a:xfrm>
            <a:off x="5486400" y="2286000"/>
            <a:ext cx="1600200" cy="566928"/>
          </a:xfrm>
          <a:prstGeom prst="rect">
            <a:avLst/>
          </a:prstGeom>
          <a:noFill/>
        </p:spPr>
        <p:txBody>
          <a:bodyPr wrap="square" lIns="45720" tIns="0" rIns="45720" bIns="0" anchor="ctr">
            <a:spAutoFit/>
          </a:bodyPr>
          <a:lstStyle/>
          <a:p>
            <a:pPr algn="r"/>
            <a:r>
              <a:rPr sz="1300" b="0" i="0">
                <a:solidFill>
                  <a:srgbClr val="222222"/>
                </a:solidFill>
                <a:latin typeface="Ember Modern Display Standard"/>
              </a:rPr>
              <a:t>0.991212</a:t>
            </a:r>
            <a:endParaRPr sz="1300"/>
          </a:p>
        </p:txBody>
      </p:sp>
      <p:sp>
        <p:nvSpPr>
          <p:cNvPr id="277" name="Held-out table r2c2"/>
          <p:cNvSpPr txBox="1"/>
          <p:nvPr/>
        </p:nvSpPr>
        <p:spPr>
          <a:xfrm>
            <a:off x="7086600" y="2286000"/>
            <a:ext cx="1600200" cy="566928"/>
          </a:xfrm>
          <a:prstGeom prst="rect">
            <a:avLst/>
          </a:prstGeom>
          <a:noFill/>
        </p:spPr>
        <p:txBody>
          <a:bodyPr wrap="square" lIns="45720" tIns="0" rIns="45720" bIns="0" anchor="ctr">
            <a:spAutoFit/>
          </a:bodyPr>
          <a:lstStyle/>
          <a:p>
            <a:pPr algn="r"/>
            <a:r>
              <a:rPr sz="1300" b="0" i="0">
                <a:solidFill>
                  <a:srgbClr val="222222"/>
                </a:solidFill>
                <a:latin typeface="Ember Modern Display Standard"/>
              </a:rPr>
              <a:t>0.991545</a:t>
            </a:r>
            <a:endParaRPr sz="1300"/>
          </a:p>
        </p:txBody>
      </p:sp>
      <p:cxnSp>
        <p:nvCxnSpPr>
          <p:cNvPr id="278" name="Held-out table rule 2"/>
          <p:cNvCxnSpPr/>
          <p:nvPr/>
        </p:nvCxnSpPr>
        <p:spPr>
          <a:xfrm>
            <a:off x="548640" y="2852928"/>
            <a:ext cx="813816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79" name="Held-out table r3c0"/>
          <p:cNvSpPr txBox="1"/>
          <p:nvPr/>
        </p:nvSpPr>
        <p:spPr>
          <a:xfrm>
            <a:off x="548640" y="2852928"/>
            <a:ext cx="4937760" cy="566928"/>
          </a:xfrm>
          <a:prstGeom prst="rect">
            <a:avLst/>
          </a:prstGeom>
          <a:noFill/>
        </p:spPr>
        <p:txBody>
          <a:bodyPr wrap="square" lIns="45720" tIns="0" rIns="45720" bIns="0" anchor="ctr">
            <a:spAutoFit/>
          </a:bodyPr>
          <a:lstStyle/>
          <a:p>
            <a:pPr algn="l"/>
            <a:r>
              <a:rPr sz="1300" b="0" i="0">
                <a:solidFill>
                  <a:srgbClr val="222222"/>
                </a:solidFill>
                <a:latin typeface="Ember Modern Display Standard"/>
              </a:rPr>
              <a:t>France recipe tried on US / India data at the France threshold (a stand-in check, not a French score)</a:t>
            </a:r>
            <a:endParaRPr sz="1300"/>
          </a:p>
        </p:txBody>
      </p:sp>
      <p:sp>
        <p:nvSpPr>
          <p:cNvPr id="280" name="Held-out table r3c1"/>
          <p:cNvSpPr txBox="1"/>
          <p:nvPr/>
        </p:nvSpPr>
        <p:spPr>
          <a:xfrm>
            <a:off x="5486400" y="2852928"/>
            <a:ext cx="1600200" cy="566928"/>
          </a:xfrm>
          <a:prstGeom prst="rect">
            <a:avLst/>
          </a:prstGeom>
          <a:noFill/>
        </p:spPr>
        <p:txBody>
          <a:bodyPr wrap="square" lIns="45720" tIns="0" rIns="45720" bIns="0" anchor="ctr">
            <a:spAutoFit/>
          </a:bodyPr>
          <a:lstStyle/>
          <a:p>
            <a:pPr algn="r"/>
            <a:r>
              <a:rPr sz="1300" b="0" i="0">
                <a:solidFill>
                  <a:srgbClr val="222222"/>
                </a:solidFill>
                <a:latin typeface="Ember Modern Display Standard"/>
              </a:rPr>
              <a:t>0.990508 / 0.989467</a:t>
            </a:r>
            <a:endParaRPr sz="1300"/>
          </a:p>
        </p:txBody>
      </p:sp>
      <p:sp>
        <p:nvSpPr>
          <p:cNvPr id="281" name="Held-out table r3c2"/>
          <p:cNvSpPr txBox="1"/>
          <p:nvPr/>
        </p:nvSpPr>
        <p:spPr>
          <a:xfrm>
            <a:off x="7086600" y="2852928"/>
            <a:ext cx="1600200" cy="566928"/>
          </a:xfrm>
          <a:prstGeom prst="rect">
            <a:avLst/>
          </a:prstGeom>
          <a:noFill/>
        </p:spPr>
        <p:txBody>
          <a:bodyPr wrap="square" lIns="45720" tIns="0" rIns="45720" bIns="0" anchor="ctr">
            <a:spAutoFit/>
          </a:bodyPr>
          <a:lstStyle/>
          <a:p>
            <a:pPr algn="r"/>
            <a:r>
              <a:rPr sz="1300" b="0" i="0">
                <a:solidFill>
                  <a:srgbClr val="222222"/>
                </a:solidFill>
                <a:latin typeface="Ember Modern Display Standard"/>
              </a:rPr>
              <a:t>0.990977 / 0.989850</a:t>
            </a:r>
            <a:endParaRPr sz="1300"/>
          </a:p>
        </p:txBody>
      </p:sp>
      <p:cxnSp>
        <p:nvCxnSpPr>
          <p:cNvPr id="282" name="Held-out table rule 3"/>
          <p:cNvCxnSpPr/>
          <p:nvPr/>
        </p:nvCxnSpPr>
        <p:spPr>
          <a:xfrm>
            <a:off x="548640" y="3419856"/>
            <a:ext cx="813816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83" name="Held-out caption"/>
          <p:cNvSpPr txBox="1"/>
          <p:nvPr/>
        </p:nvSpPr>
        <p:spPr>
          <a:xfrm>
            <a:off x="548640" y="3584448"/>
            <a:ext cx="8046720" cy="457200"/>
          </a:xfrm>
          <a:prstGeom prst="rect">
            <a:avLst/>
          </a:prstGeom>
          <a:noFill/>
        </p:spPr>
        <p:txBody>
          <a:bodyPr wrap="square" lIns="0" tIns="0" rIns="0" bIns="0" anchor="t">
            <a:spAutoFit/>
          </a:bodyPr>
          <a:lstStyle/>
          <a:p>
            <a:pPr algn="l"/>
            <a:r>
              <a:rPr sz="1200" b="0" i="0">
                <a:solidFill>
                  <a:srgbClr val="5A6270"/>
                </a:solidFill>
                <a:latin typeface="Ember Modern Display Standard"/>
              </a:rPr>
              <a:t>Fold 9 scored by fits on folds 6-8, fold 8 by fits on 6, 7 and 9. Excludes second-chance searches and France rules.</a:t>
            </a:r>
            <a:endParaRPr sz="1200"/>
          </a:p>
        </p:txBody>
      </p:sp>
      <p:sp>
        <p:nvSpPr>
          <p:cNvPr id="284" name="Public scores"/>
          <p:cNvSpPr txBox="1"/>
          <p:nvPr/>
        </p:nvSpPr>
        <p:spPr>
          <a:xfrm>
            <a:off x="548640" y="4069080"/>
            <a:ext cx="8046720" cy="731520"/>
          </a:xfrm>
          <a:prstGeom prst="rect">
            <a:avLst/>
          </a:prstGeom>
          <a:noFill/>
        </p:spPr>
        <p:txBody>
          <a:bodyPr wrap="square" lIns="0" tIns="0" rIns="0" bIns="0" anchor="t">
            <a:spAutoFit/>
          </a:bodyPr>
          <a:lstStyle/>
          <a:p>
            <a:pPr algn="l"/>
            <a:r>
              <a:rPr sz="1300" b="1" i="0">
                <a:solidFill>
                  <a:srgbClr val="222222"/>
                </a:solidFill>
                <a:latin typeface="Ember Modern Display Standard"/>
              </a:rPr>
              <a:t>Public score of each adopted upload:  </a:t>
            </a:r>
            <a:r>
              <a:rPr sz="1300" b="0" i="0">
                <a:solidFill>
                  <a:srgbClr val="222222"/>
                </a:solidFill>
                <a:latin typeface="Ember Modern Display Standard"/>
              </a:rPr>
              <a:t>0.968212 → 0.969966 → 0.970125 → 0.982561 → 0.990556 → 0.990621 → 0.990676 → 0.990748 → 0.990788 → 0.990881 → 0.990934 → 0.991114 → </a:t>
            </a:r>
            <a:r>
              <a:rPr sz="1300" b="1" i="0">
                <a:solidFill>
                  <a:srgbClr val="C24E00"/>
                </a:solidFill>
                <a:latin typeface="Ember Modern Display Standard"/>
              </a:rPr>
              <a:t>0.991300</a:t>
            </a:r>
            <a:endParaRPr sz="13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Written</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Checks</a:t>
            </a:r>
            <a:br>
              <a:rPr lang="en" sz="1100" dirty="0">
                <a:solidFill>
                  <a:srgbClr val="222222"/>
                </a:solidFill>
                <a:highlight>
                  <a:srgbClr val="FFFFFF"/>
                </a:highlight>
                <a:latin typeface="Ember Modern Display Standard" panose="020B0503020204020204" pitchFamily="34" charset="0"/>
                <a:ea typeface="Special Gothic"/>
                <a:cs typeface="Special Gothic"/>
                <a:sym typeface="Special Gothic"/>
              </a:rPr>
            </a:br>
            <a:br>
              <a:rPr lang="en" sz="1100" dirty="0">
                <a:solidFill>
                  <a:schemeClr val="accent2"/>
                </a:solidFill>
                <a:highlight>
                  <a:srgbClr val="FFFFFF"/>
                </a:highlight>
                <a:latin typeface="Ember Modern Display Standard" panose="020B0503020204020204" pitchFamily="34" charset="0"/>
                <a:ea typeface="Special Gothic"/>
                <a:cs typeface="Special Gothic"/>
                <a:sym typeface="Special Gothic"/>
              </a:rPr>
            </a:br>
            <a:r>
              <a:rPr lang="en" sz="1400" dirty="0">
                <a:solidFill>
                  <a:schemeClr val="accent2"/>
                </a:solidFill>
                <a:latin typeface="Ember Modern Display Standard" panose="020B0503020204020204" pitchFamily="34" charset="0"/>
              </a:rPr>
              <a:t>Backup  ·  the French E5 reader failed 2 of 4 checks; kept for the best public score</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Checks table r0c0"/>
          <p:cNvSpPr txBox="1"/>
          <p:nvPr/>
        </p:nvSpPr>
        <p:spPr>
          <a:xfrm>
            <a:off x="548640" y="1325880"/>
            <a:ext cx="3840480" cy="310896"/>
          </a:xfrm>
          <a:prstGeom prst="rect">
            <a:avLst/>
          </a:prstGeom>
          <a:noFill/>
        </p:spPr>
        <p:txBody>
          <a:bodyPr wrap="square" lIns="45720" tIns="0" rIns="45720" bIns="0" anchor="ctr">
            <a:spAutoFit/>
          </a:bodyPr>
          <a:lstStyle/>
          <a:p>
            <a:pPr algn="l"/>
            <a:r>
              <a:rPr sz="1200" b="1" i="0">
                <a:solidFill>
                  <a:srgbClr val="161D26"/>
                </a:solidFill>
                <a:latin typeface="Ember Modern Display Standard"/>
              </a:rPr>
              <a:t>French E5 reader: check</a:t>
            </a:r>
            <a:endParaRPr sz="1200"/>
          </a:p>
        </p:txBody>
      </p:sp>
      <p:sp>
        <p:nvSpPr>
          <p:cNvPr id="268" name="Checks table r0c1"/>
          <p:cNvSpPr txBox="1"/>
          <p:nvPr/>
        </p:nvSpPr>
        <p:spPr>
          <a:xfrm>
            <a:off x="4389120" y="1325880"/>
            <a:ext cx="3108960" cy="310896"/>
          </a:xfrm>
          <a:prstGeom prst="rect">
            <a:avLst/>
          </a:prstGeom>
          <a:noFill/>
        </p:spPr>
        <p:txBody>
          <a:bodyPr wrap="square" lIns="45720" tIns="0" rIns="45720" bIns="0" anchor="ctr">
            <a:spAutoFit/>
          </a:bodyPr>
          <a:lstStyle/>
          <a:p>
            <a:pPr algn="l"/>
            <a:r>
              <a:rPr sz="1200" b="1" i="0">
                <a:solidFill>
                  <a:srgbClr val="161D26"/>
                </a:solidFill>
                <a:latin typeface="Ember Modern Display Standard"/>
              </a:rPr>
              <a:t>Result</a:t>
            </a:r>
            <a:endParaRPr sz="1200"/>
          </a:p>
        </p:txBody>
      </p:sp>
      <p:sp>
        <p:nvSpPr>
          <p:cNvPr id="269" name="Checks table r0c2"/>
          <p:cNvSpPr txBox="1"/>
          <p:nvPr/>
        </p:nvSpPr>
        <p:spPr>
          <a:xfrm>
            <a:off x="7498080" y="1325880"/>
            <a:ext cx="1097280" cy="310896"/>
          </a:xfrm>
          <a:prstGeom prst="rect">
            <a:avLst/>
          </a:prstGeom>
          <a:noFill/>
        </p:spPr>
        <p:txBody>
          <a:bodyPr wrap="square" lIns="45720" tIns="0" rIns="45720" bIns="0" anchor="ctr">
            <a:spAutoFit/>
          </a:bodyPr>
          <a:lstStyle/>
          <a:p>
            <a:pPr algn="ctr"/>
            <a:r>
              <a:rPr sz="1200" b="1" i="0">
                <a:solidFill>
                  <a:srgbClr val="161D26"/>
                </a:solidFill>
                <a:latin typeface="Ember Modern Display Standard"/>
              </a:rPr>
              <a:t>Outcome</a:t>
            </a:r>
            <a:endParaRPr sz="1200"/>
          </a:p>
        </p:txBody>
      </p:sp>
      <p:cxnSp>
        <p:nvCxnSpPr>
          <p:cNvPr id="270" name="Checks table rule 0"/>
          <p:cNvCxnSpPr/>
          <p:nvPr/>
        </p:nvCxnSpPr>
        <p:spPr>
          <a:xfrm>
            <a:off x="548640" y="1636776"/>
            <a:ext cx="8046720" cy="0"/>
          </a:xfrm>
          <a:prstGeom prst="line">
            <a:avLst/>
          </a:prstGeom>
          <a:ln w="12700">
            <a:solidFill>
              <a:srgbClr val="293440"/>
            </a:solidFill>
          </a:ln>
        </p:spPr>
        <p:style>
          <a:lnRef idx="2">
            <a:schemeClr val="accent1"/>
          </a:lnRef>
          <a:fillRef idx="0">
            <a:schemeClr val="accent1"/>
          </a:fillRef>
          <a:effectRef idx="1">
            <a:schemeClr val="accent1"/>
          </a:effectRef>
          <a:fontRef idx="minor">
            <a:schemeClr val="tx1"/>
          </a:fontRef>
        </p:style>
      </p:cxnSp>
      <p:sp>
        <p:nvSpPr>
          <p:cNvPr id="271" name="Checks table r1c0"/>
          <p:cNvSpPr txBox="1"/>
          <p:nvPr/>
        </p:nvSpPr>
        <p:spPr>
          <a:xfrm>
            <a:off x="548640" y="1636776"/>
            <a:ext cx="3840480" cy="310896"/>
          </a:xfrm>
          <a:prstGeom prst="rect">
            <a:avLst/>
          </a:prstGeom>
          <a:noFill/>
        </p:spPr>
        <p:txBody>
          <a:bodyPr wrap="square" lIns="45720" tIns="0" rIns="45720" bIns="0" anchor="ctr">
            <a:spAutoFit/>
          </a:bodyPr>
          <a:lstStyle/>
          <a:p>
            <a:pPr algn="l"/>
            <a:r>
              <a:rPr sz="1200" b="0" i="0">
                <a:solidFill>
                  <a:srgbClr val="222222"/>
                </a:solidFill>
                <a:latin typeface="Ember Modern Display Standard"/>
              </a:rPr>
              <a:t>US / India quality within tolerance</a:t>
            </a:r>
            <a:endParaRPr sz="1200"/>
          </a:p>
        </p:txBody>
      </p:sp>
      <p:sp>
        <p:nvSpPr>
          <p:cNvPr id="272" name="Checks table r1c1"/>
          <p:cNvSpPr txBox="1"/>
          <p:nvPr/>
        </p:nvSpPr>
        <p:spPr>
          <a:xfrm>
            <a:off x="4389120" y="1636776"/>
            <a:ext cx="3108960" cy="310896"/>
          </a:xfrm>
          <a:prstGeom prst="rect">
            <a:avLst/>
          </a:prstGeom>
          <a:noFill/>
        </p:spPr>
        <p:txBody>
          <a:bodyPr wrap="square" lIns="45720" tIns="0" rIns="45720" bIns="0" anchor="ctr">
            <a:spAutoFit/>
          </a:bodyPr>
          <a:lstStyle/>
          <a:p>
            <a:pPr algn="l"/>
            <a:r>
              <a:rPr sz="1200" b="0" i="0">
                <a:solidFill>
                  <a:srgbClr val="222222"/>
                </a:solidFill>
                <a:latin typeface="Ember Modern Display Standard"/>
              </a:rPr>
              <a:t>AUC 0.998544 vs 0.998570</a:t>
            </a:r>
            <a:endParaRPr sz="1200"/>
          </a:p>
        </p:txBody>
      </p:sp>
      <p:sp>
        <p:nvSpPr>
          <p:cNvPr id="273" name="Checks table r1c2"/>
          <p:cNvSpPr txBox="1"/>
          <p:nvPr/>
        </p:nvSpPr>
        <p:spPr>
          <a:xfrm>
            <a:off x="7498080" y="1636776"/>
            <a:ext cx="1097280" cy="310896"/>
          </a:xfrm>
          <a:prstGeom prst="rect">
            <a:avLst/>
          </a:prstGeom>
          <a:noFill/>
        </p:spPr>
        <p:txBody>
          <a:bodyPr wrap="square" lIns="45720" tIns="0" rIns="45720" bIns="0" anchor="ctr">
            <a:spAutoFit/>
          </a:bodyPr>
          <a:lstStyle/>
          <a:p>
            <a:pPr algn="ctr"/>
            <a:r>
              <a:rPr sz="1200" b="0" i="0">
                <a:solidFill>
                  <a:srgbClr val="222222"/>
                </a:solidFill>
                <a:latin typeface="Ember Modern Display Standard"/>
              </a:rPr>
              <a:t>pass</a:t>
            </a:r>
            <a:endParaRPr sz="1200"/>
          </a:p>
        </p:txBody>
      </p:sp>
      <p:cxnSp>
        <p:nvCxnSpPr>
          <p:cNvPr id="274" name="Checks table rule 1"/>
          <p:cNvCxnSpPr/>
          <p:nvPr/>
        </p:nvCxnSpPr>
        <p:spPr>
          <a:xfrm>
            <a:off x="548640" y="1947672"/>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75" name="Checks table r2c0"/>
          <p:cNvSpPr txBox="1"/>
          <p:nvPr/>
        </p:nvSpPr>
        <p:spPr>
          <a:xfrm>
            <a:off x="548640" y="1947672"/>
            <a:ext cx="3840480" cy="310896"/>
          </a:xfrm>
          <a:prstGeom prst="rect">
            <a:avLst/>
          </a:prstGeom>
          <a:noFill/>
        </p:spPr>
        <p:txBody>
          <a:bodyPr wrap="square" lIns="45720" tIns="0" rIns="45720" bIns="0" anchor="ctr">
            <a:spAutoFit/>
          </a:bodyPr>
          <a:lstStyle/>
          <a:p>
            <a:pPr algn="l"/>
            <a:r>
              <a:rPr sz="1200" b="0" i="0">
                <a:solidFill>
                  <a:srgbClr val="222222"/>
                </a:solidFill>
                <a:latin typeface="Ember Modern Display Standard"/>
              </a:rPr>
              <a:t>Agreement with held-out French pseudo-labels</a:t>
            </a:r>
            <a:endParaRPr sz="1200"/>
          </a:p>
        </p:txBody>
      </p:sp>
      <p:sp>
        <p:nvSpPr>
          <p:cNvPr id="276" name="Checks table r2c1"/>
          <p:cNvSpPr txBox="1"/>
          <p:nvPr/>
        </p:nvSpPr>
        <p:spPr>
          <a:xfrm>
            <a:off x="4389120" y="1947672"/>
            <a:ext cx="3108960" cy="310896"/>
          </a:xfrm>
          <a:prstGeom prst="rect">
            <a:avLst/>
          </a:prstGeom>
          <a:noFill/>
        </p:spPr>
        <p:txBody>
          <a:bodyPr wrap="square" lIns="45720" tIns="0" rIns="45720" bIns="0" anchor="ctr">
            <a:spAutoFit/>
          </a:bodyPr>
          <a:lstStyle/>
          <a:p>
            <a:pPr algn="l"/>
            <a:r>
              <a:rPr sz="1200" b="0" i="0">
                <a:solidFill>
                  <a:srgbClr val="222222"/>
                </a:solidFill>
                <a:latin typeface="Ember Modern Display Standard"/>
              </a:rPr>
              <a:t>0.999206 (needed 0.98)</a:t>
            </a:r>
            <a:endParaRPr sz="1200"/>
          </a:p>
        </p:txBody>
      </p:sp>
      <p:sp>
        <p:nvSpPr>
          <p:cNvPr id="277" name="Checks table r2c2"/>
          <p:cNvSpPr txBox="1"/>
          <p:nvPr/>
        </p:nvSpPr>
        <p:spPr>
          <a:xfrm>
            <a:off x="7498080" y="1947672"/>
            <a:ext cx="1097280" cy="310896"/>
          </a:xfrm>
          <a:prstGeom prst="rect">
            <a:avLst/>
          </a:prstGeom>
          <a:noFill/>
        </p:spPr>
        <p:txBody>
          <a:bodyPr wrap="square" lIns="45720" tIns="0" rIns="45720" bIns="0" anchor="ctr">
            <a:spAutoFit/>
          </a:bodyPr>
          <a:lstStyle/>
          <a:p>
            <a:pPr algn="ctr"/>
            <a:r>
              <a:rPr sz="1200" b="0" i="0">
                <a:solidFill>
                  <a:srgbClr val="222222"/>
                </a:solidFill>
                <a:latin typeface="Ember Modern Display Standard"/>
              </a:rPr>
              <a:t>pass</a:t>
            </a:r>
            <a:endParaRPr sz="1200"/>
          </a:p>
        </p:txBody>
      </p:sp>
      <p:cxnSp>
        <p:nvCxnSpPr>
          <p:cNvPr id="278" name="Checks table rule 2"/>
          <p:cNvCxnSpPr/>
          <p:nvPr/>
        </p:nvCxnSpPr>
        <p:spPr>
          <a:xfrm>
            <a:off x="548640" y="2258568"/>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79" name="Checks table r3c0"/>
          <p:cNvSpPr txBox="1"/>
          <p:nvPr/>
        </p:nvSpPr>
        <p:spPr>
          <a:xfrm>
            <a:off x="548640" y="2258568"/>
            <a:ext cx="3840480" cy="310896"/>
          </a:xfrm>
          <a:prstGeom prst="rect">
            <a:avLst/>
          </a:prstGeom>
          <a:noFill/>
        </p:spPr>
        <p:txBody>
          <a:bodyPr wrap="square" lIns="45720" tIns="0" rIns="45720" bIns="0" anchor="ctr">
            <a:spAutoFit/>
          </a:bodyPr>
          <a:lstStyle/>
          <a:p>
            <a:pPr algn="l"/>
            <a:r>
              <a:rPr sz="1200" b="0" i="0">
                <a:solidFill>
                  <a:srgbClr val="222222"/>
                </a:solidFill>
                <a:latin typeface="Ember Modern Display Standard"/>
              </a:rPr>
              <a:t>Generated labelled French test set</a:t>
            </a:r>
            <a:endParaRPr sz="1200"/>
          </a:p>
        </p:txBody>
      </p:sp>
      <p:sp>
        <p:nvSpPr>
          <p:cNvPr id="280" name="Checks table r3c1"/>
          <p:cNvSpPr txBox="1"/>
          <p:nvPr/>
        </p:nvSpPr>
        <p:spPr>
          <a:xfrm>
            <a:off x="4389120" y="2258568"/>
            <a:ext cx="3108960" cy="310896"/>
          </a:xfrm>
          <a:prstGeom prst="rect">
            <a:avLst/>
          </a:prstGeom>
          <a:noFill/>
        </p:spPr>
        <p:txBody>
          <a:bodyPr wrap="square" lIns="45720" tIns="0" rIns="45720" bIns="0" anchor="ctr">
            <a:spAutoFit/>
          </a:bodyPr>
          <a:lstStyle/>
          <a:p>
            <a:pPr algn="l"/>
            <a:r>
              <a:rPr sz="1200" b="0" i="0">
                <a:solidFill>
                  <a:srgbClr val="222222"/>
                </a:solidFill>
                <a:latin typeface="Ember Modern Display Standard"/>
              </a:rPr>
              <a:t>best F0.5 0.910516 vs 0.914964</a:t>
            </a:r>
            <a:endParaRPr sz="1200"/>
          </a:p>
        </p:txBody>
      </p:sp>
      <p:sp>
        <p:nvSpPr>
          <p:cNvPr id="281" name="Checks table r3c2"/>
          <p:cNvSpPr txBox="1"/>
          <p:nvPr/>
        </p:nvSpPr>
        <p:spPr>
          <a:xfrm>
            <a:off x="7498080" y="2258568"/>
            <a:ext cx="1097280" cy="310896"/>
          </a:xfrm>
          <a:prstGeom prst="rect">
            <a:avLst/>
          </a:prstGeom>
          <a:noFill/>
        </p:spPr>
        <p:txBody>
          <a:bodyPr wrap="square" lIns="45720" tIns="0" rIns="45720" bIns="0" anchor="ctr">
            <a:spAutoFit/>
          </a:bodyPr>
          <a:lstStyle/>
          <a:p>
            <a:pPr algn="ctr"/>
            <a:r>
              <a:rPr sz="1200" b="1" i="0">
                <a:solidFill>
                  <a:srgbClr val="C24E00"/>
                </a:solidFill>
                <a:latin typeface="Ember Modern Display Standard"/>
              </a:rPr>
              <a:t>fail</a:t>
            </a:r>
            <a:endParaRPr sz="1200"/>
          </a:p>
        </p:txBody>
      </p:sp>
      <p:cxnSp>
        <p:nvCxnSpPr>
          <p:cNvPr id="282" name="Checks table rule 3"/>
          <p:cNvCxnSpPr/>
          <p:nvPr/>
        </p:nvCxnSpPr>
        <p:spPr>
          <a:xfrm>
            <a:off x="548640" y="2569464"/>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83" name="Checks table r4c0"/>
          <p:cNvSpPr txBox="1"/>
          <p:nvPr/>
        </p:nvSpPr>
        <p:spPr>
          <a:xfrm>
            <a:off x="548640" y="2569464"/>
            <a:ext cx="3840480" cy="310896"/>
          </a:xfrm>
          <a:prstGeom prst="rect">
            <a:avLst/>
          </a:prstGeom>
          <a:noFill/>
        </p:spPr>
        <p:txBody>
          <a:bodyPr wrap="square" lIns="45720" tIns="0" rIns="45720" bIns="0" anchor="ctr">
            <a:spAutoFit/>
          </a:bodyPr>
          <a:lstStyle/>
          <a:p>
            <a:pPr algn="l"/>
            <a:r>
              <a:rPr sz="1200" b="0" i="0">
                <a:solidFill>
                  <a:srgbClr val="222222"/>
                </a:solidFill>
                <a:latin typeface="Ember Modern Display Standard"/>
              </a:rPr>
              <a:t>Expected gain must be safely positive</a:t>
            </a:r>
            <a:endParaRPr sz="1200"/>
          </a:p>
        </p:txBody>
      </p:sp>
      <p:sp>
        <p:nvSpPr>
          <p:cNvPr id="284" name="Checks table r4c1"/>
          <p:cNvSpPr txBox="1"/>
          <p:nvPr/>
        </p:nvSpPr>
        <p:spPr>
          <a:xfrm>
            <a:off x="4389120" y="2569464"/>
            <a:ext cx="3108960" cy="310896"/>
          </a:xfrm>
          <a:prstGeom prst="rect">
            <a:avLst/>
          </a:prstGeom>
          <a:noFill/>
        </p:spPr>
        <p:txBody>
          <a:bodyPr wrap="square" lIns="45720" tIns="0" rIns="45720" bIns="0" anchor="ctr">
            <a:spAutoFit/>
          </a:bodyPr>
          <a:lstStyle/>
          <a:p>
            <a:pPr algn="l"/>
            <a:r>
              <a:rPr sz="1200" b="0" i="0">
                <a:solidFill>
                  <a:srgbClr val="222222"/>
                </a:solidFill>
                <a:latin typeface="Ember Modern Display Standard"/>
              </a:rPr>
              <a:t>pessimistic −0.0001806</a:t>
            </a:r>
            <a:endParaRPr sz="1200"/>
          </a:p>
        </p:txBody>
      </p:sp>
      <p:sp>
        <p:nvSpPr>
          <p:cNvPr id="285" name="Checks table r4c2"/>
          <p:cNvSpPr txBox="1"/>
          <p:nvPr/>
        </p:nvSpPr>
        <p:spPr>
          <a:xfrm>
            <a:off x="7498080" y="2569464"/>
            <a:ext cx="1097280" cy="310896"/>
          </a:xfrm>
          <a:prstGeom prst="rect">
            <a:avLst/>
          </a:prstGeom>
          <a:noFill/>
        </p:spPr>
        <p:txBody>
          <a:bodyPr wrap="square" lIns="45720" tIns="0" rIns="45720" bIns="0" anchor="ctr">
            <a:spAutoFit/>
          </a:bodyPr>
          <a:lstStyle/>
          <a:p>
            <a:pPr algn="ctr"/>
            <a:r>
              <a:rPr sz="1200" b="1" i="0">
                <a:solidFill>
                  <a:srgbClr val="C24E00"/>
                </a:solidFill>
                <a:latin typeface="Ember Modern Display Standard"/>
              </a:rPr>
              <a:t>fail</a:t>
            </a:r>
            <a:endParaRPr sz="1200"/>
          </a:p>
        </p:txBody>
      </p:sp>
      <p:cxnSp>
        <p:nvCxnSpPr>
          <p:cNvPr id="286" name="Checks table rule 4"/>
          <p:cNvCxnSpPr/>
          <p:nvPr/>
        </p:nvCxnSpPr>
        <p:spPr>
          <a:xfrm>
            <a:off x="548640" y="2880360"/>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87" name="Kept table r0c0"/>
          <p:cNvSpPr txBox="1"/>
          <p:nvPr/>
        </p:nvSpPr>
        <p:spPr>
          <a:xfrm>
            <a:off x="548640" y="3017520"/>
            <a:ext cx="3840480" cy="292608"/>
          </a:xfrm>
          <a:prstGeom prst="rect">
            <a:avLst/>
          </a:prstGeom>
          <a:noFill/>
        </p:spPr>
        <p:txBody>
          <a:bodyPr wrap="square" lIns="45720" tIns="0" rIns="45720" bIns="0" anchor="ctr">
            <a:spAutoFit/>
          </a:bodyPr>
          <a:lstStyle/>
          <a:p>
            <a:pPr algn="l"/>
            <a:r>
              <a:rPr sz="1200" b="1" i="0">
                <a:solidFill>
                  <a:srgbClr val="161D26"/>
                </a:solidFill>
                <a:latin typeface="Ember Modern Display Standard"/>
              </a:rPr>
              <a:t>Change</a:t>
            </a:r>
            <a:endParaRPr sz="1200"/>
          </a:p>
        </p:txBody>
      </p:sp>
      <p:sp>
        <p:nvSpPr>
          <p:cNvPr id="288" name="Kept table r0c1"/>
          <p:cNvSpPr txBox="1"/>
          <p:nvPr/>
        </p:nvSpPr>
        <p:spPr>
          <a:xfrm>
            <a:off x="4389120" y="3017520"/>
            <a:ext cx="3108960" cy="292608"/>
          </a:xfrm>
          <a:prstGeom prst="rect">
            <a:avLst/>
          </a:prstGeom>
          <a:noFill/>
        </p:spPr>
        <p:txBody>
          <a:bodyPr wrap="square" lIns="45720" tIns="0" rIns="45720" bIns="0" anchor="ctr">
            <a:spAutoFit/>
          </a:bodyPr>
          <a:lstStyle/>
          <a:p>
            <a:pPr algn="l"/>
            <a:r>
              <a:rPr sz="1200" b="1" i="0">
                <a:solidFill>
                  <a:srgbClr val="161D26"/>
                </a:solidFill>
                <a:latin typeface="Ember Modern Display Standard"/>
              </a:rPr>
              <a:t>Evidence</a:t>
            </a:r>
            <a:endParaRPr sz="1200"/>
          </a:p>
        </p:txBody>
      </p:sp>
      <p:sp>
        <p:nvSpPr>
          <p:cNvPr id="289" name="Kept table r0c2"/>
          <p:cNvSpPr txBox="1"/>
          <p:nvPr/>
        </p:nvSpPr>
        <p:spPr>
          <a:xfrm>
            <a:off x="7498080" y="3017520"/>
            <a:ext cx="1097280" cy="292608"/>
          </a:xfrm>
          <a:prstGeom prst="rect">
            <a:avLst/>
          </a:prstGeom>
          <a:noFill/>
        </p:spPr>
        <p:txBody>
          <a:bodyPr wrap="square" lIns="45720" tIns="0" rIns="45720" bIns="0" anchor="ctr">
            <a:spAutoFit/>
          </a:bodyPr>
          <a:lstStyle/>
          <a:p>
            <a:pPr algn="ctr"/>
            <a:r>
              <a:rPr sz="1200" b="1" i="0">
                <a:solidFill>
                  <a:srgbClr val="161D26"/>
                </a:solidFill>
                <a:latin typeface="Ember Modern Display Standard"/>
              </a:rPr>
              <a:t>Decision</a:t>
            </a:r>
            <a:endParaRPr sz="1200"/>
          </a:p>
        </p:txBody>
      </p:sp>
      <p:cxnSp>
        <p:nvCxnSpPr>
          <p:cNvPr id="290" name="Kept table rule 0"/>
          <p:cNvCxnSpPr/>
          <p:nvPr/>
        </p:nvCxnSpPr>
        <p:spPr>
          <a:xfrm>
            <a:off x="548640" y="3310128"/>
            <a:ext cx="8046720" cy="0"/>
          </a:xfrm>
          <a:prstGeom prst="line">
            <a:avLst/>
          </a:prstGeom>
          <a:ln w="12700">
            <a:solidFill>
              <a:srgbClr val="293440"/>
            </a:solidFill>
          </a:ln>
        </p:spPr>
        <p:style>
          <a:lnRef idx="2">
            <a:schemeClr val="accent1"/>
          </a:lnRef>
          <a:fillRef idx="0">
            <a:schemeClr val="accent1"/>
          </a:fillRef>
          <a:effectRef idx="1">
            <a:schemeClr val="accent1"/>
          </a:effectRef>
          <a:fontRef idx="minor">
            <a:schemeClr val="tx1"/>
          </a:fontRef>
        </p:style>
      </p:cxnSp>
      <p:sp>
        <p:nvSpPr>
          <p:cNvPr id="291" name="Kept table r1c0"/>
          <p:cNvSpPr txBox="1"/>
          <p:nvPr/>
        </p:nvSpPr>
        <p:spPr>
          <a:xfrm>
            <a:off x="548640" y="3310128"/>
            <a:ext cx="3840480" cy="292608"/>
          </a:xfrm>
          <a:prstGeom prst="rect">
            <a:avLst/>
          </a:prstGeom>
          <a:noFill/>
        </p:spPr>
        <p:txBody>
          <a:bodyPr wrap="square" lIns="45720" tIns="0" rIns="45720" bIns="0" anchor="ctr">
            <a:spAutoFit/>
          </a:bodyPr>
          <a:lstStyle/>
          <a:p>
            <a:pPr algn="l"/>
            <a:r>
              <a:rPr sz="1200" b="0" i="0">
                <a:solidFill>
                  <a:srgbClr val="222222"/>
                </a:solidFill>
                <a:latin typeface="Ember Modern Display Standard"/>
              </a:rPr>
              <a:t>Quick rule-based filter</a:t>
            </a:r>
            <a:endParaRPr sz="1200"/>
          </a:p>
        </p:txBody>
      </p:sp>
      <p:sp>
        <p:nvSpPr>
          <p:cNvPr id="292" name="Kept table r1c1"/>
          <p:cNvSpPr txBox="1"/>
          <p:nvPr/>
        </p:nvSpPr>
        <p:spPr>
          <a:xfrm>
            <a:off x="4389120" y="3310128"/>
            <a:ext cx="3108960" cy="292608"/>
          </a:xfrm>
          <a:prstGeom prst="rect">
            <a:avLst/>
          </a:prstGeom>
          <a:noFill/>
        </p:spPr>
        <p:txBody>
          <a:bodyPr wrap="square" lIns="45720" tIns="0" rIns="45720" bIns="0" anchor="ctr">
            <a:spAutoFit/>
          </a:bodyPr>
          <a:lstStyle/>
          <a:p>
            <a:pPr algn="l"/>
            <a:r>
              <a:rPr sz="1200" b="0" i="0">
                <a:solidFill>
                  <a:srgbClr val="222222"/>
                </a:solidFill>
                <a:latin typeface="Ember Modern Display Standard"/>
              </a:rPr>
              <a:t>fold-9 F0.5 0.990117 → 0.990086</a:t>
            </a:r>
            <a:endParaRPr sz="1200"/>
          </a:p>
        </p:txBody>
      </p:sp>
      <p:sp>
        <p:nvSpPr>
          <p:cNvPr id="293" name="Kept table r1c2"/>
          <p:cNvSpPr txBox="1"/>
          <p:nvPr/>
        </p:nvSpPr>
        <p:spPr>
          <a:xfrm>
            <a:off x="7498080" y="3310128"/>
            <a:ext cx="1097280" cy="292608"/>
          </a:xfrm>
          <a:prstGeom prst="rect">
            <a:avLst/>
          </a:prstGeom>
          <a:noFill/>
        </p:spPr>
        <p:txBody>
          <a:bodyPr wrap="square" lIns="45720" tIns="0" rIns="45720" bIns="0" anchor="ctr">
            <a:spAutoFit/>
          </a:bodyPr>
          <a:lstStyle/>
          <a:p>
            <a:pPr algn="ctr"/>
            <a:r>
              <a:rPr sz="1200" b="1" i="0">
                <a:solidFill>
                  <a:srgbClr val="222222"/>
                </a:solidFill>
                <a:latin typeface="Ember Modern Display Standard"/>
              </a:rPr>
              <a:t>kept</a:t>
            </a:r>
            <a:endParaRPr sz="1200"/>
          </a:p>
        </p:txBody>
      </p:sp>
      <p:cxnSp>
        <p:nvCxnSpPr>
          <p:cNvPr id="294" name="Kept table rule 1"/>
          <p:cNvCxnSpPr/>
          <p:nvPr/>
        </p:nvCxnSpPr>
        <p:spPr>
          <a:xfrm>
            <a:off x="548640" y="3602736"/>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95" name="Kept table r2c0"/>
          <p:cNvSpPr txBox="1"/>
          <p:nvPr/>
        </p:nvSpPr>
        <p:spPr>
          <a:xfrm>
            <a:off x="548640" y="3602736"/>
            <a:ext cx="3840480" cy="292608"/>
          </a:xfrm>
          <a:prstGeom prst="rect">
            <a:avLst/>
          </a:prstGeom>
          <a:noFill/>
        </p:spPr>
        <p:txBody>
          <a:bodyPr wrap="square" lIns="45720" tIns="0" rIns="45720" bIns="0" anchor="ctr">
            <a:spAutoFit/>
          </a:bodyPr>
          <a:lstStyle/>
          <a:p>
            <a:pPr algn="l"/>
            <a:r>
              <a:rPr sz="1200" b="0" i="0">
                <a:solidFill>
                  <a:srgbClr val="222222"/>
                </a:solidFill>
                <a:latin typeface="Ember Modern Display Standard"/>
              </a:rPr>
              <a:t>US / India decision models refit on folds 6-9</a:t>
            </a:r>
            <a:endParaRPr sz="1200"/>
          </a:p>
        </p:txBody>
      </p:sp>
      <p:sp>
        <p:nvSpPr>
          <p:cNvPr id="296" name="Kept table r2c1"/>
          <p:cNvSpPr txBox="1"/>
          <p:nvPr/>
        </p:nvSpPr>
        <p:spPr>
          <a:xfrm>
            <a:off x="4389120" y="3602736"/>
            <a:ext cx="3108960" cy="292608"/>
          </a:xfrm>
          <a:prstGeom prst="rect">
            <a:avLst/>
          </a:prstGeom>
          <a:noFill/>
        </p:spPr>
        <p:txBody>
          <a:bodyPr wrap="square" lIns="45720" tIns="0" rIns="45720" bIns="0" anchor="ctr">
            <a:spAutoFit/>
          </a:bodyPr>
          <a:lstStyle/>
          <a:p>
            <a:pPr algn="l"/>
            <a:r>
              <a:rPr sz="1200" b="0" i="0">
                <a:solidFill>
                  <a:srgbClr val="222222"/>
                </a:solidFill>
                <a:latin typeface="Ember Modern Display Standard"/>
              </a:rPr>
              <a:t>public 0.990621 → 0.990676</a:t>
            </a:r>
            <a:endParaRPr sz="1200"/>
          </a:p>
        </p:txBody>
      </p:sp>
      <p:sp>
        <p:nvSpPr>
          <p:cNvPr id="297" name="Kept table r2c2"/>
          <p:cNvSpPr txBox="1"/>
          <p:nvPr/>
        </p:nvSpPr>
        <p:spPr>
          <a:xfrm>
            <a:off x="7498080" y="3602736"/>
            <a:ext cx="1097280" cy="292608"/>
          </a:xfrm>
          <a:prstGeom prst="rect">
            <a:avLst/>
          </a:prstGeom>
          <a:noFill/>
        </p:spPr>
        <p:txBody>
          <a:bodyPr wrap="square" lIns="45720" tIns="0" rIns="45720" bIns="0" anchor="ctr">
            <a:spAutoFit/>
          </a:bodyPr>
          <a:lstStyle/>
          <a:p>
            <a:pPr algn="ctr"/>
            <a:r>
              <a:rPr sz="1200" b="1" i="0">
                <a:solidFill>
                  <a:srgbClr val="222222"/>
                </a:solidFill>
                <a:latin typeface="Ember Modern Display Standard"/>
              </a:rPr>
              <a:t>kept</a:t>
            </a:r>
            <a:endParaRPr sz="1200"/>
          </a:p>
        </p:txBody>
      </p:sp>
      <p:cxnSp>
        <p:nvCxnSpPr>
          <p:cNvPr id="298" name="Kept table rule 2"/>
          <p:cNvCxnSpPr/>
          <p:nvPr/>
        </p:nvCxnSpPr>
        <p:spPr>
          <a:xfrm>
            <a:off x="548640" y="3895344"/>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99" name="Kept table r3c0"/>
          <p:cNvSpPr txBox="1"/>
          <p:nvPr/>
        </p:nvSpPr>
        <p:spPr>
          <a:xfrm>
            <a:off x="548640" y="3895344"/>
            <a:ext cx="3840480" cy="292608"/>
          </a:xfrm>
          <a:prstGeom prst="rect">
            <a:avLst/>
          </a:prstGeom>
          <a:noFill/>
        </p:spPr>
        <p:txBody>
          <a:bodyPr wrap="square" lIns="45720" tIns="0" rIns="45720" bIns="0" anchor="ctr">
            <a:spAutoFit/>
          </a:bodyPr>
          <a:lstStyle/>
          <a:p>
            <a:pPr algn="l"/>
            <a:r>
              <a:rPr sz="1200" b="0" i="0">
                <a:solidFill>
                  <a:srgbClr val="222222"/>
                </a:solidFill>
                <a:latin typeface="Ember Modern Display Standard"/>
              </a:rPr>
              <a:t>France decision model refit</a:t>
            </a:r>
            <a:endParaRPr sz="1200"/>
          </a:p>
        </p:txBody>
      </p:sp>
      <p:sp>
        <p:nvSpPr>
          <p:cNvPr id="300" name="Kept table r3c1"/>
          <p:cNvSpPr txBox="1"/>
          <p:nvPr/>
        </p:nvSpPr>
        <p:spPr>
          <a:xfrm>
            <a:off x="4389120" y="3895344"/>
            <a:ext cx="3108960" cy="292608"/>
          </a:xfrm>
          <a:prstGeom prst="rect">
            <a:avLst/>
          </a:prstGeom>
          <a:noFill/>
        </p:spPr>
        <p:txBody>
          <a:bodyPr wrap="square" lIns="45720" tIns="0" rIns="45720" bIns="0" anchor="ctr">
            <a:spAutoFit/>
          </a:bodyPr>
          <a:lstStyle/>
          <a:p>
            <a:pPr algn="l"/>
            <a:r>
              <a:rPr sz="1200" b="0" i="0">
                <a:solidFill>
                  <a:srgbClr val="222222"/>
                </a:solidFill>
                <a:latin typeface="Ember Modern Display Standard"/>
              </a:rPr>
              <a:t>public 0.990726 vs 0.990748</a:t>
            </a:r>
            <a:endParaRPr sz="1200"/>
          </a:p>
        </p:txBody>
      </p:sp>
      <p:sp>
        <p:nvSpPr>
          <p:cNvPr id="301" name="Kept table r3c2"/>
          <p:cNvSpPr txBox="1"/>
          <p:nvPr/>
        </p:nvSpPr>
        <p:spPr>
          <a:xfrm>
            <a:off x="7498080" y="3895344"/>
            <a:ext cx="1097280" cy="292608"/>
          </a:xfrm>
          <a:prstGeom prst="rect">
            <a:avLst/>
          </a:prstGeom>
          <a:noFill/>
        </p:spPr>
        <p:txBody>
          <a:bodyPr wrap="square" lIns="45720" tIns="0" rIns="45720" bIns="0" anchor="ctr">
            <a:spAutoFit/>
          </a:bodyPr>
          <a:lstStyle/>
          <a:p>
            <a:pPr algn="ctr"/>
            <a:r>
              <a:rPr sz="1200" b="0" i="0">
                <a:solidFill>
                  <a:srgbClr val="222222"/>
                </a:solidFill>
                <a:latin typeface="Ember Modern Display Standard"/>
              </a:rPr>
              <a:t>dropped</a:t>
            </a:r>
            <a:endParaRPr sz="1200"/>
          </a:p>
        </p:txBody>
      </p:sp>
      <p:cxnSp>
        <p:nvCxnSpPr>
          <p:cNvPr id="302" name="Kept table rule 3"/>
          <p:cNvCxnSpPr/>
          <p:nvPr/>
        </p:nvCxnSpPr>
        <p:spPr>
          <a:xfrm>
            <a:off x="548640" y="4187952"/>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303" name="Kept table r4c0"/>
          <p:cNvSpPr txBox="1"/>
          <p:nvPr/>
        </p:nvSpPr>
        <p:spPr>
          <a:xfrm>
            <a:off x="548640" y="4187952"/>
            <a:ext cx="3840480" cy="292608"/>
          </a:xfrm>
          <a:prstGeom prst="rect">
            <a:avLst/>
          </a:prstGeom>
          <a:noFill/>
        </p:spPr>
        <p:txBody>
          <a:bodyPr wrap="square" lIns="45720" tIns="0" rIns="45720" bIns="0" anchor="ctr">
            <a:spAutoFit/>
          </a:bodyPr>
          <a:lstStyle/>
          <a:p>
            <a:pPr algn="l"/>
            <a:r>
              <a:rPr sz="1200" b="0" i="0">
                <a:solidFill>
                  <a:srgbClr val="222222"/>
                </a:solidFill>
                <a:latin typeface="Ember Modern Display Standard"/>
              </a:rPr>
              <a:t>Second French self-training round</a:t>
            </a:r>
            <a:endParaRPr sz="1200"/>
          </a:p>
        </p:txBody>
      </p:sp>
      <p:sp>
        <p:nvSpPr>
          <p:cNvPr id="304" name="Kept table r4c1"/>
          <p:cNvSpPr txBox="1"/>
          <p:nvPr/>
        </p:nvSpPr>
        <p:spPr>
          <a:xfrm>
            <a:off x="4389120" y="4187952"/>
            <a:ext cx="3108960" cy="292608"/>
          </a:xfrm>
          <a:prstGeom prst="rect">
            <a:avLst/>
          </a:prstGeom>
          <a:noFill/>
        </p:spPr>
        <p:txBody>
          <a:bodyPr wrap="square" lIns="45720" tIns="0" rIns="45720" bIns="0" anchor="ctr">
            <a:spAutoFit/>
          </a:bodyPr>
          <a:lstStyle/>
          <a:p>
            <a:pPr algn="l"/>
            <a:r>
              <a:rPr sz="1200" b="0" i="0">
                <a:solidFill>
                  <a:srgbClr val="222222"/>
                </a:solidFill>
                <a:latin typeface="Ember Modern Display Standard"/>
              </a:rPr>
              <a:t>public 0.991277 vs 0.991300</a:t>
            </a:r>
            <a:endParaRPr sz="1200"/>
          </a:p>
        </p:txBody>
      </p:sp>
      <p:sp>
        <p:nvSpPr>
          <p:cNvPr id="305" name="Kept table r4c2"/>
          <p:cNvSpPr txBox="1"/>
          <p:nvPr/>
        </p:nvSpPr>
        <p:spPr>
          <a:xfrm>
            <a:off x="7498080" y="4187952"/>
            <a:ext cx="1097280" cy="292608"/>
          </a:xfrm>
          <a:prstGeom prst="rect">
            <a:avLst/>
          </a:prstGeom>
          <a:noFill/>
        </p:spPr>
        <p:txBody>
          <a:bodyPr wrap="square" lIns="45720" tIns="0" rIns="45720" bIns="0" anchor="ctr">
            <a:spAutoFit/>
          </a:bodyPr>
          <a:lstStyle/>
          <a:p>
            <a:pPr algn="ctr"/>
            <a:r>
              <a:rPr sz="1200" b="0" i="0">
                <a:solidFill>
                  <a:srgbClr val="222222"/>
                </a:solidFill>
                <a:latin typeface="Ember Modern Display Standard"/>
              </a:rPr>
              <a:t>dropped</a:t>
            </a:r>
            <a:endParaRPr sz="1200"/>
          </a:p>
        </p:txBody>
      </p:sp>
      <p:cxnSp>
        <p:nvCxnSpPr>
          <p:cNvPr id="306" name="Kept table rule 4"/>
          <p:cNvCxnSpPr/>
          <p:nvPr/>
        </p:nvCxnSpPr>
        <p:spPr>
          <a:xfrm>
            <a:off x="548640" y="4480560"/>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307" name="Kept table r5c0"/>
          <p:cNvSpPr txBox="1"/>
          <p:nvPr/>
        </p:nvSpPr>
        <p:spPr>
          <a:xfrm>
            <a:off x="548640" y="4480560"/>
            <a:ext cx="3840480" cy="292608"/>
          </a:xfrm>
          <a:prstGeom prst="rect">
            <a:avLst/>
          </a:prstGeom>
          <a:noFill/>
        </p:spPr>
        <p:txBody>
          <a:bodyPr wrap="square" lIns="45720" tIns="0" rIns="45720" bIns="0" anchor="ctr">
            <a:spAutoFit/>
          </a:bodyPr>
          <a:lstStyle/>
          <a:p>
            <a:pPr algn="l"/>
            <a:r>
              <a:rPr sz="1200" b="0" i="0">
                <a:solidFill>
                  <a:srgbClr val="222222"/>
                </a:solidFill>
                <a:latin typeface="Ember Modern Display Standard"/>
              </a:rPr>
              <a:t>Larger XLM-R reader</a:t>
            </a:r>
            <a:endParaRPr sz="1200"/>
          </a:p>
        </p:txBody>
      </p:sp>
      <p:sp>
        <p:nvSpPr>
          <p:cNvPr id="308" name="Kept table r5c1"/>
          <p:cNvSpPr txBox="1"/>
          <p:nvPr/>
        </p:nvSpPr>
        <p:spPr>
          <a:xfrm>
            <a:off x="4389120" y="4480560"/>
            <a:ext cx="3108960" cy="292608"/>
          </a:xfrm>
          <a:prstGeom prst="rect">
            <a:avLst/>
          </a:prstGeom>
          <a:noFill/>
        </p:spPr>
        <p:txBody>
          <a:bodyPr wrap="square" lIns="45720" tIns="0" rIns="45720" bIns="0" anchor="ctr">
            <a:spAutoFit/>
          </a:bodyPr>
          <a:lstStyle/>
          <a:p>
            <a:pPr algn="l"/>
            <a:r>
              <a:rPr sz="1200" b="0" i="0">
                <a:solidFill>
                  <a:srgbClr val="222222"/>
                </a:solidFill>
                <a:latin typeface="Ember Modern Display Standard"/>
              </a:rPr>
              <a:t>development tests</a:t>
            </a:r>
            <a:endParaRPr sz="1200"/>
          </a:p>
        </p:txBody>
      </p:sp>
      <p:sp>
        <p:nvSpPr>
          <p:cNvPr id="309" name="Kept table r5c2"/>
          <p:cNvSpPr txBox="1"/>
          <p:nvPr/>
        </p:nvSpPr>
        <p:spPr>
          <a:xfrm>
            <a:off x="7498080" y="4480560"/>
            <a:ext cx="1097280" cy="292608"/>
          </a:xfrm>
          <a:prstGeom prst="rect">
            <a:avLst/>
          </a:prstGeom>
          <a:noFill/>
        </p:spPr>
        <p:txBody>
          <a:bodyPr wrap="square" lIns="45720" tIns="0" rIns="45720" bIns="0" anchor="ctr">
            <a:spAutoFit/>
          </a:bodyPr>
          <a:lstStyle/>
          <a:p>
            <a:pPr algn="ctr"/>
            <a:r>
              <a:rPr sz="1200" b="0" i="0">
                <a:solidFill>
                  <a:srgbClr val="222222"/>
                </a:solidFill>
                <a:latin typeface="Ember Modern Display Standard"/>
              </a:rPr>
              <a:t>dropped</a:t>
            </a:r>
            <a:endParaRPr sz="1200"/>
          </a:p>
        </p:txBody>
      </p:sp>
      <p:cxnSp>
        <p:nvCxnSpPr>
          <p:cNvPr id="310" name="Kept table rule 5"/>
          <p:cNvCxnSpPr/>
          <p:nvPr/>
        </p:nvCxnSpPr>
        <p:spPr>
          <a:xfrm>
            <a:off x="548640" y="4773168"/>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US Example in</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Detail</a:t>
            </a:r>
            <a:br>
              <a:rPr lang="en" sz="1100" dirty="0">
                <a:solidFill>
                  <a:srgbClr val="222222"/>
                </a:solidFill>
                <a:highlight>
                  <a:srgbClr val="FFFFFF"/>
                </a:highlight>
                <a:latin typeface="Ember Modern Display Standard" panose="020B0503020204020204" pitchFamily="34" charset="0"/>
                <a:ea typeface="Special Gothic"/>
                <a:cs typeface="Special Gothic"/>
                <a:sym typeface="Special Gothic"/>
              </a:rPr>
            </a:br>
            <a:br>
              <a:rPr lang="en" sz="1100" dirty="0">
                <a:solidFill>
                  <a:schemeClr val="accent2"/>
                </a:solidFill>
                <a:highlight>
                  <a:srgbClr val="FFFFFF"/>
                </a:highlight>
                <a:latin typeface="Ember Modern Display Standard" panose="020B0503020204020204" pitchFamily="34" charset="0"/>
                <a:ea typeface="Special Gothic"/>
                <a:cs typeface="Special Gothic"/>
                <a:sym typeface="Special Gothic"/>
              </a:rPr>
            </a:br>
            <a:r>
              <a:rPr lang="en" sz="1400" dirty="0">
                <a:solidFill>
                  <a:schemeClr val="accent2"/>
                </a:solidFill>
                <a:latin typeface="Ember Modern Display Standard" panose="020B0503020204020204" pitchFamily="34" charset="0"/>
              </a:rPr>
              <a:t>Backup  ·  No address: legal form and one word separate four candidates</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Record banner"/>
          <p:cNvSpPr/>
          <p:nvPr/>
        </p:nvSpPr>
        <p:spPr>
          <a:xfrm>
            <a:off x="411480" y="1261872"/>
            <a:ext cx="8321040" cy="530352"/>
          </a:xfrm>
          <a:prstGeom prst="roundRect">
            <a:avLst>
              <a:gd name="adj" fmla="val 13793"/>
            </a:avLst>
          </a:prstGeom>
          <a:solidFill>
            <a:srgbClr val="EEEEEE"/>
          </a:solidFill>
          <a:ln>
            <a:noFill/>
          </a:ln>
        </p:spPr>
        <p:txBody>
          <a:bodyPr rtlCol="0" anchor="ctr" lIns="146304" tIns="18288" rIns="109728" bIns="18288" wrap="square"/>
          <a:lstStyle/>
          <a:p>
            <a:pPr algn="l"/>
            <a:r>
              <a:rPr sz="1400" b="1" i="0">
                <a:solidFill>
                  <a:srgbClr val="222222"/>
                </a:solidFill>
                <a:latin typeface="Ember Modern Display Standard"/>
              </a:rPr>
              <a:t>“Legacy Marketing Enterprises (Inc)”</a:t>
            </a:r>
            <a:r>
              <a:rPr sz="1400" b="0" i="0">
                <a:solidFill>
                  <a:srgbClr val="222222"/>
                </a:solidFill>
                <a:latin typeface="Ember Modern Display Standard"/>
              </a:rPr>
              <a:t>   ·   no address</a:t>
            </a:r>
            <a:endParaRPr sz="1400"/>
          </a:p>
          <a:p>
            <a:pPr algn="l"/>
            <a:r>
              <a:rPr sz="1200" b="0" i="0">
                <a:solidFill>
                  <a:srgbClr val="5A6270"/>
                </a:solidFill>
                <a:latin typeface="Ember Modern Display Standard"/>
              </a:rPr>
              <a:t>US. Test labels are private: this shows how the pipeline decides, not whether it is right</a:t>
            </a:r>
            <a:endParaRPr sz="1200"/>
          </a:p>
        </p:txBody>
      </p:sp>
      <p:sp>
        <p:nvSpPr>
          <p:cNvPr id="268" name="Stage 1 body"/>
          <p:cNvSpPr/>
          <p:nvPr/>
        </p:nvSpPr>
        <p:spPr>
          <a:xfrm>
            <a:off x="411480" y="1892808"/>
            <a:ext cx="1188720" cy="2633472"/>
          </a:xfrm>
          <a:prstGeom prst="roundRect">
            <a:avLst>
              <a:gd name="adj" fmla="val 6153"/>
            </a:avLst>
          </a:prstGeom>
          <a:solidFill>
            <a:srgbClr val="FFFFFF"/>
          </a:solidFill>
          <a:ln w="9525">
            <a:solidFill>
              <a:srgbClr val="C9CDD3"/>
            </a:solidFill>
          </a:ln>
        </p:spPr>
        <p:txBody>
          <a:bodyPr rtlCol="0" anchor="t" lIns="109728" tIns="420624" bIns="54864" wrap="square"/>
          <a:lstStyle/>
          <a:p>
            <a:pPr algn="l">
              <a:spcAft>
                <a:spcPts val="500"/>
              </a:spcAft>
            </a:pPr>
            <a:r>
              <a:rPr sz="1200" b="0" i="0">
                <a:solidFill>
                  <a:srgbClr val="222222"/>
                </a:solidFill>
                <a:latin typeface="Ember Modern Display Standard"/>
              </a:rPr>
              <a:t>Names that differ by legal form or one word</a:t>
            </a:r>
            <a:endParaRPr sz="1200"/>
          </a:p>
          <a:p>
            <a:pPr algn="l">
              <a:spcAft>
                <a:spcPts val="500"/>
              </a:spcAft>
            </a:pPr>
            <a:r>
              <a:rPr sz="1200" b="1" i="0">
                <a:solidFill>
                  <a:srgbClr val="222222"/>
                </a:solidFill>
                <a:latin typeface="Ember Modern Display Standard"/>
              </a:rPr>
              <a:t>4 kept</a:t>
            </a:r>
            <a:r>
              <a:rPr sz="1200" b="0" i="0">
                <a:solidFill>
                  <a:srgbClr val="222222"/>
                </a:solidFill>
                <a:latin typeface="Ember Modern Display Standard"/>
              </a:rPr>
              <a:t> by the ranker</a:t>
            </a:r>
            <a:endParaRPr sz="1200"/>
          </a:p>
        </p:txBody>
      </p:sp>
      <p:sp>
        <p:nvSpPr>
          <p:cNvPr id="269" name="Stage 1 header"/>
          <p:cNvSpPr/>
          <p:nvPr/>
        </p:nvSpPr>
        <p:spPr>
          <a:xfrm>
            <a:off x="411480" y="1892808"/>
            <a:ext cx="118872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Ember Modern Display Standard"/>
              </a:rPr>
              <a:t>1  Shortlist</a:t>
            </a:r>
            <a:endParaRPr sz="1200"/>
          </a:p>
        </p:txBody>
      </p:sp>
      <p:sp>
        <p:nvSpPr>
          <p:cNvPr id="270" name="Chevron 269"/>
          <p:cNvSpPr/>
          <p:nvPr/>
        </p:nvSpPr>
        <p:spPr>
          <a:xfrm>
            <a:off x="1627632" y="3118104"/>
            <a:ext cx="91440" cy="182880"/>
          </a:xfrm>
          <a:prstGeom prst="chevron">
            <a:avLst/>
          </a:prstGeom>
          <a:solidFill>
            <a:srgbClr val="9AA1AA"/>
          </a:solidFill>
          <a:ln>
            <a:noFill/>
          </a:ln>
        </p:spPr>
        <p:txBody>
          <a:bodyPr rtlCol="0" anchor="t" lIns="0" tIns="0" rIns="0" bIns="0" wrap="square"/>
          <a:lstStyle/>
          <a:p>
            <a:pPr algn="ctr"/>
          </a:p>
        </p:txBody>
      </p:sp>
      <p:sp>
        <p:nvSpPr>
          <p:cNvPr id="271" name="Stage 2 body"/>
          <p:cNvSpPr/>
          <p:nvPr/>
        </p:nvSpPr>
        <p:spPr>
          <a:xfrm>
            <a:off x="1746504" y="1892808"/>
            <a:ext cx="1234440" cy="2633472"/>
          </a:xfrm>
          <a:prstGeom prst="roundRect">
            <a:avLst>
              <a:gd name="adj" fmla="val 5925"/>
            </a:avLst>
          </a:prstGeom>
          <a:solidFill>
            <a:srgbClr val="FFFFFF"/>
          </a:solidFill>
          <a:ln w="9525">
            <a:solidFill>
              <a:srgbClr val="C9CDD3"/>
            </a:solidFill>
          </a:ln>
        </p:spPr>
        <p:txBody>
          <a:bodyPr rtlCol="0" anchor="t" lIns="109728" tIns="420624" bIns="54864" wrap="square"/>
          <a:lstStyle/>
          <a:p>
            <a:pPr algn="l">
              <a:spcAft>
                <a:spcPts val="500"/>
              </a:spcAft>
            </a:pPr>
            <a:r>
              <a:rPr sz="1200" b="0" i="0">
                <a:solidFill>
                  <a:srgbClr val="222222"/>
                </a:solidFill>
                <a:latin typeface="Ember Modern Display Standard"/>
              </a:rPr>
              <a:t>Inc → LLC, Inc → PC: legal form</a:t>
            </a:r>
            <a:endParaRPr sz="1200"/>
          </a:p>
          <a:p>
            <a:pPr algn="l">
              <a:spcAft>
                <a:spcPts val="500"/>
              </a:spcAft>
            </a:pPr>
            <a:r>
              <a:rPr sz="1200" b="0" i="0">
                <a:solidFill>
                  <a:srgbClr val="222222"/>
                </a:solidFill>
                <a:latin typeface="Ember Modern Display Standard"/>
              </a:rPr>
              <a:t>Enterprises → Industries: one word replaced</a:t>
            </a:r>
            <a:endParaRPr sz="1200"/>
          </a:p>
          <a:p>
            <a:pPr algn="l">
              <a:spcAft>
                <a:spcPts val="500"/>
              </a:spcAft>
            </a:pPr>
            <a:r>
              <a:rPr sz="1200" b="0" i="0">
                <a:solidFill>
                  <a:srgbClr val="222222"/>
                </a:solidFill>
                <a:latin typeface="Ember Modern Display Standard"/>
              </a:rPr>
              <a:t>No address</a:t>
            </a:r>
            <a:endParaRPr sz="1200"/>
          </a:p>
        </p:txBody>
      </p:sp>
      <p:sp>
        <p:nvSpPr>
          <p:cNvPr id="272" name="Stage 2 header"/>
          <p:cNvSpPr/>
          <p:nvPr/>
        </p:nvSpPr>
        <p:spPr>
          <a:xfrm>
            <a:off x="1746504" y="1892808"/>
            <a:ext cx="123444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Ember Modern Display Standard"/>
              </a:rPr>
              <a:t>2  Changes</a:t>
            </a:r>
            <a:endParaRPr sz="1200"/>
          </a:p>
        </p:txBody>
      </p:sp>
      <p:sp>
        <p:nvSpPr>
          <p:cNvPr id="273" name="Chevron 272"/>
          <p:cNvSpPr/>
          <p:nvPr/>
        </p:nvSpPr>
        <p:spPr>
          <a:xfrm>
            <a:off x="3008376" y="3118104"/>
            <a:ext cx="91440" cy="182880"/>
          </a:xfrm>
          <a:prstGeom prst="chevron">
            <a:avLst/>
          </a:prstGeom>
          <a:solidFill>
            <a:srgbClr val="9AA1AA"/>
          </a:solidFill>
          <a:ln>
            <a:noFill/>
          </a:ln>
        </p:spPr>
        <p:txBody>
          <a:bodyPr rtlCol="0" anchor="t" lIns="0" tIns="0" rIns="0" bIns="0" wrap="square"/>
          <a:lstStyle/>
          <a:p>
            <a:pPr algn="ctr"/>
          </a:p>
        </p:txBody>
      </p:sp>
      <p:sp>
        <p:nvSpPr>
          <p:cNvPr id="274" name="Stage 3 body"/>
          <p:cNvSpPr/>
          <p:nvPr/>
        </p:nvSpPr>
        <p:spPr>
          <a:xfrm>
            <a:off x="3127248" y="1892808"/>
            <a:ext cx="1965960" cy="2633472"/>
          </a:xfrm>
          <a:prstGeom prst="roundRect">
            <a:avLst>
              <a:gd name="adj" fmla="val 3720"/>
            </a:avLst>
          </a:prstGeom>
          <a:solidFill>
            <a:srgbClr val="FFFFFF"/>
          </a:solidFill>
          <a:ln w="9525">
            <a:solidFill>
              <a:srgbClr val="C9CDD3"/>
            </a:solidFill>
          </a:ln>
        </p:spPr>
        <p:txBody>
          <a:bodyPr rtlCol="0" anchor="t" lIns="109728" tIns="420624" bIns="54864" wrap="square"/>
          <a:lstStyle/>
          <a:p>
            <a:pPr algn="l"/>
            <a:r>
              <a:rPr sz="1200" b="0" i="0">
                <a:solidFill>
                  <a:srgbClr val="222222"/>
                </a:solidFill>
                <a:latin typeface="Ember Modern Display Standard"/>
              </a:rPr>
              <a:t>Enterprises </a:t>
            </a:r>
            <a:r>
              <a:rPr sz="1200" b="1" i="0">
                <a:solidFill>
                  <a:srgbClr val="C24E00"/>
                </a:solidFill>
                <a:latin typeface="Ember Modern Display Standard"/>
              </a:rPr>
              <a:t>Inc</a:t>
            </a:r>
            <a:r>
              <a:rPr sz="1200" b="0" i="0">
                <a:solidFill>
                  <a:srgbClr val="222222"/>
                </a:solidFill>
                <a:latin typeface="Ember Modern Display Standard"/>
              </a:rPr>
              <a:t>, Windsor CT</a:t>
            </a:r>
            <a:endParaRPr sz="1200"/>
          </a:p>
          <a:p>
            <a:pPr algn="l">
              <a:spcAft>
                <a:spcPts val="400"/>
              </a:spcAft>
            </a:pPr>
            <a:r>
              <a:rPr sz="1200" b="1" i="0">
                <a:solidFill>
                  <a:srgbClr val="C24E00"/>
                </a:solidFill>
                <a:latin typeface="Ember Modern Display Standard"/>
              </a:rPr>
              <a:t>0.965022</a:t>
            </a:r>
            <a:endParaRPr sz="1200"/>
          </a:p>
          <a:p>
            <a:pPr algn="l"/>
            <a:r>
              <a:rPr sz="1200" b="0" i="0">
                <a:solidFill>
                  <a:srgbClr val="222222"/>
                </a:solidFill>
                <a:latin typeface="Ember Modern Display Standard"/>
              </a:rPr>
              <a:t>Enterprises </a:t>
            </a:r>
            <a:r>
              <a:rPr sz="1200" b="1" i="0">
                <a:solidFill>
                  <a:srgbClr val="222222"/>
                </a:solidFill>
                <a:latin typeface="Ember Modern Display Standard"/>
              </a:rPr>
              <a:t>PC</a:t>
            </a:r>
            <a:r>
              <a:rPr sz="1200" b="0" i="0">
                <a:solidFill>
                  <a:srgbClr val="222222"/>
                </a:solidFill>
                <a:latin typeface="Ember Modern Display Standard"/>
              </a:rPr>
              <a:t>, Joshua Tree CA</a:t>
            </a:r>
            <a:endParaRPr sz="1200"/>
          </a:p>
          <a:p>
            <a:pPr algn="l">
              <a:spcAft>
                <a:spcPts val="400"/>
              </a:spcAft>
            </a:pPr>
            <a:r>
              <a:rPr sz="1200" b="1" i="0">
                <a:solidFill>
                  <a:srgbClr val="222222"/>
                </a:solidFill>
                <a:latin typeface="Ember Modern Display Standard"/>
              </a:rPr>
              <a:t>0.088664</a:t>
            </a:r>
            <a:endParaRPr sz="1200"/>
          </a:p>
          <a:p>
            <a:pPr algn="l"/>
            <a:r>
              <a:rPr sz="1200" b="1" i="0">
                <a:solidFill>
                  <a:srgbClr val="222222"/>
                </a:solidFill>
                <a:latin typeface="Ember Modern Display Standard"/>
              </a:rPr>
              <a:t>Industries</a:t>
            </a:r>
            <a:r>
              <a:rPr sz="1200" b="0" i="0">
                <a:solidFill>
                  <a:srgbClr val="222222"/>
                </a:solidFill>
                <a:latin typeface="Ember Modern Display Standard"/>
              </a:rPr>
              <a:t> Inc, Louisville TN</a:t>
            </a:r>
            <a:endParaRPr sz="1200"/>
          </a:p>
          <a:p>
            <a:pPr algn="l">
              <a:spcAft>
                <a:spcPts val="400"/>
              </a:spcAft>
            </a:pPr>
            <a:r>
              <a:rPr sz="1200" b="1" i="0">
                <a:solidFill>
                  <a:srgbClr val="222222"/>
                </a:solidFill>
                <a:latin typeface="Ember Modern Display Standard"/>
              </a:rPr>
              <a:t>0.000088</a:t>
            </a:r>
            <a:endParaRPr sz="1200"/>
          </a:p>
          <a:p>
            <a:pPr algn="l"/>
            <a:r>
              <a:rPr sz="1200" b="0" i="0">
                <a:solidFill>
                  <a:srgbClr val="222222"/>
                </a:solidFill>
                <a:latin typeface="Ember Modern Display Standard"/>
              </a:rPr>
              <a:t>Enterprises </a:t>
            </a:r>
            <a:r>
              <a:rPr sz="1200" b="1" i="0">
                <a:solidFill>
                  <a:srgbClr val="222222"/>
                </a:solidFill>
                <a:latin typeface="Ember Modern Display Standard"/>
              </a:rPr>
              <a:t>LLC</a:t>
            </a:r>
            <a:r>
              <a:rPr sz="1200" b="0" i="0">
                <a:solidFill>
                  <a:srgbClr val="222222"/>
                </a:solidFill>
                <a:latin typeface="Ember Modern Display Standard"/>
              </a:rPr>
              <a:t>, Irondequoit NY</a:t>
            </a:r>
            <a:endParaRPr sz="1200"/>
          </a:p>
          <a:p>
            <a:pPr algn="l"/>
            <a:r>
              <a:rPr sz="1200" b="1" i="0">
                <a:solidFill>
                  <a:srgbClr val="222222"/>
                </a:solidFill>
                <a:latin typeface="Ember Modern Display Standard"/>
              </a:rPr>
              <a:t>0.000007</a:t>
            </a:r>
            <a:endParaRPr sz="1200"/>
          </a:p>
        </p:txBody>
      </p:sp>
      <p:sp>
        <p:nvSpPr>
          <p:cNvPr id="275" name="Stage 3 header"/>
          <p:cNvSpPr/>
          <p:nvPr/>
        </p:nvSpPr>
        <p:spPr>
          <a:xfrm>
            <a:off x="3127248" y="1892808"/>
            <a:ext cx="196596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Ember Modern Display Standard"/>
              </a:rPr>
              <a:t>3  Decision model</a:t>
            </a:r>
            <a:endParaRPr sz="1200"/>
          </a:p>
        </p:txBody>
      </p:sp>
      <p:sp>
        <p:nvSpPr>
          <p:cNvPr id="276" name="Chevron 275"/>
          <p:cNvSpPr/>
          <p:nvPr/>
        </p:nvSpPr>
        <p:spPr>
          <a:xfrm>
            <a:off x="5120640" y="3118104"/>
            <a:ext cx="91440" cy="182880"/>
          </a:xfrm>
          <a:prstGeom prst="chevron">
            <a:avLst/>
          </a:prstGeom>
          <a:solidFill>
            <a:srgbClr val="9AA1AA"/>
          </a:solidFill>
          <a:ln>
            <a:noFill/>
          </a:ln>
        </p:spPr>
        <p:txBody>
          <a:bodyPr rtlCol="0" anchor="t" lIns="0" tIns="0" rIns="0" bIns="0" wrap="square"/>
          <a:lstStyle/>
          <a:p>
            <a:pPr algn="ctr"/>
          </a:p>
        </p:txBody>
      </p:sp>
      <p:sp>
        <p:nvSpPr>
          <p:cNvPr id="277" name="Stage 4 body"/>
          <p:cNvSpPr/>
          <p:nvPr/>
        </p:nvSpPr>
        <p:spPr>
          <a:xfrm>
            <a:off x="5239512" y="1892808"/>
            <a:ext cx="1051560" cy="2633472"/>
          </a:xfrm>
          <a:prstGeom prst="roundRect">
            <a:avLst>
              <a:gd name="adj" fmla="val 6956"/>
            </a:avLst>
          </a:prstGeom>
          <a:solidFill>
            <a:srgbClr val="FFFFFF"/>
          </a:solidFill>
          <a:ln w="9525">
            <a:solidFill>
              <a:srgbClr val="C9CDD3"/>
            </a:solidFill>
          </a:ln>
        </p:spPr>
        <p:txBody>
          <a:bodyPr rtlCol="0" anchor="t" lIns="109728" tIns="420624" bIns="54864" wrap="square"/>
          <a:lstStyle/>
          <a:p>
            <a:pPr algn="l"/>
            <a:r>
              <a:rPr sz="1200" b="1" i="0">
                <a:solidFill>
                  <a:srgbClr val="222222"/>
                </a:solidFill>
                <a:latin typeface="Ember Modern Display Standard"/>
              </a:rPr>
              <a:t>0.965022</a:t>
            </a:r>
            <a:endParaRPr sz="1200"/>
          </a:p>
          <a:p>
            <a:pPr algn="l">
              <a:spcAft>
                <a:spcPts val="500"/>
              </a:spcAft>
            </a:pPr>
            <a:r>
              <a:rPr sz="1200" b="1" i="0">
                <a:solidFill>
                  <a:srgbClr val="222222"/>
                </a:solidFill>
                <a:latin typeface="Ember Modern Display Standard"/>
              </a:rPr>
              <a:t>≥ 0.75</a:t>
            </a:r>
            <a:endParaRPr sz="1200"/>
          </a:p>
          <a:p>
            <a:pPr algn="l"/>
            <a:r>
              <a:rPr sz="1200" b="1" i="0">
                <a:solidFill>
                  <a:srgbClr val="222222"/>
                </a:solidFill>
                <a:latin typeface="Ember Modern Display Standard"/>
              </a:rPr>
              <a:t>lead 0.876</a:t>
            </a:r>
            <a:endParaRPr sz="1200"/>
          </a:p>
          <a:p>
            <a:pPr algn="l">
              <a:spcAft>
                <a:spcPts val="500"/>
              </a:spcAft>
            </a:pPr>
            <a:r>
              <a:rPr sz="1200" b="1" i="0">
                <a:solidFill>
                  <a:srgbClr val="222222"/>
                </a:solidFill>
                <a:latin typeface="Ember Modern Display Standard"/>
              </a:rPr>
              <a:t>≥ 0.4</a:t>
            </a:r>
            <a:endParaRPr sz="1200"/>
          </a:p>
          <a:p>
            <a:pPr algn="l">
              <a:spcAft>
                <a:spcPts val="500"/>
              </a:spcAft>
            </a:pPr>
            <a:r>
              <a:rPr sz="1200" b="1" i="0">
                <a:solidFill>
                  <a:srgbClr val="C24E00"/>
                </a:solidFill>
                <a:latin typeface="Ember Modern Display Standard"/>
              </a:rPr>
              <a:t>→ link the Inc only</a:t>
            </a:r>
            <a:endParaRPr sz="1200"/>
          </a:p>
        </p:txBody>
      </p:sp>
      <p:sp>
        <p:nvSpPr>
          <p:cNvPr id="278" name="Stage 4 header"/>
          <p:cNvSpPr/>
          <p:nvPr/>
        </p:nvSpPr>
        <p:spPr>
          <a:xfrm>
            <a:off x="5239512" y="1892808"/>
            <a:ext cx="105156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Ember Modern Display Standard"/>
              </a:rPr>
              <a:t>4  Decide</a:t>
            </a:r>
            <a:endParaRPr sz="1200"/>
          </a:p>
        </p:txBody>
      </p:sp>
      <p:sp>
        <p:nvSpPr>
          <p:cNvPr id="279" name="Chevron 278"/>
          <p:cNvSpPr/>
          <p:nvPr/>
        </p:nvSpPr>
        <p:spPr>
          <a:xfrm>
            <a:off x="6318504" y="3118104"/>
            <a:ext cx="91440" cy="182880"/>
          </a:xfrm>
          <a:prstGeom prst="chevron">
            <a:avLst/>
          </a:prstGeom>
          <a:solidFill>
            <a:srgbClr val="9AA1AA"/>
          </a:solidFill>
          <a:ln>
            <a:noFill/>
          </a:ln>
        </p:spPr>
        <p:txBody>
          <a:bodyPr rtlCol="0" anchor="t" lIns="0" tIns="0" rIns="0" bIns="0" wrap="square"/>
          <a:lstStyle/>
          <a:p>
            <a:pPr algn="ctr"/>
          </a:p>
        </p:txBody>
      </p:sp>
      <p:sp>
        <p:nvSpPr>
          <p:cNvPr id="280" name="Stage 5 body"/>
          <p:cNvSpPr/>
          <p:nvPr/>
        </p:nvSpPr>
        <p:spPr>
          <a:xfrm>
            <a:off x="6437376" y="1892808"/>
            <a:ext cx="1097280" cy="2633472"/>
          </a:xfrm>
          <a:prstGeom prst="roundRect">
            <a:avLst>
              <a:gd name="adj" fmla="val 6666"/>
            </a:avLst>
          </a:prstGeom>
          <a:solidFill>
            <a:srgbClr val="FFFFFF"/>
          </a:solidFill>
          <a:ln w="9525">
            <a:solidFill>
              <a:srgbClr val="C9CDD3"/>
            </a:solidFill>
          </a:ln>
        </p:spPr>
        <p:txBody>
          <a:bodyPr rtlCol="0" anchor="t" lIns="109728" tIns="420624" bIns="54864" wrap="square"/>
          <a:lstStyle/>
          <a:p>
            <a:pPr algn="l">
              <a:spcAft>
                <a:spcPts val="500"/>
              </a:spcAft>
            </a:pPr>
            <a:r>
              <a:rPr sz="1200" b="0" i="0">
                <a:solidFill>
                  <a:srgbClr val="222222"/>
                </a:solidFill>
                <a:latin typeface="Ember Modern Display Standard"/>
              </a:rPr>
              <a:t>Consistency check keeps the link</a:t>
            </a:r>
            <a:endParaRPr sz="1200"/>
          </a:p>
          <a:p>
            <a:pPr algn="l">
              <a:spcAft>
                <a:spcPts val="500"/>
              </a:spcAft>
            </a:pPr>
            <a:r>
              <a:rPr sz="1200" b="0" i="0">
                <a:solidFill>
                  <a:srgbClr val="222222"/>
                </a:solidFill>
                <a:latin typeface="Ember Modern Display Standard"/>
              </a:rPr>
              <a:t>Second-chance search not needed (already linked)</a:t>
            </a:r>
            <a:endParaRPr sz="1200"/>
          </a:p>
        </p:txBody>
      </p:sp>
      <p:sp>
        <p:nvSpPr>
          <p:cNvPr id="281" name="Stage 5 header"/>
          <p:cNvSpPr/>
          <p:nvPr/>
        </p:nvSpPr>
        <p:spPr>
          <a:xfrm>
            <a:off x="6437376" y="1892808"/>
            <a:ext cx="109728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Ember Modern Display Standard"/>
              </a:rPr>
              <a:t>5  Checks</a:t>
            </a:r>
            <a:endParaRPr sz="1200"/>
          </a:p>
        </p:txBody>
      </p:sp>
      <p:sp>
        <p:nvSpPr>
          <p:cNvPr id="282" name="Chevron 281"/>
          <p:cNvSpPr/>
          <p:nvPr/>
        </p:nvSpPr>
        <p:spPr>
          <a:xfrm>
            <a:off x="7562088" y="3118104"/>
            <a:ext cx="91440" cy="182880"/>
          </a:xfrm>
          <a:prstGeom prst="chevron">
            <a:avLst/>
          </a:prstGeom>
          <a:solidFill>
            <a:srgbClr val="9AA1AA"/>
          </a:solidFill>
          <a:ln>
            <a:noFill/>
          </a:ln>
        </p:spPr>
        <p:txBody>
          <a:bodyPr rtlCol="0" anchor="t" lIns="0" tIns="0" rIns="0" bIns="0" wrap="square"/>
          <a:lstStyle/>
          <a:p>
            <a:pPr algn="ctr"/>
          </a:p>
        </p:txBody>
      </p:sp>
      <p:sp>
        <p:nvSpPr>
          <p:cNvPr id="283" name="Stage 6 body"/>
          <p:cNvSpPr/>
          <p:nvPr/>
        </p:nvSpPr>
        <p:spPr>
          <a:xfrm>
            <a:off x="7680960" y="1892808"/>
            <a:ext cx="1051560" cy="2633472"/>
          </a:xfrm>
          <a:prstGeom prst="roundRect">
            <a:avLst>
              <a:gd name="adj" fmla="val 6956"/>
            </a:avLst>
          </a:prstGeom>
          <a:solidFill>
            <a:srgbClr val="FFEBDD"/>
          </a:solidFill>
          <a:ln w="22225">
            <a:solidFill>
              <a:srgbClr val="FF6200"/>
            </a:solidFill>
          </a:ln>
        </p:spPr>
        <p:txBody>
          <a:bodyPr rtlCol="0" anchor="t" lIns="109728" tIns="420624" bIns="54864" wrap="square"/>
          <a:lstStyle/>
          <a:p>
            <a:pPr algn="l"/>
            <a:r>
              <a:rPr sz="1200" b="1" i="0">
                <a:solidFill>
                  <a:srgbClr val="222222"/>
                </a:solidFill>
                <a:latin typeface="Ember Modern Display Standard"/>
              </a:rPr>
              <a:t>Linked</a:t>
            </a:r>
            <a:endParaRPr sz="1200"/>
          </a:p>
          <a:p>
            <a:pPr algn="l">
              <a:spcAft>
                <a:spcPts val="500"/>
              </a:spcAft>
            </a:pPr>
            <a:r>
              <a:rPr sz="1200" b="0" i="0">
                <a:solidFill>
                  <a:srgbClr val="222222"/>
                </a:solidFill>
                <a:latin typeface="Ember Modern Display Standard"/>
              </a:rPr>
              <a:t>Legacy Marketing Enterprises Inc, Windsor, CT</a:t>
            </a:r>
            <a:endParaRPr sz="1200"/>
          </a:p>
        </p:txBody>
      </p:sp>
      <p:sp>
        <p:nvSpPr>
          <p:cNvPr id="284" name="Stage 6 header"/>
          <p:cNvSpPr/>
          <p:nvPr/>
        </p:nvSpPr>
        <p:spPr>
          <a:xfrm>
            <a:off x="7680960" y="1892808"/>
            <a:ext cx="1051560" cy="329184"/>
          </a:xfrm>
          <a:prstGeom prst="round2SameRect">
            <a:avLst>
              <a:gd name="adj1" fmla="val 22222"/>
              <a:gd name="adj2" fmla="val 0"/>
            </a:avLst>
          </a:prstGeom>
          <a:solidFill>
            <a:srgbClr val="FF6200"/>
          </a:solidFill>
          <a:ln>
            <a:noFill/>
          </a:ln>
        </p:spPr>
        <p:txBody>
          <a:bodyPr rtlCol="0" anchor="ctr" lIns="109728" tIns="0" rIns="73152" bIns="0" wrap="square"/>
          <a:lstStyle/>
          <a:p>
            <a:pPr algn="l"/>
            <a:r>
              <a:rPr sz="1200" b="1" i="0">
                <a:solidFill>
                  <a:srgbClr val="FFFFFF"/>
                </a:solidFill>
                <a:latin typeface="Ember Modern Display Standard"/>
              </a:rPr>
              <a:t>6  Output</a:t>
            </a:r>
            <a:endParaRPr sz="12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India Example in</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Detail</a:t>
            </a:r>
            <a:br>
              <a:rPr lang="en" sz="1100" dirty="0">
                <a:solidFill>
                  <a:srgbClr val="222222"/>
                </a:solidFill>
                <a:highlight>
                  <a:srgbClr val="FFFFFF"/>
                </a:highlight>
                <a:latin typeface="Ember Modern Display Standard" panose="020B0503020204020204" pitchFamily="34" charset="0"/>
                <a:ea typeface="Special Gothic"/>
                <a:cs typeface="Special Gothic"/>
                <a:sym typeface="Special Gothic"/>
              </a:rPr>
            </a:br>
            <a:br>
              <a:rPr lang="en" sz="1100" dirty="0">
                <a:solidFill>
                  <a:schemeClr val="accent2"/>
                </a:solidFill>
                <a:highlight>
                  <a:srgbClr val="FFFFFF"/>
                </a:highlight>
                <a:latin typeface="Ember Modern Display Standard" panose="020B0503020204020204" pitchFamily="34" charset="0"/>
                <a:ea typeface="Special Gothic"/>
                <a:cs typeface="Special Gothic"/>
                <a:sym typeface="Special Gothic"/>
              </a:rPr>
            </a:br>
            <a:r>
              <a:rPr lang="en" sz="1400" dirty="0">
                <a:solidFill>
                  <a:schemeClr val="accent2"/>
                </a:solidFill>
                <a:latin typeface="Ember Modern Display Standard" panose="020B0503020204020204" pitchFamily="34" charset="0"/>
              </a:rPr>
              <a:t>Backup  ·  A Devanagari name the Latin index could not place</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Record banner"/>
          <p:cNvSpPr/>
          <p:nvPr/>
        </p:nvSpPr>
        <p:spPr>
          <a:xfrm>
            <a:off x="411480" y="1261872"/>
            <a:ext cx="8321040" cy="530352"/>
          </a:xfrm>
          <a:prstGeom prst="roundRect">
            <a:avLst>
              <a:gd name="adj" fmla="val 13793"/>
            </a:avLst>
          </a:prstGeom>
          <a:solidFill>
            <a:srgbClr val="EEEEEE"/>
          </a:solidFill>
          <a:ln>
            <a:noFill/>
          </a:ln>
        </p:spPr>
        <p:txBody>
          <a:bodyPr rtlCol="0" anchor="ctr" lIns="146304" tIns="18288" rIns="109728" bIns="18288" wrap="square"/>
          <a:lstStyle/>
          <a:p>
            <a:pPr algn="l"/>
            <a:r>
              <a:rPr sz="1400" b="1" i="0">
                <a:solidFill>
                  <a:srgbClr val="222222"/>
                </a:solidFill>
                <a:latin typeface="Nirmala UI"/>
                <a:ea typeface="Nirmala UI"/>
                <a:cs typeface="Nirmala UI"/>
              </a:rPr>
              <a:t>विजय एंटरप्राइजेज प्राइवेट लिमिटेड</a:t>
            </a:r>
            <a:r>
              <a:rPr sz="1400" b="0" i="0">
                <a:solidFill>
                  <a:srgbClr val="222222"/>
                </a:solidFill>
                <a:latin typeface="Ember Modern Display Standard"/>
              </a:rPr>
              <a:t>   ·   24/11, Mumbai, </a:t>
            </a:r>
            <a:r>
              <a:rPr sz="1400" b="0" i="0">
                <a:solidFill>
                  <a:srgbClr val="222222"/>
                </a:solidFill>
                <a:latin typeface="Nirmala UI"/>
                <a:ea typeface="Nirmala UI"/>
                <a:cs typeface="Nirmala UI"/>
              </a:rPr>
              <a:t>महाराष्ट्र</a:t>
            </a:r>
            <a:endParaRPr sz="1400"/>
          </a:p>
          <a:p>
            <a:pPr algn="l"/>
            <a:r>
              <a:rPr sz="1200" b="0" i="0">
                <a:solidFill>
                  <a:srgbClr val="5A6270"/>
                </a:solidFill>
                <a:latin typeface="Ember Modern Display Standard"/>
              </a:rPr>
              <a:t>India. Latin reading: Vijay Enterprises Private Limited · 24/11, Mumbai, Maharashtra</a:t>
            </a:r>
            <a:endParaRPr sz="1200"/>
          </a:p>
        </p:txBody>
      </p:sp>
      <p:sp>
        <p:nvSpPr>
          <p:cNvPr id="268" name="Stage 1 body"/>
          <p:cNvSpPr/>
          <p:nvPr/>
        </p:nvSpPr>
        <p:spPr>
          <a:xfrm>
            <a:off x="411480" y="1892808"/>
            <a:ext cx="1280160" cy="2633472"/>
          </a:xfrm>
          <a:prstGeom prst="roundRect">
            <a:avLst>
              <a:gd name="adj" fmla="val 5714"/>
            </a:avLst>
          </a:prstGeom>
          <a:solidFill>
            <a:srgbClr val="FFFFFF"/>
          </a:solidFill>
          <a:ln w="9525">
            <a:solidFill>
              <a:srgbClr val="C9CDD3"/>
            </a:solidFill>
          </a:ln>
        </p:spPr>
        <p:txBody>
          <a:bodyPr rtlCol="0" anchor="t" lIns="109728" tIns="420624" bIns="54864" wrap="square"/>
          <a:lstStyle/>
          <a:p>
            <a:pPr algn="l">
              <a:spcAft>
                <a:spcPts val="500"/>
              </a:spcAft>
            </a:pPr>
            <a:r>
              <a:rPr sz="1200" b="1" i="0">
                <a:solidFill>
                  <a:srgbClr val="222222"/>
                </a:solidFill>
                <a:latin typeface="Ember Modern Display Standard"/>
              </a:rPr>
              <a:t>3 ×</a:t>
            </a:r>
            <a:r>
              <a:rPr sz="1200" b="0" i="0">
                <a:solidFill>
                  <a:srgbClr val="222222"/>
                </a:solidFill>
                <a:latin typeface="Ember Modern Display Standard"/>
              </a:rPr>
              <a:t> “Vijay Enterprises Private Limited”</a:t>
            </a:r>
            <a:endParaRPr sz="1200"/>
          </a:p>
          <a:p>
            <a:pPr algn="l">
              <a:spcAft>
                <a:spcPts val="500"/>
              </a:spcAft>
            </a:pPr>
            <a:r>
              <a:rPr sz="1200" b="0" i="0">
                <a:solidFill>
                  <a:srgbClr val="222222"/>
                </a:solidFill>
                <a:latin typeface="Ember Modern Display Standard"/>
              </a:rPr>
              <a:t>Agra (UP), Satara, Byculla</a:t>
            </a:r>
            <a:endParaRPr sz="1200"/>
          </a:p>
          <a:p>
            <a:pPr algn="l">
              <a:spcAft>
                <a:spcPts val="500"/>
              </a:spcAft>
            </a:pPr>
            <a:r>
              <a:rPr sz="1200" b="0" i="0">
                <a:solidFill>
                  <a:srgbClr val="222222"/>
                </a:solidFill>
                <a:latin typeface="Ember Modern Display Standard"/>
              </a:rPr>
              <a:t>Ranker top probability 0.0028</a:t>
            </a:r>
            <a:endParaRPr sz="1200"/>
          </a:p>
        </p:txBody>
      </p:sp>
      <p:sp>
        <p:nvSpPr>
          <p:cNvPr id="269" name="Stage 1 header"/>
          <p:cNvSpPr/>
          <p:nvPr/>
        </p:nvSpPr>
        <p:spPr>
          <a:xfrm>
            <a:off x="411480" y="1892808"/>
            <a:ext cx="128016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Ember Modern Display Standard"/>
              </a:rPr>
              <a:t>1  Shortlist</a:t>
            </a:r>
            <a:endParaRPr sz="1200"/>
          </a:p>
        </p:txBody>
      </p:sp>
      <p:sp>
        <p:nvSpPr>
          <p:cNvPr id="270" name="Chevron 269"/>
          <p:cNvSpPr/>
          <p:nvPr/>
        </p:nvSpPr>
        <p:spPr>
          <a:xfrm>
            <a:off x="1719072" y="3118104"/>
            <a:ext cx="91440" cy="182880"/>
          </a:xfrm>
          <a:prstGeom prst="chevron">
            <a:avLst/>
          </a:prstGeom>
          <a:solidFill>
            <a:srgbClr val="9AA1AA"/>
          </a:solidFill>
          <a:ln>
            <a:noFill/>
          </a:ln>
        </p:spPr>
        <p:txBody>
          <a:bodyPr rtlCol="0" anchor="t" lIns="0" tIns="0" rIns="0" bIns="0" wrap="square"/>
          <a:lstStyle/>
          <a:p>
            <a:pPr algn="ctr"/>
          </a:p>
        </p:txBody>
      </p:sp>
      <p:sp>
        <p:nvSpPr>
          <p:cNvPr id="271" name="Stage 2 body"/>
          <p:cNvSpPr/>
          <p:nvPr/>
        </p:nvSpPr>
        <p:spPr>
          <a:xfrm>
            <a:off x="1837944" y="1892808"/>
            <a:ext cx="1005840" cy="2633472"/>
          </a:xfrm>
          <a:prstGeom prst="roundRect">
            <a:avLst>
              <a:gd name="adj" fmla="val 7272"/>
            </a:avLst>
          </a:prstGeom>
          <a:solidFill>
            <a:srgbClr val="FFFFFF"/>
          </a:solidFill>
          <a:ln w="9525">
            <a:solidFill>
              <a:srgbClr val="C9CDD3"/>
            </a:solidFill>
          </a:ln>
        </p:spPr>
        <p:txBody>
          <a:bodyPr rtlCol="0" anchor="t" lIns="109728" tIns="420624" bIns="54864" wrap="square"/>
          <a:lstStyle/>
          <a:p>
            <a:pPr algn="l"/>
            <a:r>
              <a:rPr sz="1200" b="0" i="0">
                <a:solidFill>
                  <a:srgbClr val="222222"/>
                </a:solidFill>
                <a:latin typeface="Ember Modern Display Standard"/>
              </a:rPr>
              <a:t>Agra</a:t>
            </a:r>
            <a:endParaRPr sz="1200"/>
          </a:p>
          <a:p>
            <a:pPr algn="l">
              <a:spcAft>
                <a:spcPts val="500"/>
              </a:spcAft>
            </a:pPr>
            <a:r>
              <a:rPr sz="1200" b="1" i="0">
                <a:solidFill>
                  <a:srgbClr val="222222"/>
                </a:solidFill>
                <a:latin typeface="Ember Modern Display Standard"/>
              </a:rPr>
              <a:t>1.9e-6</a:t>
            </a:r>
            <a:endParaRPr sz="1200"/>
          </a:p>
          <a:p>
            <a:pPr algn="l"/>
            <a:r>
              <a:rPr sz="1200" b="0" i="0">
                <a:solidFill>
                  <a:srgbClr val="222222"/>
                </a:solidFill>
                <a:latin typeface="Ember Modern Display Standard"/>
              </a:rPr>
              <a:t>Satara</a:t>
            </a:r>
            <a:endParaRPr sz="1200"/>
          </a:p>
          <a:p>
            <a:pPr algn="l">
              <a:spcAft>
                <a:spcPts val="500"/>
              </a:spcAft>
            </a:pPr>
            <a:r>
              <a:rPr sz="1200" b="1" i="0">
                <a:solidFill>
                  <a:srgbClr val="222222"/>
                </a:solidFill>
                <a:latin typeface="Ember Modern Display Standard"/>
              </a:rPr>
              <a:t>6.9e-6</a:t>
            </a:r>
            <a:endParaRPr sz="1200"/>
          </a:p>
          <a:p>
            <a:pPr algn="l"/>
            <a:r>
              <a:rPr sz="1200" b="0" i="0">
                <a:solidFill>
                  <a:srgbClr val="222222"/>
                </a:solidFill>
                <a:latin typeface="Ember Modern Display Standard"/>
              </a:rPr>
              <a:t>Byculla</a:t>
            </a:r>
            <a:endParaRPr sz="1200"/>
          </a:p>
          <a:p>
            <a:pPr algn="l">
              <a:spcAft>
                <a:spcPts val="500"/>
              </a:spcAft>
            </a:pPr>
            <a:r>
              <a:rPr sz="1200" b="1" i="0">
                <a:solidFill>
                  <a:srgbClr val="222222"/>
                </a:solidFill>
                <a:latin typeface="Ember Modern Display Standard"/>
              </a:rPr>
              <a:t>7.2e-6</a:t>
            </a:r>
            <a:endParaRPr sz="1200"/>
          </a:p>
        </p:txBody>
      </p:sp>
      <p:sp>
        <p:nvSpPr>
          <p:cNvPr id="272" name="Stage 2 header"/>
          <p:cNvSpPr/>
          <p:nvPr/>
        </p:nvSpPr>
        <p:spPr>
          <a:xfrm>
            <a:off x="1837944" y="1892808"/>
            <a:ext cx="100584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Ember Modern Display Standard"/>
              </a:rPr>
              <a:t>2  Model</a:t>
            </a:r>
            <a:endParaRPr sz="1200"/>
          </a:p>
        </p:txBody>
      </p:sp>
      <p:sp>
        <p:nvSpPr>
          <p:cNvPr id="273" name="Chevron 272"/>
          <p:cNvSpPr/>
          <p:nvPr/>
        </p:nvSpPr>
        <p:spPr>
          <a:xfrm>
            <a:off x="2871216" y="3118104"/>
            <a:ext cx="91440" cy="182880"/>
          </a:xfrm>
          <a:prstGeom prst="chevron">
            <a:avLst/>
          </a:prstGeom>
          <a:solidFill>
            <a:srgbClr val="9AA1AA"/>
          </a:solidFill>
          <a:ln>
            <a:noFill/>
          </a:ln>
        </p:spPr>
        <p:txBody>
          <a:bodyPr rtlCol="0" anchor="t" lIns="0" tIns="0" rIns="0" bIns="0" wrap="square"/>
          <a:lstStyle/>
          <a:p>
            <a:pPr algn="ctr"/>
          </a:p>
        </p:txBody>
      </p:sp>
      <p:sp>
        <p:nvSpPr>
          <p:cNvPr id="274" name="Stage 3 body"/>
          <p:cNvSpPr/>
          <p:nvPr/>
        </p:nvSpPr>
        <p:spPr>
          <a:xfrm>
            <a:off x="2990088" y="1892808"/>
            <a:ext cx="1005840" cy="2633472"/>
          </a:xfrm>
          <a:prstGeom prst="roundRect">
            <a:avLst>
              <a:gd name="adj" fmla="val 7272"/>
            </a:avLst>
          </a:prstGeom>
          <a:solidFill>
            <a:srgbClr val="FFFFFF"/>
          </a:solidFill>
          <a:ln w="9525">
            <a:solidFill>
              <a:srgbClr val="C9CDD3"/>
            </a:solidFill>
          </a:ln>
        </p:spPr>
        <p:txBody>
          <a:bodyPr rtlCol="0" anchor="t" lIns="109728" tIns="420624" bIns="54864" wrap="square"/>
          <a:lstStyle/>
          <a:p>
            <a:pPr algn="l">
              <a:spcAft>
                <a:spcPts val="500"/>
              </a:spcAft>
            </a:pPr>
            <a:r>
              <a:rPr sz="1200" b="1" i="0">
                <a:solidFill>
                  <a:srgbClr val="222222"/>
                </a:solidFill>
                <a:latin typeface="Ember Modern Display Standard"/>
              </a:rPr>
              <a:t>All below 0.75</a:t>
            </a:r>
            <a:endParaRPr sz="1200"/>
          </a:p>
          <a:p>
            <a:pPr algn="l">
              <a:spcAft>
                <a:spcPts val="500"/>
              </a:spcAft>
            </a:pPr>
            <a:r>
              <a:rPr sz="1200" b="0" i="0">
                <a:solidFill>
                  <a:srgbClr val="222222"/>
                </a:solidFill>
                <a:latin typeface="Ember Modern Display Standard"/>
              </a:rPr>
              <a:t>→ unlinked</a:t>
            </a:r>
            <a:endParaRPr sz="1200"/>
          </a:p>
          <a:p>
            <a:pPr algn="l">
              <a:spcAft>
                <a:spcPts val="500"/>
              </a:spcAft>
            </a:pPr>
            <a:r>
              <a:rPr sz="1200" b="1" i="0">
                <a:solidFill>
                  <a:srgbClr val="C24E00"/>
                </a:solidFill>
                <a:latin typeface="Ember Modern Display Standard"/>
              </a:rPr>
              <a:t>goes to the second-chance search</a:t>
            </a:r>
            <a:endParaRPr sz="1200"/>
          </a:p>
        </p:txBody>
      </p:sp>
      <p:sp>
        <p:nvSpPr>
          <p:cNvPr id="275" name="Stage 3 header"/>
          <p:cNvSpPr/>
          <p:nvPr/>
        </p:nvSpPr>
        <p:spPr>
          <a:xfrm>
            <a:off x="2990088" y="1892808"/>
            <a:ext cx="1005840" cy="329184"/>
          </a:xfrm>
          <a:prstGeom prst="round2SameRect">
            <a:avLst>
              <a:gd name="adj1" fmla="val 22222"/>
              <a:gd name="adj2" fmla="val 0"/>
            </a:avLst>
          </a:prstGeom>
          <a:solidFill>
            <a:srgbClr val="293440"/>
          </a:solidFill>
          <a:ln>
            <a:noFill/>
          </a:ln>
        </p:spPr>
        <p:txBody>
          <a:bodyPr rtlCol="0" anchor="ctr" lIns="109728" tIns="0" rIns="73152" bIns="0" wrap="square"/>
          <a:lstStyle/>
          <a:p>
            <a:pPr algn="l"/>
            <a:r>
              <a:rPr sz="1200" b="1" i="0">
                <a:solidFill>
                  <a:srgbClr val="FFFFFF"/>
                </a:solidFill>
                <a:latin typeface="Ember Modern Display Standard"/>
              </a:rPr>
              <a:t>3  Decide</a:t>
            </a:r>
            <a:endParaRPr sz="1200"/>
          </a:p>
        </p:txBody>
      </p:sp>
      <p:sp>
        <p:nvSpPr>
          <p:cNvPr id="276" name="Chevron 275"/>
          <p:cNvSpPr/>
          <p:nvPr/>
        </p:nvSpPr>
        <p:spPr>
          <a:xfrm>
            <a:off x="4023360" y="3118104"/>
            <a:ext cx="91440" cy="182880"/>
          </a:xfrm>
          <a:prstGeom prst="chevron">
            <a:avLst/>
          </a:prstGeom>
          <a:solidFill>
            <a:srgbClr val="FF6200"/>
          </a:solidFill>
          <a:ln>
            <a:noFill/>
          </a:ln>
        </p:spPr>
        <p:txBody>
          <a:bodyPr rtlCol="0" anchor="t" lIns="0" tIns="0" rIns="0" bIns="0" wrap="square"/>
          <a:lstStyle/>
          <a:p>
            <a:pPr algn="ctr"/>
          </a:p>
        </p:txBody>
      </p:sp>
      <p:sp>
        <p:nvSpPr>
          <p:cNvPr id="277" name="Stage 4 body"/>
          <p:cNvSpPr/>
          <p:nvPr/>
        </p:nvSpPr>
        <p:spPr>
          <a:xfrm>
            <a:off x="4142232" y="1892808"/>
            <a:ext cx="1417320" cy="2633472"/>
          </a:xfrm>
          <a:prstGeom prst="roundRect">
            <a:avLst>
              <a:gd name="adj" fmla="val 5161"/>
            </a:avLst>
          </a:prstGeom>
          <a:solidFill>
            <a:srgbClr val="FFFFFF"/>
          </a:solidFill>
          <a:ln w="22225">
            <a:solidFill>
              <a:srgbClr val="FF6200"/>
            </a:solidFill>
          </a:ln>
        </p:spPr>
        <p:txBody>
          <a:bodyPr rtlCol="0" anchor="t" lIns="109728" tIns="420624" bIns="54864" wrap="square"/>
          <a:lstStyle/>
          <a:p>
            <a:pPr algn="l">
              <a:spcAft>
                <a:spcPts val="200"/>
              </a:spcAft>
            </a:pPr>
            <a:r>
              <a:rPr sz="1200" b="0" i="0">
                <a:solidFill>
                  <a:srgbClr val="222222"/>
                </a:solidFill>
                <a:latin typeface="Ember Modern Display Standard"/>
              </a:rPr>
              <a:t>Word list from training matches:</a:t>
            </a:r>
            <a:endParaRPr sz="1200"/>
          </a:p>
          <a:p>
            <a:pPr algn="l"/>
            <a:r>
              <a:rPr sz="1200" b="0" i="0">
                <a:solidFill>
                  <a:srgbClr val="222222"/>
                </a:solidFill>
                <a:latin typeface="Nirmala UI"/>
                <a:ea typeface="Nirmala UI"/>
                <a:cs typeface="Nirmala UI"/>
              </a:rPr>
              <a:t>विजय</a:t>
            </a:r>
            <a:r>
              <a:rPr sz="1200" b="0" i="0">
                <a:solidFill>
                  <a:srgbClr val="222222"/>
                </a:solidFill>
                <a:latin typeface="Ember Modern Display Standard"/>
              </a:rPr>
              <a:t> → vijay</a:t>
            </a:r>
            <a:endParaRPr sz="1200"/>
          </a:p>
          <a:p>
            <a:pPr algn="l">
              <a:spcAft>
                <a:spcPts val="200"/>
              </a:spcAft>
            </a:pPr>
            <a:r>
              <a:rPr sz="1200" b="0" i="0">
                <a:solidFill>
                  <a:srgbClr val="222222"/>
                </a:solidFill>
                <a:latin typeface="Nirmala UI"/>
                <a:ea typeface="Nirmala UI"/>
                <a:cs typeface="Nirmala UI"/>
              </a:rPr>
              <a:t>एंटरप्राइजेज</a:t>
            </a:r>
            <a:r>
              <a:rPr sz="1200" b="0" i="0">
                <a:solidFill>
                  <a:srgbClr val="222222"/>
                </a:solidFill>
                <a:latin typeface="Ember Modern Display Standard"/>
              </a:rPr>
              <a:t> → enterprises</a:t>
            </a:r>
            <a:endParaRPr sz="1200"/>
          </a:p>
          <a:p>
            <a:pPr algn="l">
              <a:spcAft>
                <a:spcPts val="500"/>
              </a:spcAft>
            </a:pPr>
            <a:r>
              <a:rPr sz="1200" b="0" i="0">
                <a:solidFill>
                  <a:srgbClr val="222222"/>
                </a:solidFill>
                <a:latin typeface="Ember Modern Display Standard"/>
              </a:rPr>
              <a:t>Legal words dropped</a:t>
            </a:r>
            <a:endParaRPr sz="1200"/>
          </a:p>
          <a:p>
            <a:pPr algn="l">
              <a:spcAft>
                <a:spcPts val="500"/>
              </a:spcAft>
            </a:pPr>
            <a:r>
              <a:rPr sz="1200" b="1" i="0">
                <a:solidFill>
                  <a:srgbClr val="222222"/>
                </a:solidFill>
                <a:latin typeface="Ember Modern Display Standard"/>
              </a:rPr>
              <a:t>vijay enterprises, Maharashtra</a:t>
            </a:r>
            <a:endParaRPr sz="1200"/>
          </a:p>
        </p:txBody>
      </p:sp>
      <p:sp>
        <p:nvSpPr>
          <p:cNvPr id="278" name="Stage 4 header"/>
          <p:cNvSpPr/>
          <p:nvPr/>
        </p:nvSpPr>
        <p:spPr>
          <a:xfrm>
            <a:off x="4142232" y="1892808"/>
            <a:ext cx="141732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Ember Modern Display Standard"/>
              </a:rPr>
              <a:t>4  Search key</a:t>
            </a:r>
            <a:endParaRPr sz="1200"/>
          </a:p>
        </p:txBody>
      </p:sp>
      <p:sp>
        <p:nvSpPr>
          <p:cNvPr id="279" name="Chevron 278"/>
          <p:cNvSpPr/>
          <p:nvPr/>
        </p:nvSpPr>
        <p:spPr>
          <a:xfrm>
            <a:off x="5586984" y="3118104"/>
            <a:ext cx="91440" cy="182880"/>
          </a:xfrm>
          <a:prstGeom prst="chevron">
            <a:avLst/>
          </a:prstGeom>
          <a:solidFill>
            <a:srgbClr val="FF6200"/>
          </a:solidFill>
          <a:ln>
            <a:noFill/>
          </a:ln>
        </p:spPr>
        <p:txBody>
          <a:bodyPr rtlCol="0" anchor="t" lIns="0" tIns="0" rIns="0" bIns="0" wrap="square"/>
          <a:lstStyle/>
          <a:p>
            <a:pPr algn="ctr"/>
          </a:p>
        </p:txBody>
      </p:sp>
      <p:sp>
        <p:nvSpPr>
          <p:cNvPr id="280" name="Stage 5 body"/>
          <p:cNvSpPr/>
          <p:nvPr/>
        </p:nvSpPr>
        <p:spPr>
          <a:xfrm>
            <a:off x="5705856" y="1892808"/>
            <a:ext cx="1737360" cy="2633472"/>
          </a:xfrm>
          <a:prstGeom prst="roundRect">
            <a:avLst>
              <a:gd name="adj" fmla="val 4210"/>
            </a:avLst>
          </a:prstGeom>
          <a:solidFill>
            <a:srgbClr val="FFFFFF"/>
          </a:solidFill>
          <a:ln w="22225">
            <a:solidFill>
              <a:srgbClr val="FF6200"/>
            </a:solidFill>
          </a:ln>
        </p:spPr>
        <p:txBody>
          <a:bodyPr rtlCol="0" anchor="t" lIns="109728" tIns="420624" bIns="54864" wrap="square"/>
          <a:lstStyle/>
          <a:p>
            <a:pPr algn="l">
              <a:spcAft>
                <a:spcPts val="500"/>
              </a:spcAft>
            </a:pPr>
            <a:r>
              <a:rPr sz="1200" b="0" i="0">
                <a:solidFill>
                  <a:srgbClr val="222222"/>
                </a:solidFill>
                <a:latin typeface="Ember Modern Display Standard"/>
              </a:rPr>
              <a:t>10 businesses with that name in Maharashtra → top 5</a:t>
            </a:r>
            <a:endParaRPr sz="1200"/>
          </a:p>
          <a:p>
            <a:pPr algn="l">
              <a:spcAft>
                <a:spcPts val="500"/>
              </a:spcAft>
            </a:pPr>
            <a:r>
              <a:rPr sz="1200" b="0" i="0">
                <a:solidFill>
                  <a:srgbClr val="222222"/>
                </a:solidFill>
                <a:latin typeface="Ember Modern Display Standard"/>
              </a:rPr>
              <a:t>Ghatkopar, house no. 24/11: </a:t>
            </a:r>
            <a:r>
              <a:rPr sz="1200" b="1" i="0">
                <a:solidFill>
                  <a:srgbClr val="C24E00"/>
                </a:solidFill>
                <a:latin typeface="Ember Modern Display Standard"/>
              </a:rPr>
              <a:t>0.99994</a:t>
            </a:r>
            <a:endParaRPr sz="1200"/>
          </a:p>
          <a:p>
            <a:pPr algn="l">
              <a:spcAft>
                <a:spcPts val="500"/>
              </a:spcAft>
            </a:pPr>
            <a:r>
              <a:rPr sz="1200" b="0" i="0">
                <a:solidFill>
                  <a:srgbClr val="222222"/>
                </a:solidFill>
                <a:latin typeface="Ember Modern Display Standard"/>
              </a:rPr>
              <a:t>Next (Bhandup West): 0.0000191</a:t>
            </a:r>
            <a:endParaRPr sz="1200"/>
          </a:p>
        </p:txBody>
      </p:sp>
      <p:sp>
        <p:nvSpPr>
          <p:cNvPr id="281" name="Stage 5 header"/>
          <p:cNvSpPr/>
          <p:nvPr/>
        </p:nvSpPr>
        <p:spPr>
          <a:xfrm>
            <a:off x="5705856" y="1892808"/>
            <a:ext cx="173736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Ember Modern Display Standard"/>
              </a:rPr>
              <a:t>5  Second-chance model</a:t>
            </a:r>
            <a:endParaRPr sz="1200"/>
          </a:p>
        </p:txBody>
      </p:sp>
      <p:sp>
        <p:nvSpPr>
          <p:cNvPr id="282" name="Chevron 281"/>
          <p:cNvSpPr/>
          <p:nvPr/>
        </p:nvSpPr>
        <p:spPr>
          <a:xfrm>
            <a:off x="7470648" y="3118104"/>
            <a:ext cx="91440" cy="182880"/>
          </a:xfrm>
          <a:prstGeom prst="chevron">
            <a:avLst/>
          </a:prstGeom>
          <a:solidFill>
            <a:srgbClr val="FF6200"/>
          </a:solidFill>
          <a:ln>
            <a:noFill/>
          </a:ln>
        </p:spPr>
        <p:txBody>
          <a:bodyPr rtlCol="0" anchor="t" lIns="0" tIns="0" rIns="0" bIns="0" wrap="square"/>
          <a:lstStyle/>
          <a:p>
            <a:pPr algn="ctr"/>
          </a:p>
        </p:txBody>
      </p:sp>
      <p:sp>
        <p:nvSpPr>
          <p:cNvPr id="283" name="Stage 6 body"/>
          <p:cNvSpPr/>
          <p:nvPr/>
        </p:nvSpPr>
        <p:spPr>
          <a:xfrm>
            <a:off x="7589520" y="1892808"/>
            <a:ext cx="1143000" cy="2633472"/>
          </a:xfrm>
          <a:prstGeom prst="roundRect">
            <a:avLst>
              <a:gd name="adj" fmla="val 6400"/>
            </a:avLst>
          </a:prstGeom>
          <a:solidFill>
            <a:srgbClr val="FFEBDD"/>
          </a:solidFill>
          <a:ln w="22225">
            <a:solidFill>
              <a:srgbClr val="FF6200"/>
            </a:solidFill>
          </a:ln>
        </p:spPr>
        <p:txBody>
          <a:bodyPr rtlCol="0" anchor="t" lIns="109728" tIns="420624" bIns="54864" wrap="square"/>
          <a:lstStyle/>
          <a:p>
            <a:pPr algn="l"/>
            <a:r>
              <a:rPr sz="1200" b="1" i="0">
                <a:solidFill>
                  <a:srgbClr val="222222"/>
                </a:solidFill>
                <a:latin typeface="Ember Modern Display Standard"/>
              </a:rPr>
              <a:t>0.99994</a:t>
            </a:r>
            <a:endParaRPr sz="1200"/>
          </a:p>
          <a:p>
            <a:pPr algn="l">
              <a:spcAft>
                <a:spcPts val="500"/>
              </a:spcAft>
            </a:pPr>
            <a:r>
              <a:rPr sz="1200" b="1" i="0">
                <a:solidFill>
                  <a:srgbClr val="222222"/>
                </a:solidFill>
                <a:latin typeface="Ember Modern Display Standard"/>
              </a:rPr>
              <a:t>≥ 0.88</a:t>
            </a:r>
            <a:endParaRPr sz="1200"/>
          </a:p>
          <a:p>
            <a:pPr algn="l"/>
            <a:r>
              <a:rPr sz="1200" b="1" i="0">
                <a:solidFill>
                  <a:srgbClr val="222222"/>
                </a:solidFill>
                <a:latin typeface="Ember Modern Display Standard"/>
              </a:rPr>
              <a:t>lead 0.99992</a:t>
            </a:r>
            <a:endParaRPr sz="1200"/>
          </a:p>
          <a:p>
            <a:pPr algn="l">
              <a:spcAft>
                <a:spcPts val="500"/>
              </a:spcAft>
            </a:pPr>
            <a:r>
              <a:rPr sz="1200" b="1" i="0">
                <a:solidFill>
                  <a:srgbClr val="222222"/>
                </a:solidFill>
                <a:latin typeface="Ember Modern Display Standard"/>
              </a:rPr>
              <a:t>≥ 0.3</a:t>
            </a:r>
            <a:endParaRPr sz="1200"/>
          </a:p>
          <a:p>
            <a:pPr algn="l">
              <a:spcAft>
                <a:spcPts val="500"/>
              </a:spcAft>
            </a:pPr>
            <a:r>
              <a:rPr sz="1200" b="1" i="0">
                <a:solidFill>
                  <a:srgbClr val="C24E00"/>
                </a:solidFill>
                <a:latin typeface="Ember Modern Display Standard"/>
              </a:rPr>
              <a:t>→ link added</a:t>
            </a:r>
            <a:endParaRPr sz="1200"/>
          </a:p>
        </p:txBody>
      </p:sp>
      <p:sp>
        <p:nvSpPr>
          <p:cNvPr id="284" name="Stage 6 header"/>
          <p:cNvSpPr/>
          <p:nvPr/>
        </p:nvSpPr>
        <p:spPr>
          <a:xfrm>
            <a:off x="7589520" y="1892808"/>
            <a:ext cx="1143000" cy="329184"/>
          </a:xfrm>
          <a:prstGeom prst="round2SameRect">
            <a:avLst>
              <a:gd name="adj1" fmla="val 22222"/>
              <a:gd name="adj2" fmla="val 0"/>
            </a:avLst>
          </a:prstGeom>
          <a:solidFill>
            <a:srgbClr val="FF6200"/>
          </a:solidFill>
          <a:ln>
            <a:noFill/>
          </a:ln>
        </p:spPr>
        <p:txBody>
          <a:bodyPr rtlCol="0" anchor="ctr" lIns="109728" tIns="0" rIns="73152" bIns="0" wrap="square"/>
          <a:lstStyle/>
          <a:p>
            <a:pPr algn="l"/>
            <a:r>
              <a:rPr sz="1200" b="1" i="0">
                <a:solidFill>
                  <a:srgbClr val="FFFFFF"/>
                </a:solidFill>
                <a:latin typeface="Ember Modern Display Standard"/>
              </a:rPr>
              <a:t>6  Output</a:t>
            </a:r>
            <a:endParaRPr sz="12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Ember Modern Display Standard" panose="020B0503020204020204" pitchFamily="34" charset="0"/>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Ember Modern Display Standard" panose="020B0503020204020204" pitchFamily="34" charset="0"/>
                <a:ea typeface="Special Gothic"/>
                <a:cs typeface="Special Gothic"/>
                <a:sym typeface="Special Gothic"/>
              </a:rPr>
              <a:t>France Example in</a:t>
            </a:r>
            <a:r>
              <a:rPr lang="en" sz="3000" b="1" dirty="0">
                <a:solidFill>
                  <a:schemeClr val="dk1"/>
                </a:solidFill>
                <a:latin typeface="Ember Modern Display Standard" panose="020B0503020204020204" pitchFamily="34" charset="0"/>
                <a:ea typeface="Special Gothic"/>
                <a:cs typeface="Special Gothic"/>
                <a:sym typeface="Special Gothic"/>
              </a:rPr>
              <a:t> </a:t>
            </a:r>
            <a:r>
              <a:rPr lang="en" sz="3000" b="1" dirty="0">
                <a:solidFill>
                  <a:srgbClr val="FF6200"/>
                </a:solidFill>
                <a:latin typeface="Ember Modern Display Standard" panose="020B0503020204020204" pitchFamily="34" charset="0"/>
                <a:ea typeface="Special Gothic"/>
                <a:cs typeface="Special Gothic"/>
                <a:sym typeface="Special Gothic"/>
              </a:rPr>
              <a:t>Detail</a:t>
            </a:r>
            <a:br>
              <a:rPr lang="en" sz="1100" dirty="0">
                <a:solidFill>
                  <a:srgbClr val="222222"/>
                </a:solidFill>
                <a:highlight>
                  <a:srgbClr val="FFFFFF"/>
                </a:highlight>
                <a:latin typeface="Ember Modern Display Standard" panose="020B0503020204020204" pitchFamily="34" charset="0"/>
                <a:ea typeface="Special Gothic"/>
                <a:cs typeface="Special Gothic"/>
                <a:sym typeface="Special Gothic"/>
              </a:rPr>
            </a:br>
            <a:br>
              <a:rPr lang="en" sz="1100" dirty="0">
                <a:solidFill>
                  <a:schemeClr val="accent2"/>
                </a:solidFill>
                <a:highlight>
                  <a:srgbClr val="FFFFFF"/>
                </a:highlight>
                <a:latin typeface="Ember Modern Display Standard" panose="020B0503020204020204" pitchFamily="34" charset="0"/>
                <a:ea typeface="Special Gothic"/>
                <a:cs typeface="Special Gothic"/>
                <a:sym typeface="Special Gothic"/>
              </a:rPr>
            </a:br>
            <a:r>
              <a:rPr lang="en" sz="1400" dirty="0">
                <a:solidFill>
                  <a:schemeClr val="accent2"/>
                </a:solidFill>
                <a:latin typeface="Ember Modern Display Standard" panose="020B0503020204020204" pitchFamily="34" charset="0"/>
              </a:rPr>
              <a:t>Backup  ·  No labels: French readers, then rules computed by code</a:t>
            </a:r>
            <a:endParaRPr sz="3000" b="1" dirty="0">
              <a:solidFill>
                <a:schemeClr val="accent2"/>
              </a:solidFill>
              <a:latin typeface="Ember Modern Display Standard" panose="020B0503020204020204" pitchFamily="34" charset="0"/>
              <a:ea typeface="Special Gothic"/>
              <a:cs typeface="Special Gothic"/>
              <a:sym typeface="Special Gothic"/>
            </a:endParaRPr>
          </a:p>
        </p:txBody>
      </p:sp>
      <p:sp>
        <p:nvSpPr>
          <p:cNvPr id="267" name="Record banner"/>
          <p:cNvSpPr/>
          <p:nvPr/>
        </p:nvSpPr>
        <p:spPr>
          <a:xfrm>
            <a:off x="411480" y="1261872"/>
            <a:ext cx="8321040" cy="530352"/>
          </a:xfrm>
          <a:prstGeom prst="roundRect">
            <a:avLst>
              <a:gd name="adj" fmla="val 13793"/>
            </a:avLst>
          </a:prstGeom>
          <a:solidFill>
            <a:srgbClr val="EEEEEE"/>
          </a:solidFill>
          <a:ln>
            <a:noFill/>
          </a:ln>
        </p:spPr>
        <p:txBody>
          <a:bodyPr rtlCol="0" anchor="ctr" lIns="146304" tIns="18288" rIns="109728" bIns="18288" wrap="square"/>
          <a:lstStyle/>
          <a:p>
            <a:pPr algn="l"/>
            <a:r>
              <a:rPr sz="1400" b="1" i="0">
                <a:solidFill>
                  <a:srgbClr val="222222"/>
                </a:solidFill>
                <a:latin typeface="Ember Modern Display Standard"/>
              </a:rPr>
              <a:t>“TQ COMITE SARL”</a:t>
            </a:r>
            <a:r>
              <a:rPr sz="1400" b="0" i="0">
                <a:solidFill>
                  <a:srgbClr val="222222"/>
                </a:solidFill>
                <a:latin typeface="Ember Modern Display Standard"/>
              </a:rPr>
              <a:t>   ·   2 R SUZANNE LENGLEN, NANTES</a:t>
            </a:r>
            <a:endParaRPr sz="1400"/>
          </a:p>
          <a:p>
            <a:pPr algn="l"/>
            <a:r>
              <a:rPr sz="1200" b="0" i="0">
                <a:solidFill>
                  <a:srgbClr val="5A6270"/>
                </a:solidFill>
                <a:latin typeface="Ember Modern Display Standard"/>
              </a:rPr>
              <a:t>France. No labels: the French readers are self-trained on confident pseudo-labels</a:t>
            </a:r>
            <a:endParaRPr sz="1200"/>
          </a:p>
        </p:txBody>
      </p:sp>
      <p:sp>
        <p:nvSpPr>
          <p:cNvPr id="268" name="Stage 1 body"/>
          <p:cNvSpPr/>
          <p:nvPr/>
        </p:nvSpPr>
        <p:spPr>
          <a:xfrm>
            <a:off x="411480" y="1892808"/>
            <a:ext cx="1188720" cy="2633472"/>
          </a:xfrm>
          <a:prstGeom prst="roundRect">
            <a:avLst>
              <a:gd name="adj" fmla="val 6153"/>
            </a:avLst>
          </a:prstGeom>
          <a:solidFill>
            <a:srgbClr val="FFFFFF"/>
          </a:solidFill>
          <a:ln w="9525">
            <a:solidFill>
              <a:srgbClr val="C9CDD3"/>
            </a:solidFill>
          </a:ln>
        </p:spPr>
        <p:txBody>
          <a:bodyPr rtlCol="0" anchor="t" lIns="109728" tIns="420624" bIns="54864" wrap="square"/>
          <a:lstStyle/>
          <a:p>
            <a:pPr algn="l">
              <a:spcAft>
                <a:spcPts val="500"/>
              </a:spcAft>
            </a:pPr>
            <a:r>
              <a:rPr sz="1200" b="0" i="0">
                <a:solidFill>
                  <a:srgbClr val="222222"/>
                </a:solidFill>
                <a:latin typeface="Ember Modern Display Standard"/>
              </a:rPr>
              <a:t>Search 16 → quick filter keeps 2</a:t>
            </a:r>
            <a:endParaRPr sz="1200"/>
          </a:p>
          <a:p>
            <a:pPr algn="l">
              <a:spcAft>
                <a:spcPts val="500"/>
              </a:spcAft>
            </a:pPr>
            <a:r>
              <a:rPr sz="1200" b="1" i="0">
                <a:solidFill>
                  <a:srgbClr val="222222"/>
                </a:solidFill>
                <a:latin typeface="Ember Modern Display Standard"/>
              </a:rPr>
              <a:t>TQ Parents SARL</a:t>
            </a:r>
            <a:r>
              <a:rPr sz="1200" b="0" i="0">
                <a:solidFill>
                  <a:srgbClr val="222222"/>
                </a:solidFill>
                <a:latin typeface="Ember Modern Display Standard"/>
              </a:rPr>
              <a:t>, Nantes (ranker 0.9991)</a:t>
            </a:r>
            <a:endParaRPr sz="1200"/>
          </a:p>
          <a:p>
            <a:pPr algn="l">
              <a:spcAft>
                <a:spcPts val="500"/>
              </a:spcAft>
            </a:pPr>
            <a:r>
              <a:rPr sz="1200" b="1" i="0">
                <a:solidFill>
                  <a:srgbClr val="222222"/>
                </a:solidFill>
                <a:latin typeface="Ember Modern Display Standard"/>
              </a:rPr>
              <a:t>TQ Comite SARL</a:t>
            </a:r>
            <a:r>
              <a:rPr sz="1200" b="0" i="0">
                <a:solidFill>
                  <a:srgbClr val="222222"/>
                </a:solidFill>
                <a:latin typeface="Ember Modern Display Standard"/>
              </a:rPr>
              <a:t>, Pessac (0.0420)</a:t>
            </a:r>
            <a:endParaRPr sz="1200"/>
          </a:p>
        </p:txBody>
      </p:sp>
      <p:sp>
        <p:nvSpPr>
          <p:cNvPr id="269" name="Stage 1 header"/>
          <p:cNvSpPr/>
          <p:nvPr/>
        </p:nvSpPr>
        <p:spPr>
          <a:xfrm>
            <a:off x="411480" y="1892808"/>
            <a:ext cx="118872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Ember Modern Display Standard"/>
              </a:rPr>
              <a:t>1  Shortlist</a:t>
            </a:r>
            <a:endParaRPr sz="1200"/>
          </a:p>
        </p:txBody>
      </p:sp>
      <p:sp>
        <p:nvSpPr>
          <p:cNvPr id="270" name="Chevron 269"/>
          <p:cNvSpPr/>
          <p:nvPr/>
        </p:nvSpPr>
        <p:spPr>
          <a:xfrm>
            <a:off x="1627632" y="3118104"/>
            <a:ext cx="91440" cy="182880"/>
          </a:xfrm>
          <a:prstGeom prst="chevron">
            <a:avLst/>
          </a:prstGeom>
          <a:solidFill>
            <a:srgbClr val="9AA1AA"/>
          </a:solidFill>
          <a:ln>
            <a:noFill/>
          </a:ln>
        </p:spPr>
        <p:txBody>
          <a:bodyPr rtlCol="0" anchor="t" lIns="0" tIns="0" rIns="0" bIns="0" wrap="square"/>
          <a:lstStyle/>
          <a:p>
            <a:pPr algn="ctr"/>
          </a:p>
        </p:txBody>
      </p:sp>
      <p:sp>
        <p:nvSpPr>
          <p:cNvPr id="271" name="Stage 2 body"/>
          <p:cNvSpPr/>
          <p:nvPr/>
        </p:nvSpPr>
        <p:spPr>
          <a:xfrm>
            <a:off x="1746504" y="1892808"/>
            <a:ext cx="2057400" cy="2633472"/>
          </a:xfrm>
          <a:prstGeom prst="roundRect">
            <a:avLst>
              <a:gd name="adj" fmla="val 3555"/>
            </a:avLst>
          </a:prstGeom>
          <a:solidFill>
            <a:srgbClr val="FFFFFF"/>
          </a:solidFill>
          <a:ln w="9525">
            <a:solidFill>
              <a:srgbClr val="C9CDD3"/>
            </a:solidFill>
          </a:ln>
        </p:spPr>
        <p:txBody>
          <a:bodyPr rtlCol="0" anchor="t" lIns="109728" tIns="420624" bIns="54864" wrap="square"/>
          <a:lstStyle/>
          <a:p>
            <a:pPr algn="ctr"/>
          </a:p>
        </p:txBody>
      </p:sp>
      <p:sp>
        <p:nvSpPr>
          <p:cNvPr id="272" name="Stage 2 header"/>
          <p:cNvSpPr/>
          <p:nvPr/>
        </p:nvSpPr>
        <p:spPr>
          <a:xfrm>
            <a:off x="1746504" y="1892808"/>
            <a:ext cx="205740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Ember Modern Display Standard"/>
              </a:rPr>
              <a:t>2  Readers</a:t>
            </a:r>
            <a:endParaRPr sz="1200"/>
          </a:p>
        </p:txBody>
      </p:sp>
      <p:sp>
        <p:nvSpPr>
          <p:cNvPr id="273" name="Chevron 272"/>
          <p:cNvSpPr/>
          <p:nvPr/>
        </p:nvSpPr>
        <p:spPr>
          <a:xfrm>
            <a:off x="3831336" y="3118104"/>
            <a:ext cx="91440" cy="182880"/>
          </a:xfrm>
          <a:prstGeom prst="chevron">
            <a:avLst/>
          </a:prstGeom>
          <a:solidFill>
            <a:srgbClr val="9AA1AA"/>
          </a:solidFill>
          <a:ln>
            <a:noFill/>
          </a:ln>
        </p:spPr>
        <p:txBody>
          <a:bodyPr rtlCol="0" anchor="t" lIns="0" tIns="0" rIns="0" bIns="0" wrap="square"/>
          <a:lstStyle/>
          <a:p>
            <a:pPr algn="ctr"/>
          </a:p>
        </p:txBody>
      </p:sp>
      <p:sp>
        <p:nvSpPr>
          <p:cNvPr id="274" name="Stage 3 body"/>
          <p:cNvSpPr/>
          <p:nvPr/>
        </p:nvSpPr>
        <p:spPr>
          <a:xfrm>
            <a:off x="3950208" y="1892808"/>
            <a:ext cx="960120" cy="2633472"/>
          </a:xfrm>
          <a:prstGeom prst="roundRect">
            <a:avLst>
              <a:gd name="adj" fmla="val 7619"/>
            </a:avLst>
          </a:prstGeom>
          <a:solidFill>
            <a:srgbClr val="FFFFFF"/>
          </a:solidFill>
          <a:ln w="9525">
            <a:solidFill>
              <a:srgbClr val="C9CDD3"/>
            </a:solidFill>
          </a:ln>
        </p:spPr>
        <p:txBody>
          <a:bodyPr rtlCol="0" anchor="t" lIns="109728" tIns="420624" bIns="54864" wrap="square"/>
          <a:lstStyle/>
          <a:p>
            <a:pPr algn="l"/>
            <a:r>
              <a:rPr sz="1200" b="0" i="0">
                <a:solidFill>
                  <a:srgbClr val="222222"/>
                </a:solidFill>
                <a:latin typeface="Ember Modern Display Standard"/>
              </a:rPr>
              <a:t>Nantes</a:t>
            </a:r>
            <a:endParaRPr sz="1200"/>
          </a:p>
          <a:p>
            <a:pPr algn="l">
              <a:spcAft>
                <a:spcPts val="500"/>
              </a:spcAft>
            </a:pPr>
            <a:r>
              <a:rPr sz="1200" b="1" i="0">
                <a:solidFill>
                  <a:srgbClr val="C24E00"/>
                </a:solidFill>
                <a:latin typeface="Ember Modern Display Standard"/>
              </a:rPr>
              <a:t>0.999837</a:t>
            </a:r>
            <a:endParaRPr sz="1200"/>
          </a:p>
          <a:p>
            <a:pPr algn="l"/>
            <a:r>
              <a:rPr sz="1200" b="0" i="0">
                <a:solidFill>
                  <a:srgbClr val="222222"/>
                </a:solidFill>
                <a:latin typeface="Ember Modern Display Standard"/>
              </a:rPr>
              <a:t>Pessac</a:t>
            </a:r>
            <a:endParaRPr sz="1200"/>
          </a:p>
          <a:p>
            <a:pPr algn="l">
              <a:spcAft>
                <a:spcPts val="500"/>
              </a:spcAft>
            </a:pPr>
            <a:r>
              <a:rPr sz="1200" b="1" i="0">
                <a:solidFill>
                  <a:srgbClr val="222222"/>
                </a:solidFill>
                <a:latin typeface="Ember Modern Display Standard"/>
              </a:rPr>
              <a:t>0.000098</a:t>
            </a:r>
            <a:endParaRPr sz="1200"/>
          </a:p>
        </p:txBody>
      </p:sp>
      <p:sp>
        <p:nvSpPr>
          <p:cNvPr id="275" name="Stage 3 header"/>
          <p:cNvSpPr/>
          <p:nvPr/>
        </p:nvSpPr>
        <p:spPr>
          <a:xfrm>
            <a:off x="3950208" y="1892808"/>
            <a:ext cx="96012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Ember Modern Display Standard"/>
              </a:rPr>
              <a:t>3  Model</a:t>
            </a:r>
            <a:endParaRPr sz="1200"/>
          </a:p>
        </p:txBody>
      </p:sp>
      <p:sp>
        <p:nvSpPr>
          <p:cNvPr id="276" name="Chevron 275"/>
          <p:cNvSpPr/>
          <p:nvPr/>
        </p:nvSpPr>
        <p:spPr>
          <a:xfrm>
            <a:off x="4937760" y="3118104"/>
            <a:ext cx="91440" cy="182880"/>
          </a:xfrm>
          <a:prstGeom prst="chevron">
            <a:avLst/>
          </a:prstGeom>
          <a:solidFill>
            <a:srgbClr val="9AA1AA"/>
          </a:solidFill>
          <a:ln>
            <a:noFill/>
          </a:ln>
        </p:spPr>
        <p:txBody>
          <a:bodyPr rtlCol="0" anchor="t" lIns="0" tIns="0" rIns="0" bIns="0" wrap="square"/>
          <a:lstStyle/>
          <a:p>
            <a:pPr algn="ctr"/>
          </a:p>
        </p:txBody>
      </p:sp>
      <p:sp>
        <p:nvSpPr>
          <p:cNvPr id="277" name="Stage 4 body"/>
          <p:cNvSpPr/>
          <p:nvPr/>
        </p:nvSpPr>
        <p:spPr>
          <a:xfrm>
            <a:off x="5056632" y="1892808"/>
            <a:ext cx="960120" cy="2633472"/>
          </a:xfrm>
          <a:prstGeom prst="roundRect">
            <a:avLst>
              <a:gd name="adj" fmla="val 7619"/>
            </a:avLst>
          </a:prstGeom>
          <a:solidFill>
            <a:srgbClr val="FFFFFF"/>
          </a:solidFill>
          <a:ln w="9525">
            <a:solidFill>
              <a:srgbClr val="C9CDD3"/>
            </a:solidFill>
          </a:ln>
        </p:spPr>
        <p:txBody>
          <a:bodyPr rtlCol="0" anchor="t" lIns="109728" tIns="420624" bIns="54864" wrap="square"/>
          <a:lstStyle/>
          <a:p>
            <a:pPr algn="l">
              <a:spcAft>
                <a:spcPts val="500"/>
              </a:spcAft>
            </a:pPr>
            <a:r>
              <a:rPr sz="1200" b="0" i="0">
                <a:solidFill>
                  <a:srgbClr val="222222"/>
                </a:solidFill>
                <a:latin typeface="Ember Modern Display Standard"/>
              </a:rPr>
              <a:t>Accept TQ Parents</a:t>
            </a:r>
            <a:endParaRPr sz="1200"/>
          </a:p>
          <a:p>
            <a:pPr algn="l"/>
            <a:r>
              <a:rPr sz="1200" b="1" i="0">
                <a:solidFill>
                  <a:srgbClr val="222222"/>
                </a:solidFill>
                <a:latin typeface="Ember Modern Display Standard"/>
              </a:rPr>
              <a:t>0.999837</a:t>
            </a:r>
            <a:endParaRPr sz="1200"/>
          </a:p>
          <a:p>
            <a:pPr algn="l">
              <a:spcAft>
                <a:spcPts val="500"/>
              </a:spcAft>
            </a:pPr>
            <a:r>
              <a:rPr sz="1200" b="1" i="0">
                <a:solidFill>
                  <a:srgbClr val="222222"/>
                </a:solidFill>
                <a:latin typeface="Ember Modern Display Standard"/>
              </a:rPr>
              <a:t>≥ 0.82</a:t>
            </a:r>
            <a:endParaRPr sz="1200"/>
          </a:p>
          <a:p>
            <a:pPr algn="l"/>
            <a:r>
              <a:rPr sz="1200" b="1" i="0">
                <a:solidFill>
                  <a:srgbClr val="222222"/>
                </a:solidFill>
                <a:latin typeface="Ember Modern Display Standard"/>
              </a:rPr>
              <a:t>lead 0.999740</a:t>
            </a:r>
            <a:endParaRPr sz="1200"/>
          </a:p>
          <a:p>
            <a:pPr algn="l">
              <a:spcAft>
                <a:spcPts val="500"/>
              </a:spcAft>
            </a:pPr>
            <a:r>
              <a:rPr sz="1200" b="1" i="0">
                <a:solidFill>
                  <a:srgbClr val="222222"/>
                </a:solidFill>
                <a:latin typeface="Ember Modern Display Standard"/>
              </a:rPr>
              <a:t>≥ 0.4</a:t>
            </a:r>
            <a:endParaRPr sz="1200"/>
          </a:p>
        </p:txBody>
      </p:sp>
      <p:sp>
        <p:nvSpPr>
          <p:cNvPr id="278" name="Stage 4 header"/>
          <p:cNvSpPr/>
          <p:nvPr/>
        </p:nvSpPr>
        <p:spPr>
          <a:xfrm>
            <a:off x="5056632" y="1892808"/>
            <a:ext cx="96012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Ember Modern Display Standard"/>
              </a:rPr>
              <a:t>4  Decide</a:t>
            </a:r>
            <a:endParaRPr sz="1200"/>
          </a:p>
        </p:txBody>
      </p:sp>
      <p:sp>
        <p:nvSpPr>
          <p:cNvPr id="279" name="Chevron 278"/>
          <p:cNvSpPr/>
          <p:nvPr/>
        </p:nvSpPr>
        <p:spPr>
          <a:xfrm>
            <a:off x="6044184" y="3118104"/>
            <a:ext cx="91440" cy="182880"/>
          </a:xfrm>
          <a:prstGeom prst="chevron">
            <a:avLst/>
          </a:prstGeom>
          <a:solidFill>
            <a:srgbClr val="9AA1AA"/>
          </a:solidFill>
          <a:ln>
            <a:noFill/>
          </a:ln>
        </p:spPr>
        <p:txBody>
          <a:bodyPr rtlCol="0" anchor="t" lIns="0" tIns="0" rIns="0" bIns="0" wrap="square"/>
          <a:lstStyle/>
          <a:p>
            <a:pPr algn="ctr"/>
          </a:p>
        </p:txBody>
      </p:sp>
      <p:sp>
        <p:nvSpPr>
          <p:cNvPr id="280" name="Stage 5 body"/>
          <p:cNvSpPr/>
          <p:nvPr/>
        </p:nvSpPr>
        <p:spPr>
          <a:xfrm>
            <a:off x="6163056" y="1892808"/>
            <a:ext cx="1234440" cy="2633472"/>
          </a:xfrm>
          <a:prstGeom prst="roundRect">
            <a:avLst>
              <a:gd name="adj" fmla="val 5925"/>
            </a:avLst>
          </a:prstGeom>
          <a:solidFill>
            <a:srgbClr val="FFFFFF"/>
          </a:solidFill>
          <a:ln w="22225">
            <a:solidFill>
              <a:srgbClr val="FF6200"/>
            </a:solidFill>
          </a:ln>
        </p:spPr>
        <p:txBody>
          <a:bodyPr rtlCol="0" anchor="t" lIns="109728" tIns="420624" bIns="54864" wrap="square"/>
          <a:lstStyle/>
          <a:p>
            <a:pPr algn="l">
              <a:spcAft>
                <a:spcPts val="500"/>
              </a:spcAft>
            </a:pPr>
            <a:r>
              <a:rPr sz="1200" b="0" i="0">
                <a:solidFill>
                  <a:srgbClr val="222222"/>
                </a:solidFill>
                <a:latin typeface="Ember Modern Display Standard"/>
              </a:rPr>
              <a:t>Same no. 2 and street (match 100)</a:t>
            </a:r>
            <a:endParaRPr sz="1200"/>
          </a:p>
          <a:p>
            <a:pPr algn="l">
              <a:spcAft>
                <a:spcPts val="500"/>
              </a:spcAft>
            </a:pPr>
            <a:r>
              <a:rPr sz="1200" b="0" i="0">
                <a:solidFill>
                  <a:srgbClr val="222222"/>
                </a:solidFill>
                <a:latin typeface="Ember Modern Display Standard"/>
              </a:rPr>
              <a:t>One word swapped: “parents” → “comite”</a:t>
            </a:r>
            <a:endParaRPr sz="1200"/>
          </a:p>
          <a:p>
            <a:pPr algn="l">
              <a:spcAft>
                <a:spcPts val="500"/>
              </a:spcAft>
            </a:pPr>
            <a:r>
              <a:rPr sz="1200" b="0" i="0">
                <a:solidFill>
                  <a:srgbClr val="222222"/>
                </a:solidFill>
                <a:latin typeface="Ember Modern Display Standard"/>
              </a:rPr>
              <a:t>Second rule agrees</a:t>
            </a:r>
            <a:endParaRPr sz="1200"/>
          </a:p>
          <a:p>
            <a:pPr algn="l">
              <a:spcAft>
                <a:spcPts val="500"/>
              </a:spcAft>
            </a:pPr>
            <a:r>
              <a:rPr sz="1200" b="1" i="0">
                <a:solidFill>
                  <a:srgbClr val="C24E00"/>
                </a:solidFill>
                <a:latin typeface="Ember Modern Display Standard"/>
              </a:rPr>
              <a:t>→ link vetoed</a:t>
            </a:r>
            <a:endParaRPr sz="1200"/>
          </a:p>
        </p:txBody>
      </p:sp>
      <p:sp>
        <p:nvSpPr>
          <p:cNvPr id="281" name="Stage 5 header"/>
          <p:cNvSpPr/>
          <p:nvPr/>
        </p:nvSpPr>
        <p:spPr>
          <a:xfrm>
            <a:off x="6163056" y="1892808"/>
            <a:ext cx="123444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Ember Modern Display Standard"/>
              </a:rPr>
              <a:t>5  France rules</a:t>
            </a:r>
            <a:endParaRPr sz="1200"/>
          </a:p>
        </p:txBody>
      </p:sp>
      <p:sp>
        <p:nvSpPr>
          <p:cNvPr id="282" name="Chevron 281"/>
          <p:cNvSpPr/>
          <p:nvPr/>
        </p:nvSpPr>
        <p:spPr>
          <a:xfrm>
            <a:off x="7424928" y="3118104"/>
            <a:ext cx="91440" cy="182880"/>
          </a:xfrm>
          <a:prstGeom prst="chevron">
            <a:avLst/>
          </a:prstGeom>
          <a:solidFill>
            <a:srgbClr val="9AA1AA"/>
          </a:solidFill>
          <a:ln>
            <a:noFill/>
          </a:ln>
        </p:spPr>
        <p:txBody>
          <a:bodyPr rtlCol="0" anchor="t" lIns="0" tIns="0" rIns="0" bIns="0" wrap="square"/>
          <a:lstStyle/>
          <a:p>
            <a:pPr algn="ctr"/>
          </a:p>
        </p:txBody>
      </p:sp>
      <p:sp>
        <p:nvSpPr>
          <p:cNvPr id="283" name="Stage 6 body"/>
          <p:cNvSpPr/>
          <p:nvPr/>
        </p:nvSpPr>
        <p:spPr>
          <a:xfrm>
            <a:off x="7543800" y="1892808"/>
            <a:ext cx="1188720" cy="2633472"/>
          </a:xfrm>
          <a:prstGeom prst="roundRect">
            <a:avLst>
              <a:gd name="adj" fmla="val 6153"/>
            </a:avLst>
          </a:prstGeom>
          <a:solidFill>
            <a:srgbClr val="FFEBDD"/>
          </a:solidFill>
          <a:ln w="22225">
            <a:solidFill>
              <a:srgbClr val="FF6200"/>
            </a:solidFill>
          </a:ln>
        </p:spPr>
        <p:txBody>
          <a:bodyPr rtlCol="0" anchor="t" lIns="109728" tIns="420624" bIns="54864" wrap="square"/>
          <a:lstStyle/>
          <a:p>
            <a:pPr algn="l">
              <a:spcAft>
                <a:spcPts val="500"/>
              </a:spcAft>
            </a:pPr>
            <a:r>
              <a:rPr sz="1200" b="1" i="0">
                <a:solidFill>
                  <a:srgbClr val="222222"/>
                </a:solidFill>
                <a:latin typeface="Ember Modern Display Standard"/>
              </a:rPr>
              <a:t>Record unlinked</a:t>
            </a:r>
            <a:endParaRPr sz="1200"/>
          </a:p>
          <a:p>
            <a:pPr algn="l">
              <a:spcAft>
                <a:spcPts val="500"/>
              </a:spcAft>
            </a:pPr>
            <a:r>
              <a:rPr sz="1200" b="0" i="0">
                <a:solidFill>
                  <a:srgbClr val="222222"/>
                </a:solidFill>
                <a:latin typeface="Ember Modern Display Standard"/>
              </a:rPr>
              <a:t>Both businesses stay in the candidate file</a:t>
            </a:r>
            <a:endParaRPr sz="1200"/>
          </a:p>
        </p:txBody>
      </p:sp>
      <p:sp>
        <p:nvSpPr>
          <p:cNvPr id="284" name="Stage 6 header"/>
          <p:cNvSpPr/>
          <p:nvPr/>
        </p:nvSpPr>
        <p:spPr>
          <a:xfrm>
            <a:off x="7543800" y="1892808"/>
            <a:ext cx="1188720" cy="329184"/>
          </a:xfrm>
          <a:prstGeom prst="round2SameRect">
            <a:avLst>
              <a:gd name="adj1" fmla="val 22222"/>
              <a:gd name="adj2" fmla="val 0"/>
            </a:avLst>
          </a:prstGeom>
          <a:solidFill>
            <a:srgbClr val="FF6200"/>
          </a:solidFill>
          <a:ln>
            <a:noFill/>
          </a:ln>
        </p:spPr>
        <p:txBody>
          <a:bodyPr rtlCol="0" anchor="ctr" lIns="109728" tIns="0" rIns="73152" bIns="0" wrap="square"/>
          <a:lstStyle/>
          <a:p>
            <a:pPr algn="l"/>
            <a:r>
              <a:rPr sz="1200" b="1" i="0">
                <a:solidFill>
                  <a:srgbClr val="FFFFFF"/>
                </a:solidFill>
                <a:latin typeface="Ember Modern Display Standard"/>
              </a:rPr>
              <a:t>6  Output</a:t>
            </a:r>
            <a:endParaRPr sz="1200"/>
          </a:p>
        </p:txBody>
      </p:sp>
      <p:sp>
        <p:nvSpPr>
          <p:cNvPr id="285" name="Reader table r0c0"/>
          <p:cNvSpPr txBox="1"/>
          <p:nvPr/>
        </p:nvSpPr>
        <p:spPr>
          <a:xfrm>
            <a:off x="1783080" y="2322576"/>
            <a:ext cx="731520" cy="274320"/>
          </a:xfrm>
          <a:prstGeom prst="rect">
            <a:avLst/>
          </a:prstGeom>
          <a:noFill/>
        </p:spPr>
        <p:txBody>
          <a:bodyPr wrap="square" lIns="36576" tIns="0" rIns="36576" bIns="0" anchor="ctr">
            <a:spAutoFit/>
          </a:bodyPr>
          <a:lstStyle/>
          <a:p>
            <a:pPr algn="l"/>
            <a:r>
              <a:rPr sz="1200" b="0" i="0">
                <a:solidFill>
                  <a:srgbClr val="5A6270"/>
                </a:solidFill>
                <a:latin typeface="Ember Modern Display Standard"/>
              </a:rPr>
              <a:t>Score</a:t>
            </a:r>
            <a:endParaRPr sz="1200"/>
          </a:p>
        </p:txBody>
      </p:sp>
      <p:sp>
        <p:nvSpPr>
          <p:cNvPr id="286" name="Reader table r0c1"/>
          <p:cNvSpPr txBox="1"/>
          <p:nvPr/>
        </p:nvSpPr>
        <p:spPr>
          <a:xfrm>
            <a:off x="2514600" y="2322576"/>
            <a:ext cx="566928" cy="274320"/>
          </a:xfrm>
          <a:prstGeom prst="rect">
            <a:avLst/>
          </a:prstGeom>
          <a:noFill/>
        </p:spPr>
        <p:txBody>
          <a:bodyPr wrap="square" lIns="36576" tIns="0" rIns="36576" bIns="0" anchor="ctr">
            <a:spAutoFit/>
          </a:bodyPr>
          <a:lstStyle/>
          <a:p>
            <a:pPr algn="r"/>
            <a:r>
              <a:rPr sz="1200" b="1" i="0">
                <a:solidFill>
                  <a:srgbClr val="222222"/>
                </a:solidFill>
                <a:latin typeface="Ember Modern Display Standard"/>
              </a:rPr>
              <a:t>Nantes</a:t>
            </a:r>
            <a:endParaRPr sz="1200"/>
          </a:p>
        </p:txBody>
      </p:sp>
      <p:sp>
        <p:nvSpPr>
          <p:cNvPr id="287" name="Reader table r0c2"/>
          <p:cNvSpPr txBox="1"/>
          <p:nvPr/>
        </p:nvSpPr>
        <p:spPr>
          <a:xfrm>
            <a:off x="3081528" y="2322576"/>
            <a:ext cx="667512" cy="274320"/>
          </a:xfrm>
          <a:prstGeom prst="rect">
            <a:avLst/>
          </a:prstGeom>
          <a:noFill/>
        </p:spPr>
        <p:txBody>
          <a:bodyPr wrap="square" lIns="36576" tIns="0" rIns="36576" bIns="0" anchor="ctr">
            <a:spAutoFit/>
          </a:bodyPr>
          <a:lstStyle/>
          <a:p>
            <a:pPr algn="r"/>
            <a:r>
              <a:rPr sz="1200" b="1" i="0">
                <a:solidFill>
                  <a:srgbClr val="222222"/>
                </a:solidFill>
                <a:latin typeface="Ember Modern Display Standard"/>
              </a:rPr>
              <a:t>Pessac</a:t>
            </a:r>
            <a:endParaRPr sz="1200"/>
          </a:p>
        </p:txBody>
      </p:sp>
      <p:cxnSp>
        <p:nvCxnSpPr>
          <p:cNvPr id="288" name="Reader table rule 0"/>
          <p:cNvCxnSpPr/>
          <p:nvPr/>
        </p:nvCxnSpPr>
        <p:spPr>
          <a:xfrm>
            <a:off x="1783080" y="2596896"/>
            <a:ext cx="1965960" cy="0"/>
          </a:xfrm>
          <a:prstGeom prst="line">
            <a:avLst/>
          </a:prstGeom>
          <a:ln w="12700">
            <a:solidFill>
              <a:srgbClr val="293440"/>
            </a:solidFill>
          </a:ln>
        </p:spPr>
        <p:style>
          <a:lnRef idx="2">
            <a:schemeClr val="accent1"/>
          </a:lnRef>
          <a:fillRef idx="0">
            <a:schemeClr val="accent1"/>
          </a:fillRef>
          <a:effectRef idx="1">
            <a:schemeClr val="accent1"/>
          </a:effectRef>
          <a:fontRef idx="minor">
            <a:schemeClr val="tx1"/>
          </a:fontRef>
        </p:style>
      </p:cxnSp>
      <p:sp>
        <p:nvSpPr>
          <p:cNvPr id="289" name="Reader table r1c0"/>
          <p:cNvSpPr txBox="1"/>
          <p:nvPr/>
        </p:nvSpPr>
        <p:spPr>
          <a:xfrm>
            <a:off x="1783080" y="2596896"/>
            <a:ext cx="731520" cy="274320"/>
          </a:xfrm>
          <a:prstGeom prst="rect">
            <a:avLst/>
          </a:prstGeom>
          <a:noFill/>
        </p:spPr>
        <p:txBody>
          <a:bodyPr wrap="square" lIns="36576" tIns="0" rIns="36576" bIns="0" anchor="ctr">
            <a:spAutoFit/>
          </a:bodyPr>
          <a:lstStyle/>
          <a:p>
            <a:pPr algn="l"/>
            <a:r>
              <a:rPr sz="1200" b="0" i="0">
                <a:solidFill>
                  <a:srgbClr val="222222"/>
                </a:solidFill>
                <a:latin typeface="Ember Modern Display Standard"/>
              </a:rPr>
              <a:t>MiniLM</a:t>
            </a:r>
            <a:endParaRPr sz="1200"/>
          </a:p>
        </p:txBody>
      </p:sp>
      <p:sp>
        <p:nvSpPr>
          <p:cNvPr id="290" name="Reader table r1c1"/>
          <p:cNvSpPr txBox="1"/>
          <p:nvPr/>
        </p:nvSpPr>
        <p:spPr>
          <a:xfrm>
            <a:off x="2514600" y="2596896"/>
            <a:ext cx="566928" cy="274320"/>
          </a:xfrm>
          <a:prstGeom prst="rect">
            <a:avLst/>
          </a:prstGeom>
          <a:noFill/>
        </p:spPr>
        <p:txBody>
          <a:bodyPr wrap="square" lIns="36576" tIns="0" rIns="36576" bIns="0" anchor="ctr">
            <a:spAutoFit/>
          </a:bodyPr>
          <a:lstStyle/>
          <a:p>
            <a:pPr algn="r"/>
            <a:r>
              <a:rPr sz="1200" b="0" i="0">
                <a:solidFill>
                  <a:srgbClr val="222222"/>
                </a:solidFill>
                <a:latin typeface="Ember Modern Display Standard"/>
              </a:rPr>
              <a:t>7.5000</a:t>
            </a:r>
            <a:endParaRPr sz="1200"/>
          </a:p>
        </p:txBody>
      </p:sp>
      <p:sp>
        <p:nvSpPr>
          <p:cNvPr id="291" name="Reader table r1c2"/>
          <p:cNvSpPr txBox="1"/>
          <p:nvPr/>
        </p:nvSpPr>
        <p:spPr>
          <a:xfrm>
            <a:off x="3081528" y="2596896"/>
            <a:ext cx="667512" cy="274320"/>
          </a:xfrm>
          <a:prstGeom prst="rect">
            <a:avLst/>
          </a:prstGeom>
          <a:noFill/>
        </p:spPr>
        <p:txBody>
          <a:bodyPr wrap="square" lIns="36576" tIns="0" rIns="36576" bIns="0" anchor="ctr">
            <a:spAutoFit/>
          </a:bodyPr>
          <a:lstStyle/>
          <a:p>
            <a:pPr algn="r"/>
            <a:r>
              <a:rPr sz="1200" b="0" i="0">
                <a:solidFill>
                  <a:srgbClr val="293440"/>
                </a:solidFill>
                <a:latin typeface="Ember Modern Display Standard"/>
              </a:rPr>
              <a:t>7.1250</a:t>
            </a:r>
            <a:endParaRPr sz="1200"/>
          </a:p>
        </p:txBody>
      </p:sp>
      <p:cxnSp>
        <p:nvCxnSpPr>
          <p:cNvPr id="292" name="Reader table rule 1"/>
          <p:cNvCxnSpPr/>
          <p:nvPr/>
        </p:nvCxnSpPr>
        <p:spPr>
          <a:xfrm>
            <a:off x="1783080" y="2871216"/>
            <a:ext cx="196596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93" name="Reader table r2c0"/>
          <p:cNvSpPr txBox="1"/>
          <p:nvPr/>
        </p:nvSpPr>
        <p:spPr>
          <a:xfrm>
            <a:off x="1783080" y="2871216"/>
            <a:ext cx="731520" cy="274320"/>
          </a:xfrm>
          <a:prstGeom prst="rect">
            <a:avLst/>
          </a:prstGeom>
          <a:noFill/>
        </p:spPr>
        <p:txBody>
          <a:bodyPr wrap="square" lIns="36576" tIns="0" rIns="36576" bIns="0" anchor="ctr">
            <a:spAutoFit/>
          </a:bodyPr>
          <a:lstStyle/>
          <a:p>
            <a:pPr algn="l"/>
            <a:r>
              <a:rPr sz="1200" b="0" i="0">
                <a:solidFill>
                  <a:srgbClr val="222222"/>
                </a:solidFill>
                <a:latin typeface="Ember Modern Display Standard"/>
              </a:rPr>
              <a:t>Fr. MiniLM</a:t>
            </a:r>
            <a:endParaRPr sz="1200"/>
          </a:p>
        </p:txBody>
      </p:sp>
      <p:sp>
        <p:nvSpPr>
          <p:cNvPr id="294" name="Reader table r2c1"/>
          <p:cNvSpPr txBox="1"/>
          <p:nvPr/>
        </p:nvSpPr>
        <p:spPr>
          <a:xfrm>
            <a:off x="2514600" y="2871216"/>
            <a:ext cx="566928" cy="274320"/>
          </a:xfrm>
          <a:prstGeom prst="rect">
            <a:avLst/>
          </a:prstGeom>
          <a:noFill/>
        </p:spPr>
        <p:txBody>
          <a:bodyPr wrap="square" lIns="36576" tIns="0" rIns="36576" bIns="0" anchor="ctr">
            <a:spAutoFit/>
          </a:bodyPr>
          <a:lstStyle/>
          <a:p>
            <a:pPr algn="r"/>
            <a:r>
              <a:rPr sz="1200" b="0" i="0">
                <a:solidFill>
                  <a:srgbClr val="222222"/>
                </a:solidFill>
                <a:latin typeface="Ember Modern Display Standard"/>
              </a:rPr>
              <a:t>8.9375</a:t>
            </a:r>
            <a:endParaRPr sz="1200"/>
          </a:p>
        </p:txBody>
      </p:sp>
      <p:sp>
        <p:nvSpPr>
          <p:cNvPr id="295" name="Reader table r2c2"/>
          <p:cNvSpPr txBox="1"/>
          <p:nvPr/>
        </p:nvSpPr>
        <p:spPr>
          <a:xfrm>
            <a:off x="3081528" y="2871216"/>
            <a:ext cx="667512" cy="274320"/>
          </a:xfrm>
          <a:prstGeom prst="rect">
            <a:avLst/>
          </a:prstGeom>
          <a:noFill/>
        </p:spPr>
        <p:txBody>
          <a:bodyPr wrap="square" lIns="36576" tIns="0" rIns="36576" bIns="0" anchor="ctr">
            <a:spAutoFit/>
          </a:bodyPr>
          <a:lstStyle/>
          <a:p>
            <a:pPr algn="r"/>
            <a:r>
              <a:rPr sz="1200" b="0" i="0">
                <a:solidFill>
                  <a:srgbClr val="222222"/>
                </a:solidFill>
                <a:latin typeface="Ember Modern Display Standard"/>
              </a:rPr>
              <a:t>−1.9219</a:t>
            </a:r>
            <a:endParaRPr sz="1200"/>
          </a:p>
        </p:txBody>
      </p:sp>
      <p:cxnSp>
        <p:nvCxnSpPr>
          <p:cNvPr id="296" name="Reader table rule 2"/>
          <p:cNvCxnSpPr/>
          <p:nvPr/>
        </p:nvCxnSpPr>
        <p:spPr>
          <a:xfrm>
            <a:off x="1783080" y="3145536"/>
            <a:ext cx="196596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97" name="Reader table r3c0"/>
          <p:cNvSpPr txBox="1"/>
          <p:nvPr/>
        </p:nvSpPr>
        <p:spPr>
          <a:xfrm>
            <a:off x="1783080" y="3145536"/>
            <a:ext cx="731520" cy="274320"/>
          </a:xfrm>
          <a:prstGeom prst="rect">
            <a:avLst/>
          </a:prstGeom>
          <a:noFill/>
        </p:spPr>
        <p:txBody>
          <a:bodyPr wrap="square" lIns="36576" tIns="0" rIns="36576" bIns="0" anchor="ctr">
            <a:spAutoFit/>
          </a:bodyPr>
          <a:lstStyle/>
          <a:p>
            <a:pPr algn="l"/>
            <a:r>
              <a:rPr sz="1200" b="0" i="0">
                <a:solidFill>
                  <a:srgbClr val="222222"/>
                </a:solidFill>
                <a:latin typeface="Ember Modern Display Standard"/>
              </a:rPr>
              <a:t>Fr. E5</a:t>
            </a:r>
            <a:endParaRPr sz="1200"/>
          </a:p>
        </p:txBody>
      </p:sp>
      <p:sp>
        <p:nvSpPr>
          <p:cNvPr id="298" name="Reader table r3c1"/>
          <p:cNvSpPr txBox="1"/>
          <p:nvPr/>
        </p:nvSpPr>
        <p:spPr>
          <a:xfrm>
            <a:off x="2514600" y="3145536"/>
            <a:ext cx="566928" cy="274320"/>
          </a:xfrm>
          <a:prstGeom prst="rect">
            <a:avLst/>
          </a:prstGeom>
          <a:noFill/>
        </p:spPr>
        <p:txBody>
          <a:bodyPr wrap="square" lIns="36576" tIns="0" rIns="36576" bIns="0" anchor="ctr">
            <a:spAutoFit/>
          </a:bodyPr>
          <a:lstStyle/>
          <a:p>
            <a:pPr algn="r"/>
            <a:r>
              <a:rPr sz="1200" b="0" i="0">
                <a:solidFill>
                  <a:srgbClr val="222222"/>
                </a:solidFill>
                <a:latin typeface="Ember Modern Display Standard"/>
              </a:rPr>
              <a:t>10.8125</a:t>
            </a:r>
            <a:endParaRPr sz="1200"/>
          </a:p>
        </p:txBody>
      </p:sp>
      <p:sp>
        <p:nvSpPr>
          <p:cNvPr id="299" name="Reader table r3c2"/>
          <p:cNvSpPr txBox="1"/>
          <p:nvPr/>
        </p:nvSpPr>
        <p:spPr>
          <a:xfrm>
            <a:off x="3081528" y="3145536"/>
            <a:ext cx="667512" cy="274320"/>
          </a:xfrm>
          <a:prstGeom prst="rect">
            <a:avLst/>
          </a:prstGeom>
          <a:noFill/>
        </p:spPr>
        <p:txBody>
          <a:bodyPr wrap="square" lIns="36576" tIns="0" rIns="36576" bIns="0" anchor="ctr">
            <a:spAutoFit/>
          </a:bodyPr>
          <a:lstStyle/>
          <a:p>
            <a:pPr algn="r"/>
            <a:r>
              <a:rPr sz="1200" b="0" i="0">
                <a:solidFill>
                  <a:srgbClr val="222222"/>
                </a:solidFill>
                <a:latin typeface="Ember Modern Display Standard"/>
              </a:rPr>
              <a:t>−10.8125</a:t>
            </a:r>
            <a:endParaRPr sz="1200"/>
          </a:p>
        </p:txBody>
      </p:sp>
      <p:cxnSp>
        <p:nvCxnSpPr>
          <p:cNvPr id="300" name="Reader table rule 3"/>
          <p:cNvCxnSpPr/>
          <p:nvPr/>
        </p:nvCxnSpPr>
        <p:spPr>
          <a:xfrm>
            <a:off x="1783080" y="3419856"/>
            <a:ext cx="196596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301" name="Reader table r4c0"/>
          <p:cNvSpPr txBox="1"/>
          <p:nvPr/>
        </p:nvSpPr>
        <p:spPr>
          <a:xfrm>
            <a:off x="1783080" y="3419856"/>
            <a:ext cx="731520" cy="274320"/>
          </a:xfrm>
          <a:prstGeom prst="rect">
            <a:avLst/>
          </a:prstGeom>
          <a:noFill/>
        </p:spPr>
        <p:txBody>
          <a:bodyPr wrap="square" lIns="36576" tIns="0" rIns="36576" bIns="0" anchor="ctr">
            <a:spAutoFit/>
          </a:bodyPr>
          <a:lstStyle/>
          <a:p>
            <a:pPr algn="l"/>
            <a:r>
              <a:rPr sz="1200" b="1" i="0">
                <a:solidFill>
                  <a:srgbClr val="222222"/>
                </a:solidFill>
                <a:latin typeface="Ember Modern Display Standard"/>
              </a:rPr>
              <a:t>Blend</a:t>
            </a:r>
            <a:endParaRPr sz="1200"/>
          </a:p>
        </p:txBody>
      </p:sp>
      <p:sp>
        <p:nvSpPr>
          <p:cNvPr id="302" name="Reader table r4c1"/>
          <p:cNvSpPr txBox="1"/>
          <p:nvPr/>
        </p:nvSpPr>
        <p:spPr>
          <a:xfrm>
            <a:off x="2514600" y="3419856"/>
            <a:ext cx="566928" cy="274320"/>
          </a:xfrm>
          <a:prstGeom prst="rect">
            <a:avLst/>
          </a:prstGeom>
          <a:noFill/>
        </p:spPr>
        <p:txBody>
          <a:bodyPr wrap="square" lIns="36576" tIns="0" rIns="36576" bIns="0" anchor="ctr">
            <a:spAutoFit/>
          </a:bodyPr>
          <a:lstStyle/>
          <a:p>
            <a:pPr algn="r"/>
            <a:r>
              <a:rPr sz="1200" b="1" i="0">
                <a:solidFill>
                  <a:srgbClr val="222222"/>
                </a:solidFill>
                <a:latin typeface="Ember Modern Display Standard"/>
              </a:rPr>
              <a:t>9.3719</a:t>
            </a:r>
            <a:endParaRPr sz="1200"/>
          </a:p>
        </p:txBody>
      </p:sp>
      <p:sp>
        <p:nvSpPr>
          <p:cNvPr id="303" name="Reader table r4c2"/>
          <p:cNvSpPr txBox="1"/>
          <p:nvPr/>
        </p:nvSpPr>
        <p:spPr>
          <a:xfrm>
            <a:off x="3081528" y="3419856"/>
            <a:ext cx="667512" cy="274320"/>
          </a:xfrm>
          <a:prstGeom prst="rect">
            <a:avLst/>
          </a:prstGeom>
          <a:noFill/>
        </p:spPr>
        <p:txBody>
          <a:bodyPr wrap="square" lIns="36576" tIns="0" rIns="36576" bIns="0" anchor="ctr">
            <a:spAutoFit/>
          </a:bodyPr>
          <a:lstStyle/>
          <a:p>
            <a:pPr algn="r"/>
            <a:r>
              <a:rPr sz="1200" b="1" i="0">
                <a:solidFill>
                  <a:srgbClr val="C24E00"/>
                </a:solidFill>
                <a:latin typeface="Ember Modern Display Standard"/>
              </a:rPr>
              <a:t>−3.2008</a:t>
            </a:r>
            <a:endParaRPr sz="1200"/>
          </a:p>
        </p:txBody>
      </p:sp>
      <p:sp>
        <p:nvSpPr>
          <p:cNvPr id="304" name="Blend formula"/>
          <p:cNvSpPr txBox="1"/>
          <p:nvPr/>
        </p:nvSpPr>
        <p:spPr>
          <a:xfrm>
            <a:off x="1837944" y="3803904"/>
            <a:ext cx="1874520" cy="640080"/>
          </a:xfrm>
          <a:prstGeom prst="rect">
            <a:avLst/>
          </a:prstGeom>
          <a:noFill/>
        </p:spPr>
        <p:txBody>
          <a:bodyPr wrap="square" lIns="0" tIns="0" rIns="0" bIns="0" anchor="t">
            <a:spAutoFit/>
          </a:bodyPr>
          <a:lstStyle/>
          <a:p>
            <a:pPr algn="l"/>
            <a:r>
              <a:rPr sz="1100" b="0" i="0">
                <a:solidFill>
                  <a:srgbClr val="5A6270"/>
                </a:solidFill>
                <a:latin typeface="Ember Modern Display Standard"/>
              </a:rPr>
              <a:t>Blend = 0.35 MiniLM + 0.15 French MiniLM + 0.5 French E5 reader</a:t>
            </a:r>
            <a:endParaRPr sz="1100"/>
          </a:p>
        </p:txBody>
      </p:sp>
    </p:spTree>
  </p:cSld>
  <p:clrMapOvr>
    <a:masterClrMapping/>
  </p:clrMapOvr>
</p:sld>
</file>

<file path=ppt/theme/theme1.xml><?xml version="1.0" encoding="utf-8"?>
<a:theme xmlns:a="http://schemas.openxmlformats.org/drawingml/2006/main" name="Amazon">
  <a:themeElements>
    <a:clrScheme name="Simple Light">
      <a:dk1>
        <a:srgbClr val="000000"/>
      </a:dk1>
      <a:lt1>
        <a:srgbClr val="FFFFFF"/>
      </a:lt1>
      <a:dk2>
        <a:srgbClr val="595959"/>
      </a:dk2>
      <a:lt2>
        <a:srgbClr val="EEEEEE"/>
      </a:lt2>
      <a:accent1>
        <a:srgbClr val="FF6200"/>
      </a:accent1>
      <a:accent2>
        <a:srgbClr val="161D26"/>
      </a:accent2>
      <a:accent3>
        <a:srgbClr val="F5F3EF"/>
      </a:accent3>
      <a:accent4>
        <a:srgbClr val="FFB28B"/>
      </a:accent4>
      <a:accent5>
        <a:srgbClr val="D1CAC2"/>
      </a:accent5>
      <a:accent6>
        <a:srgbClr val="D6DCE7"/>
      </a:accent6>
      <a:hlink>
        <a:srgbClr val="B6BFB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473</TotalTime>
  <Words>285</Words>
  <Application>Microsoft Office PowerPoint</Application>
  <PresentationFormat>On-screen Show (16:9)</PresentationFormat>
  <Paragraphs>13</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Ember Modern Display Standard</vt:lpstr>
      <vt:lpstr>Arial</vt:lpstr>
      <vt:lpstr>Helvetica Neue</vt:lpstr>
      <vt:lpstr>Play</vt:lpstr>
      <vt:lpstr>Amazon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Kumar A, Lathish</dc:creator>
  <cp:lastModifiedBy>Kumar A, Lathish</cp:lastModifiedBy>
  <cp:revision>16</cp:revision>
  <dcterms:modified xsi:type="dcterms:W3CDTF">2026-10-03T09:35:33Z</dcterms:modified>
  <dc:title>Team Androids: Business Entity Resolution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2026-01-29T18:51:21Z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c58a1bf8-dfa2-42af-b639-c349773bb8a9</vt:lpwstr>
  </property>
  <property fmtid="{D5CDD505-2E9C-101B-9397-08002B2CF9AE}" pid="8" name="MSIP_Label_19e68092-05df-4271-8e3e-b2a4c82ba797_ContentBits">
    <vt:lpwstr>0</vt:lpwstr>
  </property>
  <property fmtid="{D5CDD505-2E9C-101B-9397-08002B2CF9AE}" pid="9" name="MSIP_Label_19e68092-05df-4271-8e3e-b2a4c82ba797_Tag">
    <vt:lpwstr>10, 3, 0, 1</vt:lpwstr>
  </property>
</Properties>
</file>